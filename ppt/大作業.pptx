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14"/>
  </p:notesMasterIdLst>
  <p:sldIdLst>
    <p:sldId id="335" r:id="rId3"/>
    <p:sldId id="476" r:id="rId4"/>
    <p:sldId id="405" r:id="rId5"/>
    <p:sldId id="351" r:id="rId6"/>
    <p:sldId id="471" r:id="rId7"/>
    <p:sldId id="472" r:id="rId8"/>
    <p:sldId id="473" r:id="rId9"/>
    <p:sldId id="474" r:id="rId10"/>
    <p:sldId id="475" r:id="rId11"/>
    <p:sldId id="470" r:id="rId12"/>
    <p:sldId id="33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C0A0"/>
    <a:srgbClr val="013D9A"/>
    <a:srgbClr val="F8F87B"/>
    <a:srgbClr val="EE3F53"/>
    <a:srgbClr val="B9BFCA"/>
    <a:srgbClr val="66C2CD"/>
    <a:srgbClr val="D290E4"/>
    <a:srgbClr val="71BEF2"/>
    <a:srgbClr val="DBAB79"/>
    <a:srgbClr val="A8C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3557" autoAdjust="0"/>
  </p:normalViewPr>
  <p:slideViewPr>
    <p:cSldViewPr snapToGrid="0" showGuides="1">
      <p:cViewPr varScale="1">
        <p:scale>
          <a:sx n="60" d="100"/>
          <a:sy n="60" d="100"/>
        </p:scale>
        <p:origin x="8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88B6-13E7-9BC5-DE90-FDD60CC9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03CFD-FFB6-170B-C522-F03969FFE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219F8-2465-7825-0E9C-A822E3108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286C4-3278-2F66-ED77-B31EBB51C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18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815E-4634-B0BC-1E06-6B8F8A47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E288B-1729-69D0-5254-F24407CC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C9D51-017C-50BE-FB83-72168A0A5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8EF91-F1D3-CECD-98FD-C9868D663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97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9E0-D38C-3A6A-1F75-7161368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932F-5262-7AD0-AA01-5D20C5B0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F5A-4404-889E-A3E8-2457DFEF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D8E-31C6-5041-736A-C13A80DD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2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467B-7C71-024A-B37E-7AAAA2C3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0F8B7-E780-7BD0-1724-E78A1A0DC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BCFD0-B956-B04E-8E4E-A8DE163DE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F8A8C-0F69-C2ED-DD57-B3E08481F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24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256BB-0E16-E9D7-A870-5C53F7D5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7E14D-CAB4-7BA8-33E9-3FD63874A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18AC8-F330-B7A5-461F-DEC8D2CF6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C1052-B1CF-D778-C9D2-68585BCF7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1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EC06-5637-2090-DBAA-FD3B1B41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224F7-8E25-AE9A-B781-4B24DEAEA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FAE2A-13D1-C8B6-AB3C-67F41CCD8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4FC0D-87C2-F047-7D41-662AF27DA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48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D0AA-9829-F65D-94AA-5363DFE2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60782-C5B8-D148-B147-DA4FECA51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11F8C-E0B4-71CE-22E7-1D3EF1E34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F200B-4480-2991-A185-61461A9FB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15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F50A-F2A7-BDC7-B394-568652ED3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E5054-B979-933F-E78F-A1C12EF6E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BA447-AFF8-ED6C-5D2C-7AE222CA4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FEACD-999F-C762-03BD-2A59EAEB1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41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5B69-323C-0325-EC5B-6FE185B9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F98F3-7EC9-876E-773B-2D0F464F7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D17F1-E62D-2ABA-2A76-205DB0CC5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D1741-9B7F-466D-F1AD-69183BC72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4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189826" cy="1646302"/>
          </a:xfrm>
        </p:spPr>
        <p:txBody>
          <a:bodyPr/>
          <a:lstStyle/>
          <a:p>
            <a:r>
              <a:rPr lang="zh-TW" altLang="en-US" sz="4400" dirty="0"/>
              <a:t>大作業 </a:t>
            </a:r>
            <a:r>
              <a:rPr lang="en-US" altLang="zh-TW" sz="4400" dirty="0"/>
              <a:t>– </a:t>
            </a:r>
            <a:r>
              <a:rPr lang="zh-TW" altLang="en-US" sz="4400" dirty="0"/>
              <a:t>飛機大戰</a:t>
            </a:r>
            <a:endParaRPr lang="en-US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836676" y="4178423"/>
            <a:ext cx="7766936" cy="1096899"/>
          </a:xfrm>
        </p:spPr>
        <p:txBody>
          <a:bodyPr>
            <a:norm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基於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Pygame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遊戲開發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E2F21-8B2B-BBEC-480D-0CCE999D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310C-3EF6-41D4-D289-C8FB8F33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簡介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89A18D-336D-2E84-7739-C5FA21972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732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《</a:t>
            </a:r>
            <a:r>
              <a:rPr lang="zh-TW" altLang="en-US" sz="2400" dirty="0">
                <a:solidFill>
                  <a:schemeClr val="tx1"/>
                </a:solidFill>
              </a:rPr>
              <a:t>飛機大戰</a:t>
            </a:r>
            <a:r>
              <a:rPr lang="en-US" altLang="zh-TW" sz="2400" dirty="0">
                <a:solidFill>
                  <a:schemeClr val="tx1"/>
                </a:solidFill>
              </a:rPr>
              <a:t>》</a:t>
            </a:r>
            <a:r>
              <a:rPr lang="zh-TW" altLang="en-US" sz="2400" dirty="0">
                <a:solidFill>
                  <a:schemeClr val="tx1"/>
                </a:solidFill>
              </a:rPr>
              <a:t>是一款深受玩家喜愛的飛行射擊類遊戲，通常設定在太空或戰場環境，玩家需要操控戰機躲避敵方子彈，同時擊落敵機獲得分數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pic>
        <p:nvPicPr>
          <p:cNvPr id="1028" name="Picture 4" descr="Steam 上的飞机大战">
            <a:extLst>
              <a:ext uri="{FF2B5EF4-FFF2-40B4-BE49-F238E27FC236}">
                <a16:creationId xmlns:a16="http://schemas.microsoft.com/office/drawing/2014/main" id="{11ED2BFE-EC38-607C-966E-E55A0ECA3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345" y="3105446"/>
            <a:ext cx="58674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0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4FB4-6AAE-3BB0-B745-2FBEDFF3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4B9B-6AFA-2CE6-C53B-8C9A89B1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38B7BD-BEE7-895A-40C0-A4837377D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需要根據代碼內容補全</a:t>
            </a:r>
            <a:r>
              <a:rPr lang="en-US" altLang="zh-TW" sz="2400" dirty="0">
                <a:solidFill>
                  <a:schemeClr val="tx1"/>
                </a:solidFill>
              </a:rPr>
              <a:t>TODO</a:t>
            </a:r>
            <a:r>
              <a:rPr lang="zh-TW" altLang="en-US" sz="2400" dirty="0">
                <a:solidFill>
                  <a:schemeClr val="tx1"/>
                </a:solidFill>
              </a:rPr>
              <a:t>的代碼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20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實現一個簡易版的</a:t>
            </a:r>
            <a:r>
              <a:rPr lang="zh-TW" altLang="en-US" sz="2400" dirty="0">
                <a:solidFill>
                  <a:srgbClr val="FF0000"/>
                </a:solidFill>
              </a:rPr>
              <a:t>飛機大戰</a:t>
            </a:r>
            <a:endParaRPr lang="en-US" altLang="zh-TW" sz="2000" dirty="0">
              <a:solidFill>
                <a:srgbClr val="FF0000"/>
              </a:solidFill>
            </a:endParaRPr>
          </a:p>
        </p:txBody>
      </p:sp>
      <p:pic>
        <p:nvPicPr>
          <p:cNvPr id="5" name="pygame window 2025-05-27 22-46-25">
            <a:hlinkClick r:id="" action="ppaction://media"/>
            <a:extLst>
              <a:ext uri="{FF2B5EF4-FFF2-40B4-BE49-F238E27FC236}">
                <a16:creationId xmlns:a16="http://schemas.microsoft.com/office/drawing/2014/main" id="{8CFCB303-F48A-B292-5186-3F42F711A1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32690" b="33418"/>
          <a:stretch/>
        </p:blipFill>
        <p:spPr>
          <a:xfrm>
            <a:off x="6454140" y="344486"/>
            <a:ext cx="5262939" cy="62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0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002-3F4F-F065-F7DE-780095A8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B0E2-FF48-32F6-8C2A-C70FD9C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詳細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16193E-3215-3D49-E1F1-632D4315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大作業分為兩部分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1. [</a:t>
            </a:r>
            <a:r>
              <a:rPr lang="zh-TW" altLang="en-US" sz="2400" dirty="0">
                <a:solidFill>
                  <a:schemeClr val="tx1"/>
                </a:solidFill>
              </a:rPr>
              <a:t>基本</a:t>
            </a:r>
            <a:r>
              <a:rPr lang="en-US" altLang="zh-TW" sz="2400" dirty="0">
                <a:solidFill>
                  <a:schemeClr val="tx1"/>
                </a:solidFill>
              </a:rPr>
              <a:t>]basic.py</a:t>
            </a:r>
            <a:r>
              <a:rPr lang="zh-TW" altLang="en-US" sz="2400" dirty="0">
                <a:solidFill>
                  <a:schemeClr val="tx1"/>
                </a:solidFill>
              </a:rPr>
              <a:t>，它是遊戲的主實現邏輯。可以根據課堂「</a:t>
            </a:r>
            <a:r>
              <a:rPr lang="zh-TW" altLang="en-US" sz="2400" dirty="0">
                <a:solidFill>
                  <a:srgbClr val="FF0000"/>
                </a:solidFill>
              </a:rPr>
              <a:t>坦克射擊</a:t>
            </a:r>
            <a:r>
              <a:rPr lang="zh-TW" altLang="en-US" sz="2400" dirty="0">
                <a:solidFill>
                  <a:schemeClr val="tx1"/>
                </a:solidFill>
              </a:rPr>
              <a:t>」的例子協助補全，基本上兩者邏輯是完全一致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2. [</a:t>
            </a:r>
            <a:r>
              <a:rPr lang="zh-TW" altLang="en-US" sz="2400" dirty="0">
                <a:solidFill>
                  <a:schemeClr val="tx1"/>
                </a:solidFill>
              </a:rPr>
              <a:t>額外</a:t>
            </a:r>
            <a:r>
              <a:rPr lang="en-US" altLang="zh-TW" sz="2400" dirty="0">
                <a:solidFill>
                  <a:schemeClr val="tx1"/>
                </a:solidFill>
              </a:rPr>
              <a:t>]</a:t>
            </a:r>
            <a:r>
              <a:rPr lang="zh-TW" altLang="en-US" sz="2400" dirty="0">
                <a:solidFill>
                  <a:schemeClr val="tx1"/>
                </a:solidFill>
              </a:rPr>
              <a:t>完成</a:t>
            </a:r>
            <a:r>
              <a:rPr lang="en-US" altLang="zh-TW" sz="2400" dirty="0">
                <a:solidFill>
                  <a:schemeClr val="tx1"/>
                </a:solidFill>
              </a:rPr>
              <a:t>1</a:t>
            </a:r>
            <a:r>
              <a:rPr lang="zh-TW" altLang="en-US" sz="2400" dirty="0">
                <a:solidFill>
                  <a:schemeClr val="tx1"/>
                </a:solidFill>
              </a:rPr>
              <a:t>後，學有余力的同學可以實現</a:t>
            </a:r>
            <a:r>
              <a:rPr lang="en-US" altLang="zh-TW" sz="2400" dirty="0">
                <a:solidFill>
                  <a:schemeClr val="tx1"/>
                </a:solidFill>
              </a:rPr>
              <a:t>main.py</a:t>
            </a:r>
            <a:r>
              <a:rPr lang="zh-TW" altLang="en-US" sz="2400" dirty="0">
                <a:solidFill>
                  <a:schemeClr val="tx1"/>
                </a:solidFill>
              </a:rPr>
              <a:t>的內容，它是在</a:t>
            </a:r>
            <a:r>
              <a:rPr lang="en-US" altLang="zh-TW" sz="2400" dirty="0">
                <a:solidFill>
                  <a:schemeClr val="tx1"/>
                </a:solidFill>
              </a:rPr>
              <a:t>basic.py</a:t>
            </a:r>
            <a:r>
              <a:rPr lang="zh-TW" altLang="en-US" sz="2400" dirty="0">
                <a:solidFill>
                  <a:schemeClr val="tx1"/>
                </a:solidFill>
              </a:rPr>
              <a:t>的基礎上加上首頁和尾頁兩個頁面。可以根據後續「</a:t>
            </a:r>
            <a:r>
              <a:rPr lang="en-US" altLang="zh-TW" sz="2400" dirty="0">
                <a:solidFill>
                  <a:srgbClr val="FF0000"/>
                </a:solidFill>
              </a:rPr>
              <a:t>flappy bird</a:t>
            </a:r>
            <a:r>
              <a:rPr lang="zh-TW" altLang="en-US" sz="2400" dirty="0">
                <a:solidFill>
                  <a:schemeClr val="tx1"/>
                </a:solidFill>
              </a:rPr>
              <a:t>」的例子協助補全。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09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D70A-6196-239B-1DEE-A726DAC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4E1F-70AF-9099-C59D-E6A1672D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詳細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5D9DFB-BC1A-8AFD-674E-7D9C577AF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遊戲包含如下角色子類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Aircraft</a:t>
            </a:r>
            <a:r>
              <a:rPr lang="zh-TW" altLang="en-US" sz="2200" dirty="0">
                <a:solidFill>
                  <a:schemeClr val="tx1"/>
                </a:solidFill>
              </a:rPr>
              <a:t>類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用戶飛機類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2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圖像為右圖飛機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2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具備</a:t>
            </a:r>
            <a:r>
              <a:rPr lang="en-US" altLang="zh-TW" sz="2200" dirty="0">
                <a:solidFill>
                  <a:schemeClr val="tx1"/>
                </a:solidFill>
              </a:rPr>
              <a:t>update()</a:t>
            </a:r>
            <a:r>
              <a:rPr lang="zh-TW" altLang="en-US" sz="2200" dirty="0">
                <a:solidFill>
                  <a:schemeClr val="tx1"/>
                </a:solidFill>
              </a:rPr>
              <a:t>和</a:t>
            </a:r>
            <a:r>
              <a:rPr lang="en-US" altLang="zh-TW" sz="2200" dirty="0">
                <a:solidFill>
                  <a:schemeClr val="tx1"/>
                </a:solidFill>
              </a:rPr>
              <a:t>shoot()</a:t>
            </a:r>
            <a:r>
              <a:rPr lang="zh-TW" altLang="en-US" sz="2200" dirty="0">
                <a:solidFill>
                  <a:schemeClr val="tx1"/>
                </a:solidFill>
              </a:rPr>
              <a:t>兩個方法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3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update</a:t>
            </a:r>
            <a:r>
              <a:rPr lang="zh-TW" altLang="en-US" sz="2200" dirty="0">
                <a:solidFill>
                  <a:schemeClr val="tx1"/>
                </a:solidFill>
              </a:rPr>
              <a:t>為左右移動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3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shoot()</a:t>
            </a:r>
            <a:r>
              <a:rPr lang="zh-TW" altLang="en-US" sz="2200" dirty="0">
                <a:solidFill>
                  <a:schemeClr val="tx1"/>
                </a:solidFill>
              </a:rPr>
              <a:t>為生成一個</a:t>
            </a:r>
            <a:r>
              <a:rPr lang="en-US" altLang="zh-TW" sz="2200" dirty="0">
                <a:solidFill>
                  <a:schemeClr val="tx1"/>
                </a:solidFill>
              </a:rPr>
              <a:t>Bullet()</a:t>
            </a:r>
            <a:r>
              <a:rPr lang="zh-TW" altLang="en-US" sz="2200" dirty="0">
                <a:solidFill>
                  <a:schemeClr val="tx1"/>
                </a:solidFill>
              </a:rPr>
              <a:t>子彈子類對象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9F0883-633B-103D-1E3A-C982F07EE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172" y="1570443"/>
            <a:ext cx="3124200" cy="387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39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A908-00DD-500F-DD36-EF5510012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F3FD-C31C-5749-C7FE-5541058D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詳細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BB7576-9E99-D492-84CE-C20AB071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3" y="1570443"/>
            <a:ext cx="7308998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Enemy</a:t>
            </a:r>
            <a:r>
              <a:rPr lang="zh-TW" altLang="en-US" sz="2200" dirty="0">
                <a:solidFill>
                  <a:schemeClr val="tx1"/>
                </a:solidFill>
              </a:rPr>
              <a:t>類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敵方飛機類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圖像為右圖兩款飛機</a:t>
            </a:r>
            <a:r>
              <a:rPr lang="zh-TW" altLang="en-US" sz="2000" dirty="0">
                <a:solidFill>
                  <a:schemeClr val="tx1"/>
                </a:solidFill>
              </a:rPr>
              <a:t>，用</a:t>
            </a:r>
            <a:r>
              <a:rPr lang="en-US" altLang="zh-TW" sz="2000" dirty="0" err="1">
                <a:solidFill>
                  <a:schemeClr val="tx1"/>
                </a:solidFill>
              </a:rPr>
              <a:t>image_type</a:t>
            </a:r>
            <a:r>
              <a:rPr lang="zh-TW" altLang="en-US" sz="2000" dirty="0">
                <a:solidFill>
                  <a:schemeClr val="tx1"/>
                </a:solidFill>
              </a:rPr>
              <a:t>變量控制，</a:t>
            </a:r>
            <a:r>
              <a:rPr lang="en-US" altLang="zh-TW" sz="2000" dirty="0">
                <a:solidFill>
                  <a:schemeClr val="tx1"/>
                </a:solidFill>
              </a:rPr>
              <a:t>0</a:t>
            </a:r>
            <a:r>
              <a:rPr lang="zh-TW" altLang="en-US" sz="2000" dirty="0">
                <a:solidFill>
                  <a:schemeClr val="tx1"/>
                </a:solidFill>
              </a:rPr>
              <a:t>為上方敵機，</a:t>
            </a:r>
            <a:r>
              <a:rPr lang="en-US" altLang="zh-TW" sz="2000" dirty="0">
                <a:solidFill>
                  <a:schemeClr val="tx1"/>
                </a:solidFill>
              </a:rPr>
              <a:t>1</a:t>
            </a:r>
            <a:r>
              <a:rPr lang="zh-TW" altLang="en-US" sz="2000" dirty="0">
                <a:solidFill>
                  <a:schemeClr val="tx1"/>
                </a:solidFill>
              </a:rPr>
              <a:t>為下方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位置</a:t>
            </a:r>
            <a:r>
              <a:rPr lang="en-US" altLang="zh-TW" sz="2000" dirty="0" err="1">
                <a:solidFill>
                  <a:schemeClr val="tx1"/>
                </a:solidFill>
              </a:rPr>
              <a:t>self.rect</a:t>
            </a:r>
            <a:r>
              <a:rPr lang="en-US" altLang="zh-TW" sz="2000" dirty="0">
                <a:solidFill>
                  <a:schemeClr val="tx1"/>
                </a:solidFill>
              </a:rPr>
              <a:t> </a:t>
            </a:r>
            <a:r>
              <a:rPr lang="zh-TW" altLang="en-US" sz="2000" dirty="0">
                <a:solidFill>
                  <a:schemeClr val="tx1"/>
                </a:solidFill>
              </a:rPr>
              <a:t>中的</a:t>
            </a:r>
            <a:r>
              <a:rPr lang="en-US" altLang="zh-TW" sz="2000" dirty="0">
                <a:solidFill>
                  <a:schemeClr val="tx1"/>
                </a:solidFill>
              </a:rPr>
              <a:t>x</a:t>
            </a:r>
            <a:r>
              <a:rPr lang="zh-TW" altLang="en-US" sz="2000" dirty="0">
                <a:solidFill>
                  <a:schemeClr val="tx1"/>
                </a:solidFill>
              </a:rPr>
              <a:t>在</a:t>
            </a:r>
            <a:r>
              <a:rPr lang="en-US" altLang="zh-TW" sz="2000" dirty="0">
                <a:solidFill>
                  <a:srgbClr val="FF0000"/>
                </a:solidFill>
              </a:rPr>
              <a:t>50</a:t>
            </a:r>
            <a:r>
              <a:rPr lang="en-US" altLang="zh-TW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~</a:t>
            </a:r>
            <a:r>
              <a:rPr lang="en-US" altLang="zh-TW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screnn_width-50</a:t>
            </a:r>
            <a:r>
              <a:rPr lang="zh-TW" altLang="en-US" sz="2000" dirty="0">
                <a:solidFill>
                  <a:schemeClr val="tx1"/>
                </a:solidFill>
              </a:rPr>
              <a:t>間生成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具備</a:t>
            </a:r>
            <a:r>
              <a:rPr lang="en-US" altLang="zh-TW" sz="2200" dirty="0">
                <a:solidFill>
                  <a:schemeClr val="tx1"/>
                </a:solidFill>
              </a:rPr>
              <a:t>update()</a:t>
            </a:r>
            <a:r>
              <a:rPr lang="zh-TW" altLang="en-US" sz="2200" dirty="0">
                <a:solidFill>
                  <a:schemeClr val="tx1"/>
                </a:solidFill>
              </a:rPr>
              <a:t>和</a:t>
            </a:r>
            <a:r>
              <a:rPr lang="en-US" altLang="zh-TW" sz="2200" dirty="0">
                <a:solidFill>
                  <a:schemeClr val="tx1"/>
                </a:solidFill>
              </a:rPr>
              <a:t>shoot()</a:t>
            </a:r>
            <a:r>
              <a:rPr lang="zh-TW" altLang="en-US" sz="2200" dirty="0">
                <a:solidFill>
                  <a:schemeClr val="tx1"/>
                </a:solidFill>
              </a:rPr>
              <a:t>兩個方法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2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update</a:t>
            </a:r>
            <a:r>
              <a:rPr lang="zh-TW" altLang="en-US" sz="2200" dirty="0">
                <a:solidFill>
                  <a:schemeClr val="tx1"/>
                </a:solidFill>
              </a:rPr>
              <a:t>為向下移動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2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shoot()</a:t>
            </a:r>
            <a:r>
              <a:rPr lang="zh-TW" altLang="en-US" sz="2200" dirty="0">
                <a:solidFill>
                  <a:schemeClr val="tx1"/>
                </a:solidFill>
              </a:rPr>
              <a:t>為生成一個</a:t>
            </a:r>
            <a:r>
              <a:rPr lang="en-US" altLang="zh-TW" sz="2200" dirty="0">
                <a:solidFill>
                  <a:schemeClr val="tx1"/>
                </a:solidFill>
              </a:rPr>
              <a:t>Bullet()</a:t>
            </a:r>
            <a:r>
              <a:rPr lang="zh-TW" altLang="en-US" sz="2200" dirty="0">
                <a:solidFill>
                  <a:schemeClr val="tx1"/>
                </a:solidFill>
              </a:rPr>
              <a:t>子彈子類對象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D01F0-A879-B862-DFF1-C05D818E0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712" y="1435395"/>
            <a:ext cx="2113598" cy="16162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915C5DB-BBC5-7277-7F4B-C47CE05F1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238" y="3645388"/>
            <a:ext cx="1832546" cy="236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5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75D8-EC6C-F602-ACC3-5300830F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CDC7-6EC6-24C1-3CA0-9FC78171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詳細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35C547-A364-C5E8-73EE-749DF21C8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881775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Bullet</a:t>
            </a:r>
            <a:r>
              <a:rPr lang="zh-TW" altLang="en-US" sz="2200" dirty="0">
                <a:solidFill>
                  <a:schemeClr val="tx1"/>
                </a:solidFill>
              </a:rPr>
              <a:t>類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子彈類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子彈圖像分為兩種，一種是我方子彈，一種是敵方子彈。用變量</a:t>
            </a:r>
            <a:r>
              <a:rPr lang="en-US" altLang="zh-TW" sz="2200" dirty="0" err="1">
                <a:solidFill>
                  <a:schemeClr val="tx1"/>
                </a:solidFill>
              </a:rPr>
              <a:t>speed_sign</a:t>
            </a:r>
            <a:r>
              <a:rPr lang="zh-TW" altLang="en-US" sz="2200" dirty="0">
                <a:solidFill>
                  <a:schemeClr val="tx1"/>
                </a:solidFill>
              </a:rPr>
              <a:t>具分，</a:t>
            </a:r>
            <a:r>
              <a:rPr lang="en-US" altLang="zh-TW" sz="2200" dirty="0">
                <a:solidFill>
                  <a:schemeClr val="tx1"/>
                </a:solidFill>
              </a:rPr>
              <a:t>1</a:t>
            </a:r>
            <a:r>
              <a:rPr lang="zh-TW" altLang="en-US" sz="2200" dirty="0">
                <a:solidFill>
                  <a:schemeClr val="tx1"/>
                </a:solidFill>
              </a:rPr>
              <a:t>為我方，</a:t>
            </a:r>
            <a:r>
              <a:rPr lang="en-US" altLang="zh-TW" sz="2200" dirty="0">
                <a:solidFill>
                  <a:schemeClr val="tx1"/>
                </a:solidFill>
              </a:rPr>
              <a:t>-1</a:t>
            </a:r>
            <a:r>
              <a:rPr lang="zh-TW" altLang="en-US" sz="2200" dirty="0">
                <a:solidFill>
                  <a:schemeClr val="tx1"/>
                </a:solidFill>
              </a:rPr>
              <a:t>為敵方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子彈的初始化位置由</a:t>
            </a:r>
            <a:r>
              <a:rPr lang="en-US" altLang="zh-TW" sz="2200" dirty="0" err="1">
                <a:solidFill>
                  <a:schemeClr val="tx1"/>
                </a:solidFill>
              </a:rPr>
              <a:t>x_pox</a:t>
            </a:r>
            <a:r>
              <a:rPr lang="zh-TW" altLang="en-US" sz="2200" dirty="0">
                <a:solidFill>
                  <a:schemeClr val="tx1"/>
                </a:solidFill>
              </a:rPr>
              <a:t>和</a:t>
            </a:r>
            <a:r>
              <a:rPr lang="en-US" altLang="zh-TW" sz="2200" dirty="0" err="1">
                <a:solidFill>
                  <a:schemeClr val="tx1"/>
                </a:solidFill>
              </a:rPr>
              <a:t>y_pox</a:t>
            </a:r>
            <a:r>
              <a:rPr lang="zh-TW" altLang="en-US" sz="2200" dirty="0">
                <a:solidFill>
                  <a:schemeClr val="tx1"/>
                </a:solidFill>
              </a:rPr>
              <a:t>決定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具備</a:t>
            </a:r>
            <a:r>
              <a:rPr lang="en-US" altLang="zh-TW" sz="2200" dirty="0">
                <a:solidFill>
                  <a:schemeClr val="tx1"/>
                </a:solidFill>
              </a:rPr>
              <a:t>update()</a:t>
            </a:r>
            <a:r>
              <a:rPr lang="zh-TW" altLang="en-US" sz="2200" dirty="0">
                <a:solidFill>
                  <a:schemeClr val="tx1"/>
                </a:solidFill>
              </a:rPr>
              <a:t>方法，注意，我方子彈速度向上移動，敵方向下移動，因此我方子彈要超出視窗上邊界時才消失，而敵方是要超出下邊界才消失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192DFAA-3DCB-37B2-30A5-2C4D25ABE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1" y="1659891"/>
            <a:ext cx="458152" cy="106902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F91E9CC-CDA3-62A2-1585-B53CBCD3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071" y="1659891"/>
            <a:ext cx="458152" cy="10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8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3D51-59BE-2ED3-1C43-C34CEDAF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5755-A249-E7B7-1664-06280B47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詳細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F6763E-A089-1B9E-4832-1176C9B3B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881775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 err="1">
                <a:solidFill>
                  <a:schemeClr val="tx1"/>
                </a:solidFill>
              </a:rPr>
              <a:t>ScrollingBackground</a:t>
            </a:r>
            <a:r>
              <a:rPr lang="zh-TW" altLang="en-US" sz="2200" dirty="0">
                <a:solidFill>
                  <a:schemeClr val="tx1"/>
                </a:solidFill>
              </a:rPr>
              <a:t>類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滾動背景類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圖像是由兩張背景組成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圖像的速度是向下移動的，因此</a:t>
            </a:r>
            <a:r>
              <a:rPr lang="en-US" altLang="zh-TW" sz="2200" dirty="0" err="1">
                <a:solidFill>
                  <a:schemeClr val="tx1"/>
                </a:solidFill>
              </a:rPr>
              <a:t>self.rect.y</a:t>
            </a:r>
            <a:r>
              <a:rPr lang="en-US" altLang="zh-TW" sz="2200" dirty="0">
                <a:solidFill>
                  <a:schemeClr val="tx1"/>
                </a:solidFill>
              </a:rPr>
              <a:t> += </a:t>
            </a:r>
            <a:r>
              <a:rPr lang="en-US" altLang="zh-TW" sz="2200" dirty="0" err="1">
                <a:solidFill>
                  <a:schemeClr val="tx1"/>
                </a:solidFill>
              </a:rPr>
              <a:t>self.speed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注意當即將出界時把</a:t>
            </a:r>
            <a:r>
              <a:rPr lang="en-US" altLang="zh-TW" sz="2200" dirty="0" err="1">
                <a:solidFill>
                  <a:schemeClr val="tx1"/>
                </a:solidFill>
              </a:rPr>
              <a:t>rect.y</a:t>
            </a:r>
            <a:r>
              <a:rPr lang="zh-TW" altLang="en-US" sz="2200" dirty="0">
                <a:solidFill>
                  <a:schemeClr val="tx1"/>
                </a:solidFill>
              </a:rPr>
              <a:t>位置變回合適的位置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BB4D4A-75A0-C309-6841-A926D84D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499" y="3424041"/>
            <a:ext cx="1790861" cy="317877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A33C7B1-5D6E-F346-2067-49DBABA65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498" y="245263"/>
            <a:ext cx="1790861" cy="317877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51A65C5-4948-D89D-AB90-0272370D75D1}"/>
              </a:ext>
            </a:extLst>
          </p:cNvPr>
          <p:cNvSpPr/>
          <p:nvPr/>
        </p:nvSpPr>
        <p:spPr>
          <a:xfrm>
            <a:off x="9090498" y="3424041"/>
            <a:ext cx="1790861" cy="3188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1900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60ADA-21AC-4524-F029-2A290FCC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F3A8-7A0F-167A-EB7E-ABDB1B50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詳細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948735-689B-9FB2-6345-1A85ECAFC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881775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Game</a:t>
            </a:r>
            <a:r>
              <a:rPr lang="zh-TW" altLang="en-US" sz="2000" dirty="0">
                <a:solidFill>
                  <a:schemeClr val="tx1"/>
                </a:solidFill>
              </a:rPr>
              <a:t>類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遊戲管理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管理所有包含對象</a:t>
            </a:r>
            <a:r>
              <a:rPr lang="en-US" altLang="zh-TW" sz="2000" dirty="0">
                <a:solidFill>
                  <a:schemeClr val="tx1"/>
                </a:solidFill>
              </a:rPr>
              <a:t> - </a:t>
            </a:r>
            <a:r>
              <a:rPr lang="zh-TW" altLang="en-US" sz="2000" dirty="0">
                <a:solidFill>
                  <a:schemeClr val="tx1"/>
                </a:solidFill>
              </a:rPr>
              <a:t>滾動視窗對象、我方飛機對象、敵方飛機</a:t>
            </a:r>
            <a:r>
              <a:rPr lang="en-US" altLang="zh-TW" sz="2000" dirty="0">
                <a:solidFill>
                  <a:schemeClr val="tx1"/>
                </a:solidFill>
              </a:rPr>
              <a:t>Group</a:t>
            </a:r>
            <a:r>
              <a:rPr lang="zh-TW" altLang="en-US" sz="2000" dirty="0">
                <a:solidFill>
                  <a:schemeClr val="tx1"/>
                </a:solidFill>
              </a:rPr>
              <a:t>、敵方子彈</a:t>
            </a:r>
            <a:r>
              <a:rPr lang="en-US" altLang="zh-TW" sz="2000" dirty="0">
                <a:solidFill>
                  <a:schemeClr val="tx1"/>
                </a:solidFill>
              </a:rPr>
              <a:t>Group</a:t>
            </a:r>
            <a:r>
              <a:rPr lang="zh-TW" altLang="en-US" sz="2000" dirty="0">
                <a:solidFill>
                  <a:schemeClr val="tx1"/>
                </a:solidFill>
              </a:rPr>
              <a:t>、我方彈</a:t>
            </a:r>
            <a:r>
              <a:rPr lang="en-US" altLang="zh-TW" sz="2000" dirty="0">
                <a:solidFill>
                  <a:schemeClr val="tx1"/>
                </a:solidFill>
              </a:rPr>
              <a:t>Group</a:t>
            </a: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背景音效播放、擊中時的音效播放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處理事件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按</a:t>
            </a:r>
            <a:r>
              <a:rPr lang="en-US" altLang="zh-TW" sz="2000" dirty="0">
                <a:solidFill>
                  <a:schemeClr val="tx1"/>
                </a:solidFill>
              </a:rPr>
              <a:t>space</a:t>
            </a:r>
            <a:r>
              <a:rPr lang="zh-TW" altLang="en-US" sz="2000" dirty="0">
                <a:solidFill>
                  <a:schemeClr val="tx1"/>
                </a:solidFill>
              </a:rPr>
              <a:t>鍵射子彈、敵方飛機自動生成、自動射彈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碰撞檢測 </a:t>
            </a:r>
            <a:r>
              <a:rPr lang="en-US" altLang="zh-TW" sz="2000" dirty="0">
                <a:solidFill>
                  <a:schemeClr val="tx1"/>
                </a:solidFill>
              </a:rPr>
              <a:t>- </a:t>
            </a:r>
            <a:r>
              <a:rPr lang="zh-TW" altLang="en-US" sz="2000" dirty="0">
                <a:solidFill>
                  <a:schemeClr val="tx1"/>
                </a:solidFill>
              </a:rPr>
              <a:t>我方子彈</a:t>
            </a:r>
            <a:r>
              <a:rPr lang="en-US" altLang="zh-TW" sz="2000" dirty="0">
                <a:solidFill>
                  <a:schemeClr val="tx1"/>
                </a:solidFill>
              </a:rPr>
              <a:t>Group</a:t>
            </a:r>
            <a:r>
              <a:rPr lang="zh-TW" altLang="en-US" sz="2000" dirty="0">
                <a:solidFill>
                  <a:schemeClr val="tx1"/>
                </a:solidFill>
              </a:rPr>
              <a:t>和敵方飛機，敵方子彈</a:t>
            </a:r>
            <a:r>
              <a:rPr lang="en-US" altLang="zh-TW" sz="2000" dirty="0">
                <a:solidFill>
                  <a:schemeClr val="tx1"/>
                </a:solidFill>
              </a:rPr>
              <a:t>Group</a:t>
            </a:r>
            <a:r>
              <a:rPr lang="zh-TW" altLang="en-US" sz="2000" dirty="0">
                <a:solidFill>
                  <a:schemeClr val="tx1"/>
                </a:solidFill>
              </a:rPr>
              <a:t>和我方飛機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基本的</a:t>
            </a:r>
            <a:r>
              <a:rPr lang="en-US" altLang="zh-TW" sz="2000" dirty="0">
                <a:solidFill>
                  <a:schemeClr val="tx1"/>
                </a:solidFill>
              </a:rPr>
              <a:t>update</a:t>
            </a:r>
            <a:r>
              <a:rPr lang="zh-TW" altLang="en-US" sz="2000" dirty="0">
                <a:solidFill>
                  <a:schemeClr val="tx1"/>
                </a:solidFill>
              </a:rPr>
              <a:t>和</a:t>
            </a:r>
            <a:r>
              <a:rPr lang="en-US" altLang="zh-TW" sz="2000" dirty="0">
                <a:solidFill>
                  <a:schemeClr val="tx1"/>
                </a:solidFill>
              </a:rPr>
              <a:t>render</a:t>
            </a:r>
            <a:r>
              <a:rPr lang="zh-TW" altLang="en-US" sz="2000" dirty="0">
                <a:solidFill>
                  <a:schemeClr val="tx1"/>
                </a:solidFill>
              </a:rPr>
              <a:t>方法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46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5975C-203B-ECE2-55D5-7CCE66D0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2244-4834-2EA8-DC3E-5AAE5A1E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提交期限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571913-8B8F-BB64-FD96-AC79B7822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732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在</a:t>
            </a:r>
            <a:r>
              <a:rPr lang="en-US" altLang="zh-TW" sz="2400" dirty="0">
                <a:solidFill>
                  <a:schemeClr val="tx1"/>
                </a:solidFill>
              </a:rPr>
              <a:t>5</a:t>
            </a:r>
            <a:r>
              <a:rPr lang="zh-TW" altLang="en-US" sz="2400" dirty="0">
                <a:solidFill>
                  <a:schemeClr val="tx1"/>
                </a:solidFill>
              </a:rPr>
              <a:t>月</a:t>
            </a:r>
            <a:r>
              <a:rPr lang="en-US" altLang="zh-TW" sz="2400" dirty="0">
                <a:solidFill>
                  <a:schemeClr val="tx1"/>
                </a:solidFill>
              </a:rPr>
              <a:t>20</a:t>
            </a:r>
            <a:r>
              <a:rPr lang="zh-TW" altLang="en-US" sz="2400" dirty="0">
                <a:solidFill>
                  <a:schemeClr val="tx1"/>
                </a:solidFill>
              </a:rPr>
              <a:t>日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包括當天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zh-TW" altLang="en-US" sz="2400" dirty="0">
                <a:solidFill>
                  <a:schemeClr val="tx1"/>
                </a:solidFill>
              </a:rPr>
              <a:t>前通過</a:t>
            </a:r>
            <a:r>
              <a:rPr lang="en-US" altLang="zh-TW" sz="2400" dirty="0">
                <a:solidFill>
                  <a:schemeClr val="tx1"/>
                </a:solidFill>
              </a:rPr>
              <a:t>email</a:t>
            </a:r>
            <a:r>
              <a:rPr lang="zh-TW" altLang="en-US" sz="2400" dirty="0">
                <a:solidFill>
                  <a:schemeClr val="tx1"/>
                </a:solidFill>
              </a:rPr>
              <a:t>提交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45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3755</TotalTime>
  <Words>523</Words>
  <Application>Microsoft Office PowerPoint</Application>
  <PresentationFormat>寬螢幕</PresentationFormat>
  <Paragraphs>57</Paragraphs>
  <Slides>11</Slides>
  <Notes>11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Adobe Gothic Std B</vt:lpstr>
      <vt:lpstr>Arial</vt:lpstr>
      <vt:lpstr>Calibri</vt:lpstr>
      <vt:lpstr>Open Sans Semibold</vt:lpstr>
      <vt:lpstr>Times New Roman</vt:lpstr>
      <vt:lpstr>Trebuchet MS</vt:lpstr>
      <vt:lpstr>Wingdings 3</vt:lpstr>
      <vt:lpstr>Light</vt:lpstr>
      <vt:lpstr>多面向</vt:lpstr>
      <vt:lpstr>大作業 – 飛機大戰</vt:lpstr>
      <vt:lpstr>簡介</vt:lpstr>
      <vt:lpstr>內容</vt:lpstr>
      <vt:lpstr>詳細</vt:lpstr>
      <vt:lpstr>詳細</vt:lpstr>
      <vt:lpstr>詳細</vt:lpstr>
      <vt:lpstr>詳細</vt:lpstr>
      <vt:lpstr>詳細</vt:lpstr>
      <vt:lpstr>詳細</vt:lpstr>
      <vt:lpstr>提交期限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1078</cp:revision>
  <dcterms:created xsi:type="dcterms:W3CDTF">2021-09-29T10:33:58Z</dcterms:created>
  <dcterms:modified xsi:type="dcterms:W3CDTF">2026-05-11T17:22:21Z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