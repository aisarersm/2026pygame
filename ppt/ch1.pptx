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59" r:id="rId2"/>
  </p:sldMasterIdLst>
  <p:notesMasterIdLst>
    <p:notesMasterId r:id="rId14"/>
  </p:notesMasterIdLst>
  <p:sldIdLst>
    <p:sldId id="335" r:id="rId3"/>
    <p:sldId id="340" r:id="rId4"/>
    <p:sldId id="334" r:id="rId5"/>
    <p:sldId id="332" r:id="rId6"/>
    <p:sldId id="333" r:id="rId7"/>
    <p:sldId id="338" r:id="rId8"/>
    <p:sldId id="342" r:id="rId9"/>
    <p:sldId id="339" r:id="rId10"/>
    <p:sldId id="343" r:id="rId11"/>
    <p:sldId id="341" r:id="rId12"/>
    <p:sldId id="33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D9A"/>
    <a:srgbClr val="F8F87B"/>
    <a:srgbClr val="EE3F53"/>
    <a:srgbClr val="B9BFCA"/>
    <a:srgbClr val="66C2CD"/>
    <a:srgbClr val="D290E4"/>
    <a:srgbClr val="71BEF2"/>
    <a:srgbClr val="DBAB79"/>
    <a:srgbClr val="A8CC8C"/>
    <a:srgbClr val="E88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41" autoAdjust="0"/>
    <p:restoredTop sz="96140" autoAdjust="0"/>
  </p:normalViewPr>
  <p:slideViewPr>
    <p:cSldViewPr snapToGrid="0" showGuides="1">
      <p:cViewPr varScale="1">
        <p:scale>
          <a:sx n="56" d="100"/>
          <a:sy n="56" d="100"/>
        </p:scale>
        <p:origin x="972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A5B10-B1E4-10D3-1B53-C38A3522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1BA6C-64A4-81D2-EB49-7C6EFFD29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97673-9584-2916-0E55-BF2407AE5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8583E-4FF7-93B5-5A18-BA6EBFCBA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0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99546-5A8E-7A21-C09F-030EA491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307E9-2B4F-5E6E-EF85-E968368F3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BE2EE-7E57-07EB-5836-446F231F9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3E192-68D0-3988-9D33-87FECF167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22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7B67B-8E95-7BFB-6BED-39A81D8B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BD27C-BDF5-B42D-E59F-B33BD3370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C0DE6-C135-7CE7-D90C-599E3BFDD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202B1-F026-6E27-6EAB-AEC2BE8B8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70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2323F-6B75-6EBD-163D-D9D8268D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2EA5E-BD80-FD81-0266-7A1E38541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F5A57-CB93-A767-CF27-94B651798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FD2DB-B62F-31A7-EDA5-15D6C73F7E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95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C5285-A4A8-0E2C-78C5-B3DF4CC4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34565-229D-EEF1-D9A7-7CAAEB8B6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CCD66-EBB5-4BDB-B207-BAC54789D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789FB-9130-10D3-F4B1-240DFA7610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42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4CFB1-2525-1F42-0DD2-C294DB25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19336-60C0-D2FA-26BE-C04B735BD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A6BB4-2D0A-C8E8-8E12-C6C394614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801E3-A776-A09D-01FC-F772C98D4E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16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1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1388"/>
            <a:ext cx="9144000" cy="2387600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1063"/>
            <a:ext cx="9144000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2">
                    <a:lumMod val="7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8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7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0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9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7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1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0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27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172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1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1245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5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697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eric19980324@hot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rive.google.com/drive/folders/1jeD3J8i9z26zheYxAwMq9rWNzyq28xlU?usp=sharin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www.pygame.org/doc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Chapter1-</a:t>
            </a:r>
            <a:r>
              <a:rPr lang="zh-TW" altLang="en-US" dirty="0"/>
              <a:t>基本概念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基於</a:t>
            </a:r>
            <a:r>
              <a:rPr lang="en-US" altLang="zh-TW" sz="2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Pygame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 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遊戲開發</a:t>
            </a:r>
            <a:endParaRPr 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6912-9A8A-FE42-8F2F-17BCA8E3F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6193-C931-AEAC-D91C-BE666673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194" y="290528"/>
            <a:ext cx="8596668" cy="591879"/>
          </a:xfrm>
        </p:spPr>
        <p:txBody>
          <a:bodyPr>
            <a:normAutofit fontScale="90000"/>
          </a:bodyPr>
          <a:lstStyle/>
          <a:p>
            <a:r>
              <a:rPr lang="en-US" dirty="0"/>
              <a:t>Some others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3A06B2-5EC3-0255-39EF-369248C14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886"/>
            <a:ext cx="10515600" cy="5791534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200" dirty="0"/>
              <a:t>Break</a:t>
            </a:r>
          </a:p>
          <a:p>
            <a:pPr algn="just">
              <a:spcBef>
                <a:spcPts val="1800"/>
              </a:spcBef>
            </a:pPr>
            <a:r>
              <a:rPr lang="zh-TW" altLang="en-US" sz="2200" dirty="0"/>
              <a:t>分數組成</a:t>
            </a:r>
            <a:endParaRPr lang="en-US" altLang="zh-TW" sz="2200" dirty="0"/>
          </a:p>
          <a:p>
            <a:pPr lvl="1" algn="just">
              <a:spcBef>
                <a:spcPts val="1800"/>
              </a:spcBef>
            </a:pPr>
            <a:r>
              <a:rPr lang="zh-TW" altLang="en-US" sz="2000" dirty="0"/>
              <a:t>簽到</a:t>
            </a:r>
            <a:r>
              <a:rPr lang="en-US" altLang="zh-TW" sz="2000" dirty="0"/>
              <a:t>(25%)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000" dirty="0"/>
              <a:t>課後簡單</a:t>
            </a:r>
            <a:r>
              <a:rPr lang="en-US" altLang="zh-TW" sz="2000" dirty="0"/>
              <a:t>exercises(25%)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000" dirty="0"/>
              <a:t>大作業</a:t>
            </a:r>
            <a:r>
              <a:rPr lang="en-US" altLang="zh-TW" sz="2000" dirty="0"/>
              <a:t>(50%)</a:t>
            </a:r>
          </a:p>
          <a:p>
            <a:pPr algn="just">
              <a:spcBef>
                <a:spcPts val="1800"/>
              </a:spcBef>
            </a:pPr>
            <a:r>
              <a:rPr lang="zh-TW" altLang="en-US" sz="2200" dirty="0"/>
              <a:t>交作業</a:t>
            </a:r>
            <a:r>
              <a:rPr lang="en-US" altLang="zh-TW" sz="2200" dirty="0"/>
              <a:t>/</a:t>
            </a:r>
            <a:r>
              <a:rPr lang="zh-TW" altLang="en-US" sz="2200" dirty="0"/>
              <a:t>問問題渠道</a:t>
            </a:r>
            <a:endParaRPr lang="en-US" altLang="zh-TW" sz="2200" dirty="0"/>
          </a:p>
          <a:p>
            <a:pPr lvl="1" algn="just">
              <a:spcBef>
                <a:spcPts val="1800"/>
              </a:spcBef>
            </a:pPr>
            <a:r>
              <a:rPr lang="en-US" altLang="zh-HK" sz="2000" dirty="0"/>
              <a:t>Email (</a:t>
            </a:r>
            <a:r>
              <a:rPr lang="en-US" altLang="zh-HK" sz="2000" dirty="0">
                <a:hlinkClick r:id="rId3"/>
              </a:rPr>
              <a:t>eric19980324@hotmail.com</a:t>
            </a:r>
            <a:r>
              <a:rPr lang="en-US" altLang="zh-HK" sz="2000" dirty="0"/>
              <a:t>)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000" dirty="0"/>
              <a:t>功課要打包成</a:t>
            </a:r>
            <a:r>
              <a:rPr lang="en-US" altLang="zh-TW" sz="2000" dirty="0"/>
              <a:t>zip</a:t>
            </a:r>
            <a:r>
              <a:rPr lang="zh-TW" altLang="en-US" sz="2000" dirty="0"/>
              <a:t>檔提交，名稱如為如下格式</a:t>
            </a:r>
            <a:r>
              <a:rPr lang="en-US" altLang="zh-TW" sz="2000" dirty="0"/>
              <a:t>: </a:t>
            </a:r>
            <a:r>
              <a:rPr lang="zh-TW" altLang="en-US" sz="2000" dirty="0"/>
              <a:t>名稱</a:t>
            </a:r>
            <a:r>
              <a:rPr lang="en-US" altLang="zh-TW" sz="2000" dirty="0"/>
              <a:t>_lessonX.zip</a:t>
            </a:r>
            <a:endParaRPr lang="en-US" altLang="zh-HK" sz="2000" dirty="0"/>
          </a:p>
          <a:p>
            <a:pPr algn="just">
              <a:spcBef>
                <a:spcPts val="1800"/>
              </a:spcBef>
            </a:pPr>
            <a:r>
              <a:rPr lang="zh-TW" altLang="en-US" sz="2200" dirty="0"/>
              <a:t>每次上堂前會更新</a:t>
            </a:r>
            <a:r>
              <a:rPr lang="en-US" altLang="zh-TW" sz="2200" dirty="0"/>
              <a:t>materials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000" dirty="0"/>
              <a:t>可從學生</a:t>
            </a:r>
            <a:r>
              <a:rPr lang="en-US" altLang="zh-TW" sz="2000" dirty="0"/>
              <a:t>drive</a:t>
            </a:r>
            <a:r>
              <a:rPr lang="zh-TW" altLang="en-US" sz="2000" dirty="0"/>
              <a:t>中拉到本地使用，</a:t>
            </a:r>
            <a:r>
              <a:rPr lang="zh-TW" altLang="en-US" sz="2000" dirty="0">
                <a:solidFill>
                  <a:srgbClr val="FF0000"/>
                </a:solidFill>
              </a:rPr>
              <a:t>千萬不要在</a:t>
            </a:r>
            <a:r>
              <a:rPr lang="en-US" altLang="zh-TW" sz="2000" dirty="0">
                <a:solidFill>
                  <a:srgbClr val="FF0000"/>
                </a:solidFill>
              </a:rPr>
              <a:t>drive</a:t>
            </a:r>
            <a:r>
              <a:rPr lang="zh-TW" altLang="en-US" sz="2000" dirty="0">
                <a:solidFill>
                  <a:srgbClr val="FF0000"/>
                </a:solidFill>
              </a:rPr>
              <a:t>中操作</a:t>
            </a:r>
            <a:r>
              <a:rPr lang="zh-TW" altLang="en-US" sz="2000" dirty="0"/>
              <a:t>!</a:t>
            </a:r>
            <a:r>
              <a:rPr lang="en-US" altLang="zh-TW" sz="2000" dirty="0"/>
              <a:t>!!</a:t>
            </a:r>
          </a:p>
          <a:p>
            <a:pPr lvl="1" algn="just">
              <a:spcBef>
                <a:spcPts val="1800"/>
              </a:spcBef>
            </a:pPr>
            <a:r>
              <a:rPr lang="en-US" altLang="zh-TW" sz="1800" dirty="0">
                <a:hlinkClick r:id="rId4"/>
              </a:rPr>
              <a:t>https://drive.google.com/drive/folders/1jeD3J8i9z26zheYxAwMq9rWNzyq28xlU?usp=sharing</a:t>
            </a:r>
            <a:endParaRPr lang="en-US" altLang="zh-TW" sz="1800" dirty="0"/>
          </a:p>
          <a:p>
            <a:pPr lvl="1" algn="just">
              <a:spcBef>
                <a:spcPts val="1800"/>
              </a:spcBef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51134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Python</a:t>
            </a:r>
            <a:r>
              <a:rPr lang="zh-TW" altLang="en-US" dirty="0"/>
              <a:t>基礎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838200" y="1432226"/>
            <a:ext cx="10515600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400" dirty="0"/>
              <a:t>知道如何</a:t>
            </a:r>
            <a:r>
              <a:rPr lang="en-US" altLang="zh-TW" sz="2400" dirty="0"/>
              <a:t>pip install package</a:t>
            </a:r>
          </a:p>
          <a:p>
            <a:pPr algn="just">
              <a:spcBef>
                <a:spcPts val="1800"/>
              </a:spcBef>
            </a:pPr>
            <a:r>
              <a:rPr lang="zh-TW" altLang="en-US" sz="2400" dirty="0"/>
              <a:t>知道如何使用</a:t>
            </a:r>
            <a:r>
              <a:rPr lang="en-US" altLang="zh-TW" sz="2400" dirty="0"/>
              <a:t>ide</a:t>
            </a:r>
            <a:r>
              <a:rPr lang="zh-TW" altLang="en-US" sz="2400" dirty="0"/>
              <a:t>如</a:t>
            </a:r>
            <a:r>
              <a:rPr lang="en-US" altLang="zh-TW" sz="2400" dirty="0" err="1"/>
              <a:t>pycharm</a:t>
            </a:r>
            <a:r>
              <a:rPr lang="en-US" altLang="zh-TW" sz="2400" dirty="0"/>
              <a:t>/</a:t>
            </a:r>
            <a:r>
              <a:rPr lang="en-US" altLang="zh-TW" sz="2400" dirty="0" err="1"/>
              <a:t>vscode</a:t>
            </a:r>
            <a:r>
              <a:rPr lang="zh-TW" altLang="en-US" sz="2400" dirty="0"/>
              <a:t>進行便捷開發</a:t>
            </a:r>
            <a:endParaRPr lang="en-US" altLang="zh-TW" sz="2400" dirty="0"/>
          </a:p>
          <a:p>
            <a:pPr algn="just">
              <a:spcBef>
                <a:spcPts val="1800"/>
              </a:spcBef>
            </a:pPr>
            <a:r>
              <a:rPr lang="zh-TW" altLang="en-US" sz="2400" dirty="0"/>
              <a:t>有</a:t>
            </a:r>
            <a:r>
              <a:rPr lang="en-US" altLang="zh-TW" sz="2400" dirty="0"/>
              <a:t>python</a:t>
            </a:r>
            <a:r>
              <a:rPr lang="zh-TW" altLang="en-US" sz="2400" dirty="0"/>
              <a:t>基礎知識</a:t>
            </a:r>
            <a:endParaRPr lang="en-US" altLang="zh-TW" sz="2400" dirty="0"/>
          </a:p>
          <a:p>
            <a:pPr lvl="1" algn="just">
              <a:spcBef>
                <a:spcPts val="1800"/>
              </a:spcBef>
            </a:pPr>
            <a:r>
              <a:rPr lang="zh-TW" altLang="en-US" sz="2400" dirty="0"/>
              <a:t>可以</a:t>
            </a:r>
            <a:r>
              <a:rPr lang="en-US" altLang="zh-TW" sz="2400" dirty="0"/>
              <a:t>i</a:t>
            </a:r>
            <a:r>
              <a:rPr lang="en-US" sz="2400" dirty="0"/>
              <a:t>mport</a:t>
            </a:r>
            <a:r>
              <a:rPr lang="zh-TW" altLang="en-US" sz="2400" dirty="0"/>
              <a:t>其他</a:t>
            </a:r>
            <a:r>
              <a:rPr lang="en-US" altLang="zh-TW" sz="2400" dirty="0"/>
              <a:t>package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400" dirty="0"/>
              <a:t>變量與數據類型 </a:t>
            </a:r>
            <a:r>
              <a:rPr lang="en-US" altLang="zh-TW" sz="2400" dirty="0"/>
              <a:t>– </a:t>
            </a:r>
            <a:r>
              <a:rPr lang="zh-TW" altLang="en-US" sz="2400" dirty="0"/>
              <a:t>整</a:t>
            </a:r>
            <a:r>
              <a:rPr lang="en-US" altLang="zh-TW" sz="2400" dirty="0"/>
              <a:t>int/float/bool/str/[]/{}/()…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400" dirty="0"/>
              <a:t>循環語法，</a:t>
            </a:r>
            <a:r>
              <a:rPr lang="en-US" altLang="zh-TW" sz="2400" dirty="0"/>
              <a:t>if-else/if-</a:t>
            </a:r>
            <a:r>
              <a:rPr lang="en-US" altLang="zh-TW" sz="2400" dirty="0" err="1"/>
              <a:t>elif</a:t>
            </a:r>
            <a:r>
              <a:rPr lang="en-US" altLang="zh-TW" sz="2400" dirty="0"/>
              <a:t>-else/while-break/while-continue/</a:t>
            </a:r>
            <a:r>
              <a:rPr lang="en-US" altLang="zh-TW" sz="2400" dirty="0" err="1"/>
              <a:t>for..in</a:t>
            </a:r>
            <a:endParaRPr lang="en-US" altLang="zh-TW" sz="2400" dirty="0"/>
          </a:p>
          <a:p>
            <a:pPr lvl="1" algn="just">
              <a:spcBef>
                <a:spcPts val="1800"/>
              </a:spcBef>
            </a:pPr>
            <a:r>
              <a:rPr lang="zh-TW" altLang="en-US" sz="2400" dirty="0"/>
              <a:t>函數自定義與調用，</a:t>
            </a:r>
            <a:r>
              <a:rPr lang="en-US" altLang="zh-TW" sz="2400" dirty="0"/>
              <a:t>def </a:t>
            </a:r>
            <a:r>
              <a:rPr lang="en-US" altLang="zh-TW" sz="2400" dirty="0" err="1"/>
              <a:t>xxxx</a:t>
            </a:r>
            <a:r>
              <a:rPr lang="en-US" altLang="zh-TW" sz="2400" dirty="0"/>
              <a:t>(</a:t>
            </a:r>
            <a:r>
              <a:rPr lang="en-US" altLang="zh-TW" sz="2400" dirty="0" err="1"/>
              <a:t>aa,bb</a:t>
            </a:r>
            <a:r>
              <a:rPr lang="en-US" altLang="zh-TW" sz="2400" dirty="0"/>
              <a:t>)……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400" dirty="0"/>
              <a:t>面向對象相關，如定義類</a:t>
            </a:r>
            <a:r>
              <a:rPr lang="en-US" altLang="zh-TW" sz="2400" dirty="0"/>
              <a:t>class</a:t>
            </a:r>
            <a:r>
              <a:rPr lang="zh-TW" altLang="en-US" sz="2400" dirty="0"/>
              <a:t>，繼承</a:t>
            </a:r>
            <a:r>
              <a:rPr lang="en-US" altLang="zh-TW" sz="2400" dirty="0"/>
              <a:t>…… (</a:t>
            </a:r>
            <a:r>
              <a:rPr lang="zh-TW" altLang="en-US" sz="2400" dirty="0"/>
              <a:t>如果不會也沒有關係，後續課程會介紹</a:t>
            </a:r>
            <a:r>
              <a:rPr lang="en-US" altLang="zh-TW" sz="2400" dirty="0"/>
              <a:t>)</a:t>
            </a:r>
            <a:endParaRPr lang="en-US" sz="24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416C80C-EA4F-A7BD-D436-552A9D0B62E2}"/>
              </a:ext>
            </a:extLst>
          </p:cNvPr>
          <p:cNvSpPr txBox="1"/>
          <p:nvPr/>
        </p:nvSpPr>
        <p:spPr>
          <a:xfrm>
            <a:off x="4457700" y="609600"/>
            <a:ext cx="7886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rgbClr val="FF0000"/>
                </a:solidFill>
              </a:rPr>
              <a:t>可以課後</a:t>
            </a:r>
            <a:r>
              <a:rPr lang="zh-TW" altLang="en-US" dirty="0">
                <a:solidFill>
                  <a:srgbClr val="FF0000"/>
                </a:solidFill>
              </a:rPr>
              <a:t>看看「補充資料」內的內容，看看自己有沒有掌握基本知識</a:t>
            </a:r>
            <a:endParaRPr lang="zh-HK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4796"/>
          </a:xfrm>
        </p:spPr>
        <p:txBody>
          <a:bodyPr/>
          <a:lstStyle/>
          <a:p>
            <a:r>
              <a:rPr lang="zh-TW" altLang="en-US" dirty="0"/>
              <a:t>遊戲開發的一些</a:t>
            </a:r>
            <a:r>
              <a:rPr lang="en-US" altLang="zh-TW" dirty="0"/>
              <a:t>Terms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77334" y="1475996"/>
            <a:ext cx="5080190" cy="3880773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FPS(Frames Per Second)-</a:t>
            </a:r>
            <a:r>
              <a:rPr lang="zh-TW" altLang="en-US" sz="2000" dirty="0"/>
              <a:t>每秒的幀數</a:t>
            </a:r>
            <a:endParaRPr lang="en-US" altLang="zh-TW" sz="2000" dirty="0"/>
          </a:p>
          <a:p>
            <a:pPr algn="just"/>
            <a:r>
              <a:rPr lang="en-US" altLang="zh-TW" sz="2000" dirty="0"/>
              <a:t>Resolution-</a:t>
            </a:r>
            <a:r>
              <a:rPr lang="zh-TW" altLang="en-US" sz="2000" dirty="0"/>
              <a:t>畫面分便率</a:t>
            </a:r>
            <a:endParaRPr lang="en-US" altLang="zh-TW" sz="2000" dirty="0"/>
          </a:p>
          <a:p>
            <a:pPr algn="just"/>
            <a:r>
              <a:rPr lang="en-US" sz="2000" dirty="0"/>
              <a:t>Sprite-</a:t>
            </a:r>
            <a:r>
              <a:rPr lang="zh-TW" altLang="en-US" sz="2000" dirty="0"/>
              <a:t>精靈，</a:t>
            </a:r>
            <a:r>
              <a:rPr lang="en-US" sz="2000" dirty="0"/>
              <a:t>2D</a:t>
            </a:r>
            <a:r>
              <a:rPr lang="zh-TW" altLang="en-US" sz="2000" dirty="0"/>
              <a:t>遊戲中使用的角色</a:t>
            </a:r>
            <a:endParaRPr lang="en-US" sz="2000" dirty="0"/>
          </a:p>
          <a:p>
            <a:pPr algn="just"/>
            <a:endParaRPr lang="en-US" sz="20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13F8123-DED3-A60E-5174-0B5A37C82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60"/>
          <a:stretch/>
        </p:blipFill>
        <p:spPr bwMode="auto">
          <a:xfrm>
            <a:off x="6095999" y="447041"/>
            <a:ext cx="5630887" cy="286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C7F3B19-2724-D474-7659-3CA1D81E1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43219"/>
            <a:ext cx="5599289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375226" cy="660400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zh-TW" altLang="en-US" dirty="0"/>
              <a:t>遊戲開發框架集成了如下功能</a:t>
            </a:r>
            <a:endParaRPr lang="en-US" dirty="0"/>
          </a:p>
        </p:txBody>
      </p:sp>
      <p:sp>
        <p:nvSpPr>
          <p:cNvPr id="5" name="Content Placeholder 11">
            <a:extLst>
              <a:ext uri="{FF2B5EF4-FFF2-40B4-BE49-F238E27FC236}">
                <a16:creationId xmlns:a16="http://schemas.microsoft.com/office/drawing/2014/main" id="{06A889A2-3ADC-819A-6CF2-E2B08684FC39}"/>
              </a:ext>
            </a:extLst>
          </p:cNvPr>
          <p:cNvSpPr txBox="1">
            <a:spLocks/>
          </p:cNvSpPr>
          <p:nvPr/>
        </p:nvSpPr>
        <p:spPr>
          <a:xfrm>
            <a:off x="677334" y="1475996"/>
            <a:ext cx="7095066" cy="248994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000" dirty="0"/>
              <a:t>界面顯示</a:t>
            </a:r>
            <a:endParaRPr lang="en-US" altLang="zh-TW" sz="2000" dirty="0"/>
          </a:p>
          <a:p>
            <a:pPr algn="just"/>
            <a:r>
              <a:rPr lang="en-US" altLang="zh-TW" sz="2000" dirty="0"/>
              <a:t>FPS</a:t>
            </a:r>
            <a:r>
              <a:rPr lang="zh-TW" altLang="en-US" sz="2000" dirty="0"/>
              <a:t>等時間的管理</a:t>
            </a:r>
            <a:endParaRPr lang="en-US" altLang="zh-TW" sz="2000" dirty="0"/>
          </a:p>
          <a:p>
            <a:pPr algn="just"/>
            <a:r>
              <a:rPr lang="zh-TW" altLang="en-US" sz="2000" dirty="0"/>
              <a:t>豐富事件反饋</a:t>
            </a:r>
            <a:endParaRPr lang="en-US" altLang="zh-TW" sz="2000" dirty="0"/>
          </a:p>
          <a:p>
            <a:pPr algn="just"/>
            <a:r>
              <a:rPr lang="zh-TW" altLang="en-US" sz="2000" dirty="0"/>
              <a:t>角色繪畫</a:t>
            </a:r>
            <a:endParaRPr lang="en-US" altLang="zh-TW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6EABCED-EFA8-CF4D-0035-20CFC6E16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9" y="4106718"/>
            <a:ext cx="11937698" cy="2075021"/>
          </a:xfrm>
          <a:prstGeom prst="rect">
            <a:avLst/>
          </a:prstGeom>
        </p:spPr>
      </p:pic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F78D5FF3-97DD-0BE7-D4C6-FD0601760B87}"/>
              </a:ext>
            </a:extLst>
          </p:cNvPr>
          <p:cNvSpPr txBox="1">
            <a:spLocks/>
          </p:cNvSpPr>
          <p:nvPr/>
        </p:nvSpPr>
        <p:spPr>
          <a:xfrm>
            <a:off x="5284776" y="1443385"/>
            <a:ext cx="7095066" cy="248994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000" dirty="0"/>
              <a:t>碰撞檢測</a:t>
            </a:r>
            <a:endParaRPr lang="en-US" altLang="zh-TW" sz="2000" dirty="0"/>
          </a:p>
          <a:p>
            <a:pPr algn="just"/>
            <a:r>
              <a:rPr lang="zh-TW" altLang="en-US" sz="2000" dirty="0"/>
              <a:t>多媒體播放</a:t>
            </a:r>
            <a:r>
              <a:rPr lang="en-US" altLang="zh-TW" sz="2000" dirty="0"/>
              <a:t>(</a:t>
            </a:r>
            <a:r>
              <a:rPr lang="zh-TW" altLang="en-US" sz="2000" dirty="0"/>
              <a:t>音效和背景音樂</a:t>
            </a:r>
            <a:r>
              <a:rPr lang="en-US" altLang="zh-TW" sz="2000" dirty="0"/>
              <a:t>)</a:t>
            </a:r>
          </a:p>
          <a:p>
            <a:pPr algn="just"/>
            <a:r>
              <a:rPr lang="zh-TW" altLang="en-US" sz="2000" dirty="0"/>
              <a:t>常見外設集成</a:t>
            </a:r>
            <a:endParaRPr lang="en-US" altLang="zh-TW" sz="2000" dirty="0"/>
          </a:p>
          <a:p>
            <a:pPr lvl="1" algn="just"/>
            <a:r>
              <a:rPr lang="en-US" altLang="zh-HK" sz="2000" dirty="0"/>
              <a:t>Keyboard</a:t>
            </a:r>
          </a:p>
          <a:p>
            <a:pPr lvl="1" algn="just"/>
            <a:r>
              <a:rPr lang="en-US" altLang="zh-HK" sz="2000" dirty="0"/>
              <a:t>Mouse</a:t>
            </a:r>
          </a:p>
          <a:p>
            <a:pPr lvl="1" algn="just"/>
            <a:r>
              <a:rPr lang="en-US" altLang="zh-HK" sz="2000" dirty="0"/>
              <a:t>Joystick……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5907994-EF54-2334-D261-F2457B27BEC6}"/>
              </a:ext>
            </a:extLst>
          </p:cNvPr>
          <p:cNvSpPr txBox="1"/>
          <p:nvPr/>
        </p:nvSpPr>
        <p:spPr>
          <a:xfrm>
            <a:off x="4136066" y="6322513"/>
            <a:ext cx="6188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en-US" dirty="0">
                <a:hlinkClick r:id="rId4"/>
              </a:rPr>
              <a:t>https://www.pygame.org/docs/</a:t>
            </a:r>
            <a:endParaRPr lang="en-US" altLang="zh-HK" dirty="0"/>
          </a:p>
          <a:p>
            <a:endParaRPr lang="zh-HK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D59D5-314B-2F05-1B24-0B0FFDD41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999E-AE0C-164B-C46B-80E24C55D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534" y="411648"/>
            <a:ext cx="5083386" cy="660400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zh-TW" altLang="en-US" dirty="0"/>
              <a:t>遊戲開發框架</a:t>
            </a:r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05BE8A8-339D-405D-84DC-2A6B9675F930}"/>
              </a:ext>
            </a:extLst>
          </p:cNvPr>
          <p:cNvSpPr txBox="1"/>
          <p:nvPr/>
        </p:nvSpPr>
        <p:spPr>
          <a:xfrm>
            <a:off x="5412279" y="588346"/>
            <a:ext cx="3626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en-US" dirty="0">
                <a:hlinkClick r:id="rId3"/>
              </a:rPr>
              <a:t>https://www.pygame.org/docs/</a:t>
            </a:r>
            <a:endParaRPr lang="en-US" altLang="zh-HK" dirty="0"/>
          </a:p>
          <a:p>
            <a:endParaRPr lang="zh-HK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30C935-7B95-9173-2D8D-31340CF06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636" y="1072048"/>
            <a:ext cx="8769003" cy="592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606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13A0-A9BE-65A7-9081-FFB1B1D3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29B6-2899-43E6-C2B8-2FCD889C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4796"/>
          </a:xfrm>
        </p:spPr>
        <p:txBody>
          <a:bodyPr/>
          <a:lstStyle/>
          <a:p>
            <a:r>
              <a:rPr lang="zh-TW" altLang="en-US" dirty="0">
                <a:solidFill>
                  <a:schemeClr val="tx2"/>
                </a:solidFill>
              </a:rPr>
              <a:t>安裝</a:t>
            </a:r>
            <a:r>
              <a:rPr lang="en-US" altLang="zh-TW" dirty="0">
                <a:solidFill>
                  <a:schemeClr val="tx2"/>
                </a:solidFill>
              </a:rPr>
              <a:t>python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F3417A6-60CA-F729-E215-8916A9E46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1374396"/>
            <a:ext cx="9689410" cy="3880773"/>
          </a:xfrm>
        </p:spPr>
        <p:txBody>
          <a:bodyPr>
            <a:normAutofit/>
          </a:bodyPr>
          <a:lstStyle/>
          <a:p>
            <a:pPr algn="just"/>
            <a:r>
              <a:rPr lang="zh-TW" altLang="en-US" sz="2000" dirty="0"/>
              <a:t>打開「安裝軟件」內的</a:t>
            </a:r>
            <a:r>
              <a:rPr lang="en-US" altLang="zh-TW" sz="2000" dirty="0"/>
              <a:t>python-3.13.3-amd64.exe</a:t>
            </a:r>
            <a:endParaRPr lang="en-US" sz="1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5979A50-A203-7277-06A3-EA0BEDE00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479" y="1988820"/>
            <a:ext cx="7555868" cy="464629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1DACC93-F5E9-490E-9ED9-51195DB27A07}"/>
              </a:ext>
            </a:extLst>
          </p:cNvPr>
          <p:cNvSpPr/>
          <p:nvPr/>
        </p:nvSpPr>
        <p:spPr>
          <a:xfrm>
            <a:off x="3966210" y="6126481"/>
            <a:ext cx="2788920" cy="2857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13874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9446-46D7-0AD4-D30A-953C7D35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04DE1-5B16-6922-6BA3-133BE0D64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4796"/>
          </a:xfrm>
        </p:spPr>
        <p:txBody>
          <a:bodyPr/>
          <a:lstStyle/>
          <a:p>
            <a:r>
              <a:rPr lang="zh-TW" altLang="en-US" dirty="0">
                <a:solidFill>
                  <a:schemeClr val="tx2"/>
                </a:solidFill>
              </a:rPr>
              <a:t>安裝</a:t>
            </a:r>
            <a:r>
              <a:rPr lang="en-US" altLang="zh-TW" dirty="0" err="1">
                <a:solidFill>
                  <a:schemeClr val="tx2"/>
                </a:solidFill>
              </a:rPr>
              <a:t>pygame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DD4062F-D751-271F-47AF-1C056E339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1475996"/>
            <a:ext cx="9689410" cy="3880773"/>
          </a:xfrm>
        </p:spPr>
        <p:txBody>
          <a:bodyPr>
            <a:normAutofit/>
          </a:bodyPr>
          <a:lstStyle/>
          <a:p>
            <a:pPr algn="just"/>
            <a:r>
              <a:rPr lang="zh-TW" altLang="en-US" sz="2000" dirty="0"/>
              <a:t>打開</a:t>
            </a:r>
            <a:r>
              <a:rPr lang="en-US" altLang="zh-TW" sz="2000" dirty="0" err="1"/>
              <a:t>cmd</a:t>
            </a:r>
            <a:r>
              <a:rPr lang="zh-TW" altLang="en-US" sz="2000" dirty="0"/>
              <a:t>，</a:t>
            </a:r>
            <a:r>
              <a:rPr lang="en-US" altLang="zh-TW" sz="2000" dirty="0"/>
              <a:t>pip </a:t>
            </a:r>
            <a:r>
              <a:rPr lang="en-US" altLang="zh-TW" sz="2000" dirty="0" err="1"/>
              <a:t>intall</a:t>
            </a:r>
            <a:r>
              <a:rPr lang="en-US" altLang="zh-TW" sz="2000" dirty="0"/>
              <a:t> </a:t>
            </a:r>
            <a:r>
              <a:rPr lang="en-US" altLang="zh-TW" sz="2000" dirty="0" err="1"/>
              <a:t>pygame</a:t>
            </a:r>
            <a:r>
              <a:rPr lang="en-US" altLang="zh-TW" sz="2000" dirty="0"/>
              <a:t>(</a:t>
            </a:r>
            <a:r>
              <a:rPr lang="zh-TW" altLang="en-US" sz="2000" dirty="0"/>
              <a:t>若沒有</a:t>
            </a:r>
            <a:r>
              <a:rPr lang="en-US" altLang="zh-TW" sz="2000" dirty="0"/>
              <a:t>python</a:t>
            </a:r>
            <a:r>
              <a:rPr lang="zh-TW" altLang="en-US" sz="2000" dirty="0"/>
              <a:t>請先安裝</a:t>
            </a:r>
            <a:r>
              <a:rPr lang="en-US" altLang="zh-TW" sz="2000" dirty="0"/>
              <a:t>python)</a:t>
            </a:r>
          </a:p>
          <a:p>
            <a:pPr algn="just"/>
            <a:r>
              <a:rPr lang="zh-TW" altLang="en-US" sz="2000" dirty="0"/>
              <a:t>然後在</a:t>
            </a:r>
            <a:r>
              <a:rPr lang="en-US" altLang="zh-TW" sz="2000" dirty="0" err="1"/>
              <a:t>cmd</a:t>
            </a:r>
            <a:r>
              <a:rPr lang="zh-TW" altLang="en-US" sz="2000" dirty="0"/>
              <a:t>中進入交互界面</a:t>
            </a:r>
            <a:endParaRPr lang="en-US" altLang="zh-TW" sz="2000" dirty="0"/>
          </a:p>
          <a:p>
            <a:pPr lvl="1" algn="just"/>
            <a:r>
              <a:rPr lang="zh-TW" altLang="en-US" sz="1800" dirty="0"/>
              <a:t>輸入</a:t>
            </a:r>
            <a:r>
              <a:rPr lang="en-US" altLang="zh-TW" sz="1800" dirty="0"/>
              <a:t>python</a:t>
            </a:r>
          </a:p>
          <a:p>
            <a:pPr lvl="1" algn="just"/>
            <a:r>
              <a:rPr lang="en-US" sz="1800" dirty="0"/>
              <a:t>import </a:t>
            </a:r>
            <a:r>
              <a:rPr lang="en-US" sz="1800" dirty="0" err="1"/>
              <a:t>pygame</a:t>
            </a:r>
            <a:endParaRPr lang="en-US" sz="1800" dirty="0"/>
          </a:p>
          <a:p>
            <a:pPr lvl="1" algn="just"/>
            <a:r>
              <a:rPr lang="zh-TW" altLang="en-US" sz="1800" dirty="0"/>
              <a:t>若顯示</a:t>
            </a:r>
            <a:r>
              <a:rPr lang="en-US" altLang="zh-TW" sz="1800" dirty="0" err="1"/>
              <a:t>pygame</a:t>
            </a:r>
            <a:r>
              <a:rPr lang="zh-TW" altLang="en-US" sz="1800" dirty="0"/>
              <a:t>的</a:t>
            </a:r>
            <a:r>
              <a:rPr lang="en-US" altLang="zh-TW" sz="1800" dirty="0"/>
              <a:t>version</a:t>
            </a:r>
            <a:r>
              <a:rPr lang="zh-TW" altLang="en-US" sz="1800" dirty="0"/>
              <a:t>即安裝成功</a:t>
            </a:r>
            <a:endParaRPr lang="en-US" sz="1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DF559E1-BE03-6E6B-4701-BF0D6A4C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3682686"/>
            <a:ext cx="10261600" cy="270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6439-5446-3952-BDCD-C96F652F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3CE16-1F5A-3CA9-6F7B-9A116539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4796"/>
          </a:xfrm>
        </p:spPr>
        <p:txBody>
          <a:bodyPr/>
          <a:lstStyle/>
          <a:p>
            <a:r>
              <a:rPr lang="zh-TW" altLang="en-US" dirty="0">
                <a:solidFill>
                  <a:schemeClr val="tx2"/>
                </a:solidFill>
              </a:rPr>
              <a:t>安裝</a:t>
            </a:r>
            <a:r>
              <a:rPr lang="en-US" altLang="zh-TW" dirty="0" err="1">
                <a:solidFill>
                  <a:schemeClr val="tx2"/>
                </a:solidFill>
              </a:rPr>
              <a:t>vscode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01780B2-096C-8F12-37ED-DE6149593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1475996"/>
            <a:ext cx="9689410" cy="3880773"/>
          </a:xfrm>
        </p:spPr>
        <p:txBody>
          <a:bodyPr>
            <a:normAutofit/>
          </a:bodyPr>
          <a:lstStyle/>
          <a:p>
            <a:pPr algn="just"/>
            <a:r>
              <a:rPr lang="zh-TW" altLang="en-US" sz="2000" dirty="0"/>
              <a:t>打開「安裝軟件」內的</a:t>
            </a:r>
            <a:r>
              <a:rPr lang="en-US" altLang="zh-TW" sz="2000" dirty="0"/>
              <a:t>VSCodeUserSetup-x64-1.105.1.exe</a:t>
            </a:r>
            <a:endParaRPr lang="en-US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BE59D97-8AEB-EB75-5F32-99DD035E1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35" y="2390488"/>
            <a:ext cx="4989306" cy="355834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4114ED1-DA6B-8B3A-A29D-8D47FDFC4F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92"/>
          <a:stretch>
            <a:fillRect/>
          </a:stretch>
        </p:blipFill>
        <p:spPr>
          <a:xfrm>
            <a:off x="5969362" y="2390489"/>
            <a:ext cx="5748403" cy="355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62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E03F3-C695-3FE8-6702-42FFEAE3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4D3E-DE34-F6C0-E950-0E27369D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4796"/>
          </a:xfrm>
        </p:spPr>
        <p:txBody>
          <a:bodyPr/>
          <a:lstStyle/>
          <a:p>
            <a:r>
              <a:rPr lang="zh-TW" altLang="en-US" dirty="0">
                <a:solidFill>
                  <a:schemeClr val="tx2"/>
                </a:solidFill>
              </a:rPr>
              <a:t>後續每一堂的課前準備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4872AA-AA90-D3AB-F990-FAA31FCFF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1475996"/>
            <a:ext cx="9689410" cy="388077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下載最新的</a:t>
            </a:r>
            <a:r>
              <a:rPr lang="en-US" altLang="zh-TW" sz="2400" dirty="0"/>
              <a:t>materials</a:t>
            </a:r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安裝</a:t>
            </a:r>
            <a:endParaRPr lang="en-US" altLang="zh-TW" sz="2400" dirty="0"/>
          </a:p>
          <a:p>
            <a:pPr lvl="1" algn="just">
              <a:lnSpc>
                <a:spcPct val="150000"/>
              </a:lnSpc>
            </a:pPr>
            <a:r>
              <a:rPr lang="en-US" altLang="zh-TW" sz="2200" dirty="0"/>
              <a:t>Python</a:t>
            </a:r>
          </a:p>
          <a:p>
            <a:pPr lvl="1" algn="just">
              <a:lnSpc>
                <a:spcPct val="150000"/>
              </a:lnSpc>
            </a:pPr>
            <a:r>
              <a:rPr lang="en-US" altLang="zh-TW" sz="2200" dirty="0" err="1"/>
              <a:t>Pygame</a:t>
            </a:r>
            <a:endParaRPr lang="en-US" altLang="zh-TW" sz="2200" dirty="0"/>
          </a:p>
          <a:p>
            <a:pPr lvl="1" algn="just">
              <a:lnSpc>
                <a:spcPct val="150000"/>
              </a:lnSpc>
            </a:pPr>
            <a:r>
              <a:rPr lang="en-US" altLang="zh-TW" sz="2200" dirty="0" err="1"/>
              <a:t>Vscode</a:t>
            </a:r>
            <a:r>
              <a:rPr lang="en-US" altLang="zh-TW" sz="2200" dirty="0"/>
              <a:t>(</a:t>
            </a:r>
            <a:r>
              <a:rPr lang="zh-TW" altLang="en-US" sz="2200" dirty="0"/>
              <a:t>插件可有可冇</a:t>
            </a:r>
            <a:r>
              <a:rPr lang="en-US" altLang="zh-TW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0068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ECDCA4-1F5B-FAB5-6F90-FBE384C11F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HK" dirty="0"/>
              <a:t>2025.11.04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88904428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PGO-JIGSAW PUZZLE">
      <a:dk1>
        <a:sysClr val="windowText" lastClr="000000"/>
      </a:dk1>
      <a:lt1>
        <a:sysClr val="window" lastClr="FFFFFF"/>
      </a:lt1>
      <a:dk2>
        <a:srgbClr val="20D38F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多面向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</TotalTime>
  <Words>422</Words>
  <Application>Microsoft Office PowerPoint</Application>
  <PresentationFormat>寬螢幕</PresentationFormat>
  <Paragraphs>71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Arial</vt:lpstr>
      <vt:lpstr>Calibri</vt:lpstr>
      <vt:lpstr>Open Sans Semibold</vt:lpstr>
      <vt:lpstr>Times New Roman</vt:lpstr>
      <vt:lpstr>Trebuchet MS</vt:lpstr>
      <vt:lpstr>Wingdings 3</vt:lpstr>
      <vt:lpstr>Light</vt:lpstr>
      <vt:lpstr>多面向</vt:lpstr>
      <vt:lpstr>Chapter1-基本概念 </vt:lpstr>
      <vt:lpstr>Some others</vt:lpstr>
      <vt:lpstr>Any Python基礎</vt:lpstr>
      <vt:lpstr>遊戲開發的一些Terms</vt:lpstr>
      <vt:lpstr>Pygame遊戲開發框架集成了如下功能</vt:lpstr>
      <vt:lpstr>Pygame 遊戲開發框架</vt:lpstr>
      <vt:lpstr>安裝python</vt:lpstr>
      <vt:lpstr>安裝pygame</vt:lpstr>
      <vt:lpstr>安裝vscode</vt:lpstr>
      <vt:lpstr>後續每一堂的課前準備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microsome presentation</dc:title>
  <dc:creator/>
  <dc:description/>
  <cp:lastModifiedBy>勇 趙</cp:lastModifiedBy>
  <cp:revision>30</cp:revision>
  <dcterms:created xsi:type="dcterms:W3CDTF">2021-09-29T10:33:58Z</dcterms:created>
  <dcterms:modified xsi:type="dcterms:W3CDTF">2025-11-03T15:40:15Z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DAEE3358A3B04398A7E2A29EEAFCE4E9</vt:lpwstr>
  </property>
  <property fmtid="{D5CDD505-2E9C-101B-9397-08002B2CF9AE}" pid="3" name="KSOProductBuildVer">
    <vt:lpwstr>2052-11.1.0.10938</vt:lpwstr>
  </property>
</Properties>
</file>