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9"/>
  </p:notesMasterIdLst>
  <p:sldIdLst>
    <p:sldId id="335" r:id="rId3"/>
    <p:sldId id="351" r:id="rId4"/>
    <p:sldId id="347" r:id="rId5"/>
    <p:sldId id="334" r:id="rId6"/>
    <p:sldId id="352" r:id="rId7"/>
    <p:sldId id="338" r:id="rId8"/>
    <p:sldId id="339" r:id="rId9"/>
    <p:sldId id="340" r:id="rId10"/>
    <p:sldId id="341" r:id="rId11"/>
    <p:sldId id="346" r:id="rId12"/>
    <p:sldId id="353" r:id="rId13"/>
    <p:sldId id="348" r:id="rId14"/>
    <p:sldId id="350" r:id="rId15"/>
    <p:sldId id="354" r:id="rId16"/>
    <p:sldId id="355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7B"/>
    <a:srgbClr val="013D9A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557" autoAdjust="0"/>
  </p:normalViewPr>
  <p:slideViewPr>
    <p:cSldViewPr snapToGrid="0" showGuides="1">
      <p:cViewPr varScale="1">
        <p:scale>
          <a:sx n="56" d="100"/>
          <a:sy n="56" d="100"/>
        </p:scale>
        <p:origin x="9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01CA-A9AB-D354-C332-6F382667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A1DF5-ADE1-C469-56A8-EFE381096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E764E-301C-8045-39B7-9F2BAF753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2F33A-446E-856F-99C4-CE4DDBA6F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85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2AD6C-6840-F9EA-70FB-B3553C78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BE1A3-C96E-981B-3CFA-B9F4EE68B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F3B2B-0265-4EA9-304B-F52B1237A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0F76-2DCB-1076-C6B4-95A5E2A8E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09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E5F5-271F-CA00-7B2B-8F739B96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29D54-DAAE-3E53-A48E-44C8A2254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D5CA7-6895-16F5-249C-D5F1E8D39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4E9FB-32A9-8749-3D3D-66E12EC9F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3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1E0C-0C35-2105-7C0F-C363A12A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EAD9C-A145-5B03-5CBD-63D20E2D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7A877-B62C-0851-C141-EBE788BE2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7168C-C328-2865-4EB9-7ACE8F2E4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93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00D6-BFCC-5720-8545-5A208145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321DD-6118-BB01-07D9-8CE8A3116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7F6F4-21C9-B7DE-35DF-6B460F75F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553EF-77FD-0B1A-6326-E4A40540C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16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BB275-1EC7-B259-174F-03F2B0A9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B7C26-D57D-2985-7988-A166F39BC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21511-4A6E-0FE9-A083-D117C3027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E4173-8985-34C7-5256-E408CCEBA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18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EA55-4147-9F3C-53DB-5219BAC9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92B91-43EC-D972-EA8C-D9831223A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01690-22A6-300D-0867-3BF0B6E9E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A859F-0BA0-8B3F-F1B6-A84F06C40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67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04FF-96FD-5178-D26A-6C5C558A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4F4B8-82E6-385D-A852-2C08F5EC2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D56CE-9CAC-6C33-6B8C-2FDAB495D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3A0A-F035-8A3F-C512-1BD6EC569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08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0F7D-7D65-8D83-5545-A1F50A9D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5682F-A245-EDDF-44FD-DED065CD4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2C005-AE9A-90B0-E868-40ED1AB0D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42221-DB62-CAD2-3999-3940E2ECA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5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0FD1-574B-48D2-BB65-F4A456A5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2C0E4-6C92-8689-226F-92804C0A5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6FDE4-1A4F-DF52-A26A-DB56ED524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D214A-E3A3-BD00-6E4C-A0542FF26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04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2BA2-E32C-47E9-0778-5BD82285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5AE2E-CB1A-F7B9-C96B-6B6833EE5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816B-806A-B047-A323-8179B1EB9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B48BD-1F82-D84E-F453-210B5FE13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10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09BE-371F-63BB-ECE9-0374E17C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0950D-0AC9-EA83-2984-8DE4FA998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3196C-CFD1-55ED-9D73-A9F4A641B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5E9FF-0097-1645-B58D-6361ADE7B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5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pygame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pygam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display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rec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rect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imag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surfac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surfac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ref/surfac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Chapter2-</a:t>
            </a:r>
            <a:r>
              <a:rPr lang="zh-TW" altLang="en-US" dirty="0"/>
              <a:t>模塊講解</a:t>
            </a:r>
            <a:r>
              <a:rPr lang="en-US" altLang="zh-TW" dirty="0"/>
              <a:t>1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本篇包括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初始化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display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坐標系和</a:t>
            </a:r>
            <a:r>
              <a:rPr lang="en-US" altLang="zh-TW" sz="2400" dirty="0" err="1">
                <a:solidFill>
                  <a:schemeClr val="tx1"/>
                </a:solidFill>
              </a:rPr>
              <a:t>Rect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image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模塊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5589-A166-0DE5-9C4B-EA0321E2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F2EF-2148-DD96-2F4D-063AFC39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zh-TW" altLang="en-US" dirty="0"/>
              <a:t>思考一下</a:t>
            </a:r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E7DCB84-1C85-1C97-D134-B8A4008F0F52}"/>
              </a:ext>
            </a:extLst>
          </p:cNvPr>
          <p:cNvGrpSpPr/>
          <p:nvPr/>
        </p:nvGrpSpPr>
        <p:grpSpPr>
          <a:xfrm>
            <a:off x="830748" y="2106139"/>
            <a:ext cx="5555537" cy="4453479"/>
            <a:chOff x="1283978" y="1682549"/>
            <a:chExt cx="5695717" cy="456585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E3340CA-BDBD-D5E2-FFF8-C8B48D63AAEF}"/>
                </a:ext>
              </a:extLst>
            </p:cNvPr>
            <p:cNvSpPr/>
            <p:nvPr/>
          </p:nvSpPr>
          <p:spPr>
            <a:xfrm>
              <a:off x="1283978" y="1682549"/>
              <a:ext cx="5695717" cy="3553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4CD96BB-3EFF-0901-26BE-582B98E13E98}"/>
                </a:ext>
              </a:extLst>
            </p:cNvPr>
            <p:cNvSpPr/>
            <p:nvPr/>
          </p:nvSpPr>
          <p:spPr>
            <a:xfrm>
              <a:off x="1283978" y="2037898"/>
              <a:ext cx="5695713" cy="42105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45C159FC-DE60-83BF-6713-123AF6EE1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2065" y="3755898"/>
              <a:ext cx="587449" cy="414670"/>
            </a:xfrm>
            <a:prstGeom prst="rect">
              <a:avLst/>
            </a:prstGeom>
          </p:spPr>
        </p:pic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2F2F4B-BE69-D637-152C-E4E83DA56793}"/>
              </a:ext>
            </a:extLst>
          </p:cNvPr>
          <p:cNvSpPr txBox="1"/>
          <p:nvPr/>
        </p:nvSpPr>
        <p:spPr>
          <a:xfrm>
            <a:off x="6637834" y="2802692"/>
            <a:ext cx="5554166" cy="188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1. </a:t>
            </a:r>
            <a:r>
              <a:rPr lang="zh-TW" altLang="en-US" sz="2000" dirty="0">
                <a:solidFill>
                  <a:srgbClr val="FF0000"/>
                </a:solidFill>
              </a:rPr>
              <a:t>創建窗口 </a:t>
            </a:r>
            <a:r>
              <a:rPr lang="en-US" altLang="zh-TW" sz="2000" dirty="0">
                <a:solidFill>
                  <a:srgbClr val="FF0000"/>
                </a:solidFill>
              </a:rPr>
              <a:t>-&gt;display </a:t>
            </a:r>
            <a:r>
              <a:rPr lang="zh-TW" altLang="en-US" sz="2000" dirty="0">
                <a:solidFill>
                  <a:srgbClr val="FF0000"/>
                </a:solidFill>
              </a:rPr>
              <a:t>模塊</a:t>
            </a:r>
            <a:endParaRPr lang="en-US" altLang="zh-TW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2. </a:t>
            </a:r>
            <a:r>
              <a:rPr lang="zh-TW" altLang="en-US" sz="2000" dirty="0">
                <a:solidFill>
                  <a:srgbClr val="FF0000"/>
                </a:solidFill>
              </a:rPr>
              <a:t>決定小鳥的位置和大小 </a:t>
            </a:r>
            <a:r>
              <a:rPr lang="en-US" altLang="zh-TW" sz="2000" dirty="0">
                <a:solidFill>
                  <a:srgbClr val="FF0000"/>
                </a:solidFill>
              </a:rPr>
              <a:t>-&gt;</a:t>
            </a:r>
            <a:r>
              <a:rPr lang="zh-TW" altLang="en-US" sz="2000" dirty="0">
                <a:solidFill>
                  <a:srgbClr val="FF0000"/>
                </a:solidFill>
              </a:rPr>
              <a:t>坐標系與</a:t>
            </a:r>
            <a:r>
              <a:rPr lang="en-US" altLang="zh-TW" sz="2000" dirty="0" err="1">
                <a:solidFill>
                  <a:srgbClr val="FF0000"/>
                </a:solidFill>
              </a:rPr>
              <a:t>rect</a:t>
            </a:r>
            <a:r>
              <a:rPr lang="zh-TW" altLang="en-US" sz="2000" dirty="0">
                <a:solidFill>
                  <a:srgbClr val="FF0000"/>
                </a:solidFill>
              </a:rPr>
              <a:t>相關的概念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3. </a:t>
            </a:r>
            <a:r>
              <a:rPr lang="zh-TW" altLang="en-US" sz="2000" dirty="0">
                <a:solidFill>
                  <a:srgbClr val="FF0000"/>
                </a:solidFill>
              </a:rPr>
              <a:t>把小鳥畫在目標地方 </a:t>
            </a:r>
            <a:r>
              <a:rPr lang="en-US" altLang="zh-TW" sz="2000" dirty="0">
                <a:solidFill>
                  <a:srgbClr val="FF0000"/>
                </a:solidFill>
              </a:rPr>
              <a:t>-&gt; image</a:t>
            </a:r>
            <a:r>
              <a:rPr lang="zh-TW" altLang="en-US" sz="2000" dirty="0">
                <a:solidFill>
                  <a:srgbClr val="FF0000"/>
                </a:solidFill>
              </a:rPr>
              <a:t>和</a:t>
            </a:r>
            <a:r>
              <a:rPr lang="en-US" altLang="zh-TW" sz="2000" dirty="0">
                <a:solidFill>
                  <a:srgbClr val="FF0000"/>
                </a:solidFill>
              </a:rPr>
              <a:t>surface</a:t>
            </a:r>
            <a:r>
              <a:rPr lang="zh-TW" altLang="en-US" sz="2000" dirty="0">
                <a:solidFill>
                  <a:srgbClr val="FF0000"/>
                </a:solidFill>
              </a:rPr>
              <a:t>模塊</a:t>
            </a:r>
            <a:endParaRPr lang="zh-HK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99883F4-E5AE-5923-E9FA-9DCDB359DB52}"/>
              </a:ext>
            </a:extLst>
          </p:cNvPr>
          <p:cNvSpPr txBox="1"/>
          <p:nvPr/>
        </p:nvSpPr>
        <p:spPr>
          <a:xfrm>
            <a:off x="762981" y="1400146"/>
            <a:ext cx="6103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需要什麼元素才可以創建這一個畫面</a:t>
            </a:r>
            <a:endParaRPr lang="zh-HK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489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 err="1"/>
              <a:t>Pygame</a:t>
            </a:r>
            <a:r>
              <a:rPr lang="zh-TW" altLang="en-US" dirty="0"/>
              <a:t>中模組初始化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/>
              <a:t>詳見「</a:t>
            </a:r>
            <a:r>
              <a:rPr lang="en-US" altLang="zh-TW" sz="2400" dirty="0" err="1">
                <a:solidFill>
                  <a:srgbClr val="FF0000"/>
                </a:solidFill>
              </a:rPr>
              <a:t>pygame</a:t>
            </a:r>
            <a:r>
              <a:rPr lang="en-US" altLang="zh-TW" sz="2400" dirty="0">
                <a:solidFill>
                  <a:srgbClr val="FF0000"/>
                </a:solidFill>
              </a:rPr>
              <a:t>-</a:t>
            </a:r>
            <a:r>
              <a:rPr lang="zh-TW" altLang="en-US" sz="2400" dirty="0">
                <a:solidFill>
                  <a:srgbClr val="FF0000"/>
                </a:solidFill>
              </a:rPr>
              <a:t>初始化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b="1" dirty="0"/>
              <a:t>」</a:t>
            </a:r>
            <a:endParaRPr lang="en-US" altLang="zh-TW" sz="2400" b="1" dirty="0"/>
          </a:p>
          <a:p>
            <a:pPr algn="just">
              <a:spcBef>
                <a:spcPts val="1800"/>
              </a:spcBef>
            </a:pPr>
            <a:r>
              <a:rPr lang="en-US" sz="2400" dirty="0" err="1">
                <a:highlight>
                  <a:srgbClr val="FFFF00"/>
                </a:highlight>
              </a:rPr>
              <a:t>pygame.init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  <a:r>
              <a:rPr lang="zh-TW" altLang="en-US" sz="2400" dirty="0"/>
              <a:t>會對</a:t>
            </a:r>
            <a:r>
              <a:rPr lang="en-US" altLang="zh-TW" sz="2400" dirty="0" err="1"/>
              <a:t>pygame</a:t>
            </a:r>
            <a:r>
              <a:rPr lang="zh-TW" altLang="en-US" sz="2400" dirty="0"/>
              <a:t>中所有子模塊進行初始化，在編程開始時必須運行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en-US" sz="2400" dirty="0" err="1">
                <a:highlight>
                  <a:srgbClr val="FFFF00"/>
                </a:highlight>
              </a:rPr>
              <a:t>pygame.quit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  <a:r>
              <a:rPr lang="zh-TW" altLang="en-US" sz="2400" dirty="0"/>
              <a:t>會清理</a:t>
            </a:r>
            <a:r>
              <a:rPr lang="en-US" altLang="zh-TW" sz="2400" dirty="0" err="1"/>
              <a:t>pygame</a:t>
            </a:r>
            <a:r>
              <a:rPr lang="zh-TW" altLang="en-US" sz="2400" dirty="0"/>
              <a:t>中所有加載的子模塊，並對內存進行釋放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rgbClr val="FF0000"/>
                </a:solidFill>
              </a:rPr>
              <a:t>每次編程都一定會包括這兩個函數的使用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3E295D-3614-640A-470E-95D5B91F1543}"/>
              </a:ext>
            </a:extLst>
          </p:cNvPr>
          <p:cNvSpPr txBox="1"/>
          <p:nvPr/>
        </p:nvSpPr>
        <p:spPr>
          <a:xfrm>
            <a:off x="1010092" y="6248400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https://www.pygame.org/docs/ref/pygame.html</a:t>
            </a:r>
            <a:endParaRPr lang="en-US" altLang="zh-HK" dirty="0"/>
          </a:p>
          <a:p>
            <a:endParaRPr lang="zh-HK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A622-ACFD-73B4-3073-7E480194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D8A3-EC09-F286-07ED-5EB066E1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12964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display</a:t>
            </a:r>
            <a:r>
              <a:rPr lang="zh-TW" altLang="en-US" dirty="0"/>
              <a:t>模組</a:t>
            </a:r>
            <a:r>
              <a:rPr lang="en-US" altLang="zh-TW" dirty="0"/>
              <a:t>-</a:t>
            </a:r>
            <a:r>
              <a:rPr lang="zh-TW" altLang="en-US" dirty="0"/>
              <a:t>創建窗口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6C4924-F769-C5A8-8B7D-3047F9EB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634871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使用</a:t>
            </a:r>
            <a:r>
              <a:rPr lang="en-US" altLang="zh-TW" sz="2400" dirty="0">
                <a:solidFill>
                  <a:schemeClr val="tx1"/>
                </a:solidFill>
              </a:rPr>
              <a:t>display</a:t>
            </a:r>
            <a:r>
              <a:rPr lang="zh-TW" altLang="en-US" sz="2400" dirty="0">
                <a:solidFill>
                  <a:schemeClr val="tx1"/>
                </a:solidFill>
              </a:rPr>
              <a:t>模塊中的</a:t>
            </a:r>
            <a:r>
              <a:rPr lang="en-US" altLang="zh-TW" sz="2400" dirty="0" err="1">
                <a:solidFill>
                  <a:schemeClr val="tx1"/>
                </a:solidFill>
              </a:rPr>
              <a:t>set_mode</a:t>
            </a:r>
            <a:r>
              <a:rPr lang="en-US" altLang="zh-TW" sz="2400" dirty="0">
                <a:solidFill>
                  <a:schemeClr val="tx1"/>
                </a:solidFill>
              </a:rPr>
              <a:t>() </a:t>
            </a:r>
            <a:r>
              <a:rPr lang="zh-TW" altLang="en-US" sz="2400" dirty="0">
                <a:solidFill>
                  <a:schemeClr val="tx1"/>
                </a:solidFill>
              </a:rPr>
              <a:t>即可創建視窗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 err="1">
                <a:solidFill>
                  <a:schemeClr val="tx1"/>
                </a:solidFill>
              </a:rPr>
              <a:t>main_surface</a:t>
            </a:r>
            <a:r>
              <a:rPr lang="en-US" sz="2400" dirty="0">
                <a:solidFill>
                  <a:schemeClr val="tx1"/>
                </a:solidFill>
              </a:rPr>
              <a:t> = </a:t>
            </a:r>
            <a:r>
              <a:rPr lang="en-US" sz="2400" dirty="0" err="1">
                <a:solidFill>
                  <a:schemeClr val="tx1"/>
                </a:solidFill>
              </a:rPr>
              <a:t>pygame.display.set_mode</a:t>
            </a:r>
            <a:r>
              <a:rPr lang="en-US" sz="2400" dirty="0">
                <a:solidFill>
                  <a:schemeClr val="tx1"/>
                </a:solidFill>
              </a:rPr>
              <a:t>(size=(480,640))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1"/>
                </a:solidFill>
              </a:rPr>
              <a:t>size</a:t>
            </a:r>
            <a:r>
              <a:rPr lang="zh-TW" altLang="en-US" sz="2400" dirty="0">
                <a:solidFill>
                  <a:schemeClr val="tx1"/>
                </a:solidFill>
              </a:rPr>
              <a:t>指的是窗口的大小分辦率</a:t>
            </a:r>
            <a:r>
              <a:rPr lang="en-US" altLang="zh-TW" sz="2400" dirty="0">
                <a:solidFill>
                  <a:schemeClr val="tx1"/>
                </a:solidFill>
              </a:rPr>
              <a:t>(resolution)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53FF81-E680-0AB0-C695-8C6C6385957C}"/>
              </a:ext>
            </a:extLst>
          </p:cNvPr>
          <p:cNvSpPr txBox="1"/>
          <p:nvPr/>
        </p:nvSpPr>
        <p:spPr>
          <a:xfrm>
            <a:off x="1010092" y="6248400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dirty="0">
                <a:hlinkClick r:id="rId3"/>
              </a:rPr>
              <a:t>https://www.pygame.org/docs/ref/pygame.html</a:t>
            </a:r>
            <a:endParaRPr lang="en-US" altLang="zh-HK" dirty="0"/>
          </a:p>
          <a:p>
            <a:endParaRPr lang="zh-HK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9DA17BB-AF03-446E-49B5-CFA6FD6479FB}"/>
              </a:ext>
            </a:extLst>
          </p:cNvPr>
          <p:cNvGrpSpPr/>
          <p:nvPr/>
        </p:nvGrpSpPr>
        <p:grpSpPr>
          <a:xfrm>
            <a:off x="8161232" y="3429000"/>
            <a:ext cx="2875364" cy="3142565"/>
            <a:chOff x="5941038" y="1470275"/>
            <a:chExt cx="5695717" cy="456585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8CB269E-C072-FA6D-70E7-F3E4781CD372}"/>
                </a:ext>
              </a:extLst>
            </p:cNvPr>
            <p:cNvSpPr/>
            <p:nvPr/>
          </p:nvSpPr>
          <p:spPr>
            <a:xfrm>
              <a:off x="5941038" y="1470275"/>
              <a:ext cx="5695717" cy="3553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A64E471-95E5-56E8-1576-319E5872944E}"/>
                </a:ext>
              </a:extLst>
            </p:cNvPr>
            <p:cNvSpPr/>
            <p:nvPr/>
          </p:nvSpPr>
          <p:spPr>
            <a:xfrm>
              <a:off x="5941038" y="1825624"/>
              <a:ext cx="5695713" cy="42105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759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639F-B504-6D99-48D6-4BCA0F0C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EEFA-9E80-275B-EF2E-F5E326D8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Display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C8330-4197-BB59-DA24-6E02E67DB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56"/>
            <a:ext cx="10910777" cy="483763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/>
              <a:t>用於界面顯示和更新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用法見「</a:t>
            </a:r>
            <a:r>
              <a:rPr lang="en-US" altLang="zh-TW" sz="2400" dirty="0">
                <a:solidFill>
                  <a:srgbClr val="FF0000"/>
                </a:solidFill>
              </a:rPr>
              <a:t>display-</a:t>
            </a:r>
            <a:r>
              <a:rPr lang="zh-TW" altLang="en-US" sz="2400" dirty="0">
                <a:solidFill>
                  <a:srgbClr val="FF0000"/>
                </a:solidFill>
              </a:rPr>
              <a:t>創建主窗口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b="1" dirty="0"/>
              <a:t>」</a:t>
            </a:r>
            <a:endParaRPr lang="en-US" altLang="zh-TW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CC5B96-1B8F-B7E3-4FF4-2F70A7E6AC48}"/>
              </a:ext>
            </a:extLst>
          </p:cNvPr>
          <p:cNvSpPr txBox="1"/>
          <p:nvPr/>
        </p:nvSpPr>
        <p:spPr>
          <a:xfrm>
            <a:off x="839967" y="60676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</a:t>
            </a:r>
          </a:p>
          <a:p>
            <a:r>
              <a:rPr lang="en-US" altLang="zh-HK" dirty="0">
                <a:hlinkClick r:id="rId3"/>
              </a:rPr>
              <a:t>https://www.pygame.org/docs/ref/display.html</a:t>
            </a:r>
            <a:endParaRPr lang="en-US" altLang="zh-HK" dirty="0"/>
          </a:p>
          <a:p>
            <a:endParaRPr lang="zh-HK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31A1960-24C0-2903-B18F-CEAFADF05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99601"/>
              </p:ext>
            </p:extLst>
          </p:nvPr>
        </p:nvGraphicFramePr>
        <p:xfrm>
          <a:off x="839966" y="2864533"/>
          <a:ext cx="10748145" cy="2473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40">
                  <a:extLst>
                    <a:ext uri="{9D8B030D-6E8A-4147-A177-3AD203B41FA5}">
                      <a16:colId xmlns:a16="http://schemas.microsoft.com/office/drawing/2014/main" val="2588293857"/>
                    </a:ext>
                  </a:extLst>
                </a:gridCol>
                <a:gridCol w="2366877">
                  <a:extLst>
                    <a:ext uri="{9D8B030D-6E8A-4147-A177-3AD203B41FA5}">
                      <a16:colId xmlns:a16="http://schemas.microsoft.com/office/drawing/2014/main" val="3302551788"/>
                    </a:ext>
                  </a:extLst>
                </a:gridCol>
                <a:gridCol w="1886642">
                  <a:extLst>
                    <a:ext uri="{9D8B030D-6E8A-4147-A177-3AD203B41FA5}">
                      <a16:colId xmlns:a16="http://schemas.microsoft.com/office/drawing/2014/main" val="3566564496"/>
                    </a:ext>
                  </a:extLst>
                </a:gridCol>
                <a:gridCol w="2938586">
                  <a:extLst>
                    <a:ext uri="{9D8B030D-6E8A-4147-A177-3AD203B41FA5}">
                      <a16:colId xmlns:a16="http://schemas.microsoft.com/office/drawing/2014/main" val="2296433823"/>
                    </a:ext>
                  </a:extLst>
                </a:gridCol>
              </a:tblGrid>
              <a:tr h="505855"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函數參數類型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函數返回類型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函數作用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3966"/>
                  </a:ext>
                </a:extLst>
              </a:tr>
              <a:tr h="885246"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highlight>
                            <a:srgbClr val="FFFF00"/>
                          </a:highlight>
                        </a:rPr>
                        <a:t>set_mode</a:t>
                      </a:r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(size=(</a:t>
                      </a:r>
                      <a:r>
                        <a:rPr lang="en-US" altLang="zh-HK" dirty="0" err="1">
                          <a:highlight>
                            <a:srgbClr val="FFFF00"/>
                          </a:highlight>
                        </a:rPr>
                        <a:t>x,y</a:t>
                      </a:r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))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size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(int, int)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Surface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對象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HK" dirty="0">
                          <a:highlight>
                            <a:srgbClr val="FFFF00"/>
                          </a:highlight>
                        </a:rPr>
                        <a:t>初始化視窗或螢幕以供顯示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67552"/>
                  </a:ext>
                </a:extLst>
              </a:tr>
              <a:tr h="505855"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set_caption</a:t>
                      </a:r>
                      <a:r>
                        <a:rPr lang="en-US" altLang="zh-HK" dirty="0"/>
                        <a:t>(title)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 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None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HK" dirty="0"/>
                        <a:t>設定目前視窗標題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279017"/>
                  </a:ext>
                </a:extLst>
              </a:tr>
              <a:tr h="576056"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get_window_size</a:t>
                      </a:r>
                      <a:r>
                        <a:rPr lang="en-US" altLang="zh-HK" dirty="0"/>
                        <a:t>()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HK" dirty="0"/>
                        <a:t>返回視窗或螢幕的大小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66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51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229F-3BDC-BAC8-7D2C-DE6CEE1A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EA99-31EE-90DF-078E-91BE0D81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中的坐標系</a:t>
            </a:r>
            <a:endParaRPr 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DA2E90D-F3DE-381A-974E-DC1E033D8EB6}"/>
              </a:ext>
            </a:extLst>
          </p:cNvPr>
          <p:cNvGrpSpPr/>
          <p:nvPr/>
        </p:nvGrpSpPr>
        <p:grpSpPr>
          <a:xfrm>
            <a:off x="1625146" y="1626413"/>
            <a:ext cx="6661644" cy="5129174"/>
            <a:chOff x="1625146" y="1626413"/>
            <a:chExt cx="6661644" cy="5129174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4233EBF-BBAC-620D-E375-BA50C081DB06}"/>
                </a:ext>
              </a:extLst>
            </p:cNvPr>
            <p:cNvCxnSpPr/>
            <p:nvPr/>
          </p:nvCxnSpPr>
          <p:spPr>
            <a:xfrm>
              <a:off x="2060154" y="2005070"/>
              <a:ext cx="5695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6B948BE-1ABF-D1DF-7BC9-85A901869288}"/>
                </a:ext>
              </a:extLst>
            </p:cNvPr>
            <p:cNvCxnSpPr/>
            <p:nvPr/>
          </p:nvCxnSpPr>
          <p:spPr>
            <a:xfrm>
              <a:off x="2060154" y="2005070"/>
              <a:ext cx="0" cy="4565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29E91E1-704A-6AE8-B8D1-49277BA0F3ED}"/>
                </a:ext>
              </a:extLst>
            </p:cNvPr>
            <p:cNvSpPr/>
            <p:nvPr/>
          </p:nvSpPr>
          <p:spPr>
            <a:xfrm>
              <a:off x="4593265" y="3429000"/>
              <a:ext cx="1137684" cy="17596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E2A8CFF-AF6E-B900-86DD-65556DE2FFB0}"/>
                </a:ext>
              </a:extLst>
            </p:cNvPr>
            <p:cNvCxnSpPr/>
            <p:nvPr/>
          </p:nvCxnSpPr>
          <p:spPr>
            <a:xfrm flipV="1">
              <a:off x="4593265" y="2005070"/>
              <a:ext cx="0" cy="142393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3512967-AC0F-434B-CF04-DB8D1FFE4300}"/>
                </a:ext>
              </a:extLst>
            </p:cNvPr>
            <p:cNvCxnSpPr/>
            <p:nvPr/>
          </p:nvCxnSpPr>
          <p:spPr>
            <a:xfrm flipH="1">
              <a:off x="2060154" y="3429000"/>
              <a:ext cx="25331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7418C368-598E-ED57-1CB4-B4FD56C067B0}"/>
                </a:ext>
              </a:extLst>
            </p:cNvPr>
            <p:cNvCxnSpPr/>
            <p:nvPr/>
          </p:nvCxnSpPr>
          <p:spPr>
            <a:xfrm>
              <a:off x="5954233" y="3418367"/>
              <a:ext cx="0" cy="185538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61D192C4-54AC-7502-BF98-42E9AB217EDA}"/>
                </a:ext>
              </a:extLst>
            </p:cNvPr>
            <p:cNvCxnSpPr/>
            <p:nvPr/>
          </p:nvCxnSpPr>
          <p:spPr>
            <a:xfrm>
              <a:off x="4593265" y="5465135"/>
              <a:ext cx="11376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7F56DE9-564D-8397-C731-B0E5A3EC8C27}"/>
                </a:ext>
              </a:extLst>
            </p:cNvPr>
            <p:cNvSpPr txBox="1"/>
            <p:nvPr/>
          </p:nvSpPr>
          <p:spPr>
            <a:xfrm>
              <a:off x="7755875" y="165867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x</a:t>
              </a:r>
              <a:r>
                <a:rPr lang="zh-TW" altLang="en-US" dirty="0"/>
                <a:t>軸</a:t>
              </a:r>
              <a:endParaRPr lang="zh-HK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17564F9-1DD2-6A5B-8DA2-B29DA2827777}"/>
                </a:ext>
              </a:extLst>
            </p:cNvPr>
            <p:cNvSpPr txBox="1"/>
            <p:nvPr/>
          </p:nvSpPr>
          <p:spPr>
            <a:xfrm>
              <a:off x="2156061" y="6386255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y</a:t>
              </a:r>
              <a:r>
                <a:rPr lang="zh-TW" altLang="en-US" dirty="0"/>
                <a:t>軸</a:t>
              </a:r>
              <a:endParaRPr lang="zh-HK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C7E84AB-CE37-2876-9E01-837CD0A46AAE}"/>
                </a:ext>
              </a:extLst>
            </p:cNvPr>
            <p:cNvSpPr txBox="1"/>
            <p:nvPr/>
          </p:nvSpPr>
          <p:spPr>
            <a:xfrm>
              <a:off x="4841825" y="5465135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width</a:t>
              </a:r>
              <a:endParaRPr lang="zh-HK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A30ADF9-C8CE-16C5-EAEF-54E428D63F09}"/>
                </a:ext>
              </a:extLst>
            </p:cNvPr>
            <p:cNvSpPr txBox="1"/>
            <p:nvPr/>
          </p:nvSpPr>
          <p:spPr>
            <a:xfrm>
              <a:off x="5972310" y="4161391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height</a:t>
              </a:r>
              <a:endParaRPr lang="zh-HK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32E1EE3-E5B4-442D-2B16-25C21740E8F5}"/>
                </a:ext>
              </a:extLst>
            </p:cNvPr>
            <p:cNvSpPr txBox="1"/>
            <p:nvPr/>
          </p:nvSpPr>
          <p:spPr>
            <a:xfrm>
              <a:off x="1625146" y="162641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原點</a:t>
              </a:r>
              <a:endParaRPr lang="zh-HK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ED87CCE0-6AC7-A7E2-564A-D2F56251641E}"/>
                </a:ext>
              </a:extLst>
            </p:cNvPr>
            <p:cNvSpPr txBox="1"/>
            <p:nvPr/>
          </p:nvSpPr>
          <p:spPr>
            <a:xfrm>
              <a:off x="3150908" y="34290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x</a:t>
              </a:r>
              <a:endParaRPr lang="zh-HK" altLang="en-US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8C549C4-279A-CC9D-4582-5B801C7F73AD}"/>
                </a:ext>
              </a:extLst>
            </p:cNvPr>
            <p:cNvSpPr txBox="1"/>
            <p:nvPr/>
          </p:nvSpPr>
          <p:spPr>
            <a:xfrm>
              <a:off x="4640357" y="256677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y</a:t>
              </a:r>
              <a:endParaRPr lang="zh-HK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9898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F384-6BB8-FCC8-E177-732F3456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6A58-D0CA-1076-376A-360C59B2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 err="1"/>
              <a:t>Rect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4FD5D9-72E1-6052-2951-90A083822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56"/>
            <a:ext cx="10910777" cy="483763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/>
              <a:t>用於管理物體位置、尺寸和簡易碰撞檢測的類</a:t>
            </a:r>
            <a:r>
              <a:rPr lang="en-US" altLang="zh-TW" sz="2400" dirty="0"/>
              <a:t> </a:t>
            </a:r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用法見「</a:t>
            </a:r>
            <a:r>
              <a:rPr lang="en-US" altLang="zh-TW" sz="2400" dirty="0" err="1">
                <a:solidFill>
                  <a:srgbClr val="FF0000"/>
                </a:solidFill>
              </a:rPr>
              <a:t>rect</a:t>
            </a:r>
            <a:r>
              <a:rPr lang="en-US" altLang="zh-TW" sz="2400" dirty="0">
                <a:solidFill>
                  <a:srgbClr val="FF0000"/>
                </a:solidFill>
              </a:rPr>
              <a:t>-</a:t>
            </a:r>
            <a:r>
              <a:rPr lang="zh-TW" altLang="en-US" sz="2400" dirty="0">
                <a:solidFill>
                  <a:srgbClr val="FF0000"/>
                </a:solidFill>
              </a:rPr>
              <a:t>坐標系及矩形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b="1" dirty="0"/>
              <a:t>」</a:t>
            </a:r>
            <a:endParaRPr lang="en-US" altLang="zh-TW" sz="2400" b="1" dirty="0"/>
          </a:p>
          <a:p>
            <a:pPr algn="just">
              <a:spcBef>
                <a:spcPts val="1800"/>
              </a:spcBef>
            </a:pPr>
            <a:r>
              <a:rPr lang="en-US" altLang="zh-TW" sz="2400" dirty="0" err="1"/>
              <a:t>Rect</a:t>
            </a:r>
            <a:r>
              <a:rPr lang="zh-TW" altLang="en-US" sz="2400" dirty="0"/>
              <a:t>是一個類</a:t>
            </a:r>
            <a:r>
              <a:rPr lang="en-US" altLang="zh-TW" sz="2400" dirty="0"/>
              <a:t>(class)</a:t>
            </a:r>
            <a:r>
              <a:rPr lang="zh-TW" altLang="en-US" sz="2400" dirty="0"/>
              <a:t>，其初始化方法如下</a:t>
            </a:r>
            <a:endParaRPr lang="en-US" altLang="zh-TW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D8737D-D615-7AEA-4601-960761B30225}"/>
              </a:ext>
            </a:extLst>
          </p:cNvPr>
          <p:cNvSpPr txBox="1"/>
          <p:nvPr/>
        </p:nvSpPr>
        <p:spPr>
          <a:xfrm>
            <a:off x="1010092" y="5934670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 </a:t>
            </a:r>
            <a:r>
              <a:rPr lang="en-US" altLang="zh-HK" dirty="0">
                <a:hlinkClick r:id="rId3"/>
              </a:rPr>
              <a:t>https://www.pygame.org/docs/ref/rect.html</a:t>
            </a:r>
            <a:endParaRPr lang="en-US" altLang="zh-HK" dirty="0"/>
          </a:p>
          <a:p>
            <a:endParaRPr lang="zh-HK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8DB34B7-6140-0E69-8DB4-554F40DED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92" y="3577565"/>
            <a:ext cx="66008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637D-7AEF-54F0-DA48-220B4D49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5302-7CEA-D0ED-E19B-26B18888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 err="1"/>
              <a:t>Rect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5E4AC1-131D-0165-304A-843DEA0DC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395"/>
            <a:ext cx="10910777" cy="483763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dirty="0" err="1"/>
              <a:t>Rect</a:t>
            </a:r>
            <a:r>
              <a:rPr lang="zh-TW" altLang="en-US" sz="2400" dirty="0"/>
              <a:t>對象常用的屬性</a:t>
            </a:r>
            <a:r>
              <a:rPr lang="en-US" altLang="zh-TW" sz="2400" dirty="0"/>
              <a:t>(</a:t>
            </a:r>
            <a:r>
              <a:rPr lang="zh-TW" altLang="en-US" sz="2400" dirty="0"/>
              <a:t>可讀可寫</a:t>
            </a:r>
            <a:r>
              <a:rPr lang="en-US" altLang="zh-TW" sz="2400" dirty="0"/>
              <a:t>)</a:t>
            </a:r>
            <a:r>
              <a:rPr lang="zh-TW" altLang="en-US" sz="2400" dirty="0"/>
              <a:t>有</a:t>
            </a:r>
            <a:r>
              <a:rPr lang="en-US" altLang="zh-TW" sz="2400" dirty="0"/>
              <a:t>:</a:t>
            </a:r>
            <a:endParaRPr lang="en-US" altLang="zh-TW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4F0CB1-98FA-1A18-1A6E-C9CFB5265847}"/>
              </a:ext>
            </a:extLst>
          </p:cNvPr>
          <p:cNvSpPr txBox="1"/>
          <p:nvPr/>
        </p:nvSpPr>
        <p:spPr>
          <a:xfrm>
            <a:off x="1010092" y="6200482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 </a:t>
            </a:r>
            <a:r>
              <a:rPr lang="en-US" altLang="zh-HK" dirty="0">
                <a:hlinkClick r:id="rId3"/>
              </a:rPr>
              <a:t>https://www.pygame.org/docs/ref/rect.html</a:t>
            </a:r>
            <a:endParaRPr lang="en-US" altLang="zh-HK" dirty="0"/>
          </a:p>
          <a:p>
            <a:endParaRPr lang="zh-HK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A14446-9A56-9128-6D34-EE46C01DF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19955"/>
              </p:ext>
            </p:extLst>
          </p:nvPr>
        </p:nvGraphicFramePr>
        <p:xfrm>
          <a:off x="677334" y="1901154"/>
          <a:ext cx="10349306" cy="405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38">
                  <a:extLst>
                    <a:ext uri="{9D8B030D-6E8A-4147-A177-3AD203B41FA5}">
                      <a16:colId xmlns:a16="http://schemas.microsoft.com/office/drawing/2014/main" val="2892390116"/>
                    </a:ext>
                  </a:extLst>
                </a:gridCol>
                <a:gridCol w="3655791">
                  <a:extLst>
                    <a:ext uri="{9D8B030D-6E8A-4147-A177-3AD203B41FA5}">
                      <a16:colId xmlns:a16="http://schemas.microsoft.com/office/drawing/2014/main" val="234374294"/>
                    </a:ext>
                  </a:extLst>
                </a:gridCol>
                <a:gridCol w="1814744">
                  <a:extLst>
                    <a:ext uri="{9D8B030D-6E8A-4147-A177-3AD203B41FA5}">
                      <a16:colId xmlns:a16="http://schemas.microsoft.com/office/drawing/2014/main" val="1286946536"/>
                    </a:ext>
                  </a:extLst>
                </a:gridCol>
                <a:gridCol w="3353333">
                  <a:extLst>
                    <a:ext uri="{9D8B030D-6E8A-4147-A177-3AD203B41FA5}">
                      <a16:colId xmlns:a16="http://schemas.microsoft.com/office/drawing/2014/main" val="148312104"/>
                    </a:ext>
                  </a:extLst>
                </a:gridCol>
              </a:tblGrid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屬性意思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(type)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屬性意思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(type)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3014500009"/>
                  </a:ext>
                </a:extLst>
              </a:tr>
              <a:tr h="437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x/left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矩形左上角的 軸座標值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topleft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矩形左上角坐標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201605862"/>
                  </a:ext>
                </a:extLst>
              </a:tr>
              <a:tr h="437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y/top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矩形左上角的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軸座標值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bottomleft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矩形左下角坐標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258835050"/>
                  </a:ext>
                </a:extLst>
              </a:tr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矩形右側邊界的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軸座標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topright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矩形右上角坐標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011863749"/>
                  </a:ext>
                </a:extLst>
              </a:tr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矩形底部邊界的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軸座標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bottomright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矩形右下角坐標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968987255"/>
                  </a:ext>
                </a:extLst>
              </a:tr>
              <a:tr h="437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width/w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矩形的寬度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midleft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矩形左邊中點座標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487990"/>
                  </a:ext>
                </a:extLst>
              </a:tr>
              <a:tr h="437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height/h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矩形的高度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midbottom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矩形下邊中點座標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3681434969"/>
                  </a:ext>
                </a:extLst>
              </a:tr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矩形中心點的座標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(int, 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midright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矩形右邊中點座標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17008148"/>
                  </a:ext>
                </a:extLst>
              </a:tr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centerx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矩形水準中心點的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軸座標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midtop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矩形上邊中點座標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int,int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2704490058"/>
                  </a:ext>
                </a:extLst>
              </a:tr>
              <a:tr h="362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centery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矩形垂直中心點的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軸座標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矩形的尺寸</a:t>
                      </a: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寬度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zh-TW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，高度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int)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4683" marR="94683" marT="47341" marB="47341"/>
                </a:tc>
                <a:extLst>
                  <a:ext uri="{0D108BD9-81ED-4DB2-BD59-A6C34878D82A}">
                    <a16:rowId xmlns:a16="http://schemas.microsoft.com/office/drawing/2014/main" val="270950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06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86B58-A9C9-D06D-EDB3-42832C62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05B4-3827-8DBA-6AA8-8545BDE2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image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025AAD-4D52-1547-7721-9965734C5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56"/>
            <a:ext cx="10910777" cy="1146321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dirty="0"/>
              <a:t>image</a:t>
            </a:r>
            <a:r>
              <a:rPr lang="zh-TW" altLang="en-US" sz="2400" dirty="0"/>
              <a:t>模塊則用於</a:t>
            </a:r>
            <a:r>
              <a:rPr lang="zh-TW" altLang="en-US" sz="2400" dirty="0">
                <a:solidFill>
                  <a:schemeClr val="tx1"/>
                </a:solidFill>
              </a:rPr>
              <a:t>加載圖像，一般使用到</a:t>
            </a:r>
            <a:r>
              <a:rPr lang="en-US" altLang="zh-TW" sz="2400" dirty="0">
                <a:solidFill>
                  <a:srgbClr val="FF0000"/>
                </a:solidFill>
              </a:rPr>
              <a:t>load()</a:t>
            </a:r>
            <a:r>
              <a:rPr lang="zh-TW" altLang="en-US" sz="2400" dirty="0">
                <a:solidFill>
                  <a:schemeClr val="tx1"/>
                </a:solidFill>
              </a:rPr>
              <a:t>這個功能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用法見「</a:t>
            </a:r>
            <a:r>
              <a:rPr lang="en-US" altLang="zh-TW" sz="2400" dirty="0">
                <a:solidFill>
                  <a:srgbClr val="FF0000"/>
                </a:solidFill>
              </a:rPr>
              <a:t>image-</a:t>
            </a:r>
            <a:r>
              <a:rPr lang="zh-TW" altLang="en-US" sz="2400" dirty="0">
                <a:solidFill>
                  <a:srgbClr val="FF0000"/>
                </a:solidFill>
              </a:rPr>
              <a:t>圖像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b="1" dirty="0"/>
              <a:t>」</a:t>
            </a:r>
            <a:endParaRPr lang="en-US" altLang="zh-TW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B343B8-3EB9-0D34-0982-7C0998D9E0B5}"/>
              </a:ext>
            </a:extLst>
          </p:cNvPr>
          <p:cNvSpPr txBox="1"/>
          <p:nvPr/>
        </p:nvSpPr>
        <p:spPr>
          <a:xfrm>
            <a:off x="839967" y="60676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</a:t>
            </a:r>
          </a:p>
          <a:p>
            <a:r>
              <a:rPr lang="en-US" altLang="zh-HK" dirty="0">
                <a:hlinkClick r:id="rId3"/>
              </a:rPr>
              <a:t>https://www.pygame.org/docs/ref/image.html</a:t>
            </a:r>
            <a:endParaRPr lang="en-US" altLang="zh-HK" dirty="0"/>
          </a:p>
          <a:p>
            <a:endParaRPr lang="en-US" altLang="zh-HK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80C7724-6E9B-CDBE-01F9-A3FC43B05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19273"/>
              </p:ext>
            </p:extLst>
          </p:nvPr>
        </p:nvGraphicFramePr>
        <p:xfrm>
          <a:off x="839967" y="2666777"/>
          <a:ext cx="999460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652">
                  <a:extLst>
                    <a:ext uri="{9D8B030D-6E8A-4147-A177-3AD203B41FA5}">
                      <a16:colId xmlns:a16="http://schemas.microsoft.com/office/drawing/2014/main" val="2588293857"/>
                    </a:ext>
                  </a:extLst>
                </a:gridCol>
                <a:gridCol w="2488018">
                  <a:extLst>
                    <a:ext uri="{9D8B030D-6E8A-4147-A177-3AD203B41FA5}">
                      <a16:colId xmlns:a16="http://schemas.microsoft.com/office/drawing/2014/main" val="3302551788"/>
                    </a:ext>
                  </a:extLst>
                </a:gridCol>
                <a:gridCol w="1754372">
                  <a:extLst>
                    <a:ext uri="{9D8B030D-6E8A-4147-A177-3AD203B41FA5}">
                      <a16:colId xmlns:a16="http://schemas.microsoft.com/office/drawing/2014/main" val="3566564496"/>
                    </a:ext>
                  </a:extLst>
                </a:gridCol>
                <a:gridCol w="2732566">
                  <a:extLst>
                    <a:ext uri="{9D8B030D-6E8A-4147-A177-3AD203B41FA5}">
                      <a16:colId xmlns:a16="http://schemas.microsoft.com/office/drawing/2014/main" val="2296433823"/>
                    </a:ext>
                  </a:extLst>
                </a:gridCol>
              </a:tblGrid>
              <a:tr h="340836"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函數參數類型</a:t>
                      </a:r>
                      <a:endParaRPr lang="zh-HK" altLang="en-US" dirty="0"/>
                    </a:p>
                  </a:txBody>
                  <a:tcPr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函數返回類型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函數作用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3966"/>
                  </a:ext>
                </a:extLst>
              </a:tr>
              <a:tr h="596463"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load(filename)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filename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str(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路徑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>
                          <a:highlight>
                            <a:srgbClr val="FFFF00"/>
                          </a:highlight>
                        </a:rPr>
                        <a:t>Surface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對象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加載圖像並返回對應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Surface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對象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35620"/>
                  </a:ext>
                </a:extLst>
              </a:tr>
              <a:tr h="596463">
                <a:tc>
                  <a:txBody>
                    <a:bodyPr/>
                    <a:lstStyle/>
                    <a:p>
                      <a:r>
                        <a:rPr lang="en-US" altLang="zh-HK" dirty="0"/>
                        <a:t>save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(surface, filename)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surface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Surface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對象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zh-HK" altLang="en-US" dirty="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None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把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對象進行保存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67552"/>
                  </a:ext>
                </a:extLst>
              </a:tr>
            </a:tbl>
          </a:graphicData>
        </a:graphic>
      </p:graphicFrame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D37FFE-D4EA-169A-AABD-1F7391839598}"/>
              </a:ext>
            </a:extLst>
          </p:cNvPr>
          <p:cNvSpPr txBox="1">
            <a:spLocks/>
          </p:cNvSpPr>
          <p:nvPr/>
        </p:nvSpPr>
        <p:spPr>
          <a:xfrm>
            <a:off x="839967" y="4447566"/>
            <a:ext cx="9994608" cy="1146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/>
              <a:t>load()</a:t>
            </a:r>
            <a:r>
              <a:rPr lang="zh-TW" altLang="en-US" sz="2400" dirty="0"/>
              <a:t>中支持加載</a:t>
            </a:r>
            <a:r>
              <a:rPr lang="en-US" altLang="zh-TW" sz="2400" dirty="0"/>
              <a:t>BMP</a:t>
            </a:r>
            <a:r>
              <a:rPr lang="zh-TW" altLang="en-US" sz="2400" dirty="0"/>
              <a:t>、</a:t>
            </a:r>
            <a:r>
              <a:rPr lang="en-US" altLang="zh-TW" sz="2400" dirty="0"/>
              <a:t>GIF</a:t>
            </a:r>
            <a:r>
              <a:rPr lang="zh-TW" altLang="en-US" sz="2400" dirty="0"/>
              <a:t>、</a:t>
            </a:r>
            <a:r>
              <a:rPr lang="en-US" altLang="zh-TW" sz="2400" dirty="0"/>
              <a:t>JPEG</a:t>
            </a:r>
            <a:r>
              <a:rPr lang="zh-TW" altLang="en-US" sz="2400" dirty="0"/>
              <a:t>、</a:t>
            </a:r>
            <a:r>
              <a:rPr lang="en-US" altLang="zh-TW" sz="2400" dirty="0"/>
              <a:t>LBM</a:t>
            </a:r>
            <a:r>
              <a:rPr lang="zh-TW" altLang="en-US" sz="2400" dirty="0"/>
              <a:t>、</a:t>
            </a:r>
            <a:r>
              <a:rPr lang="en-US" altLang="zh-TW" sz="2400" dirty="0"/>
              <a:t>PCX</a:t>
            </a:r>
            <a:r>
              <a:rPr lang="zh-TW" altLang="en-US" sz="2400" dirty="0"/>
              <a:t>、</a:t>
            </a:r>
            <a:r>
              <a:rPr lang="en-US" altLang="zh-TW" sz="2400" dirty="0"/>
              <a:t>PNG</a:t>
            </a:r>
            <a:r>
              <a:rPr lang="zh-TW" altLang="en-US" sz="2400" dirty="0"/>
              <a:t>、</a:t>
            </a:r>
            <a:r>
              <a:rPr lang="en-US" altLang="zh-TW" sz="2400" dirty="0"/>
              <a:t>PNM</a:t>
            </a:r>
            <a:r>
              <a:rPr lang="zh-TW" altLang="en-US" sz="2400" dirty="0"/>
              <a:t>、</a:t>
            </a:r>
            <a:r>
              <a:rPr lang="en-US" altLang="zh-TW" sz="2400" dirty="0"/>
              <a:t>SVG</a:t>
            </a:r>
            <a:r>
              <a:rPr lang="zh-TW" altLang="en-US" sz="2400" dirty="0"/>
              <a:t>、</a:t>
            </a:r>
            <a:r>
              <a:rPr lang="en-US" altLang="zh-TW" sz="2400" dirty="0"/>
              <a:t>TGA</a:t>
            </a:r>
            <a:r>
              <a:rPr lang="zh-TW" altLang="en-US" sz="2400" dirty="0"/>
              <a:t>、</a:t>
            </a:r>
            <a:r>
              <a:rPr lang="en-US" altLang="zh-TW" sz="2400" dirty="0"/>
              <a:t>TIFF</a:t>
            </a:r>
            <a:r>
              <a:rPr lang="zh-TW" altLang="en-US" sz="2400" dirty="0"/>
              <a:t>、</a:t>
            </a:r>
            <a:r>
              <a:rPr lang="en-US" altLang="zh-TW" sz="2400" dirty="0"/>
              <a:t>WEBP</a:t>
            </a:r>
            <a:r>
              <a:rPr lang="zh-TW" altLang="en-US" sz="2400" dirty="0"/>
              <a:t>、</a:t>
            </a:r>
            <a:r>
              <a:rPr lang="en-US" altLang="zh-TW" sz="2400" dirty="0"/>
              <a:t>XPM</a:t>
            </a:r>
            <a:r>
              <a:rPr lang="zh-TW" altLang="en-US" sz="2400" dirty="0"/>
              <a:t>等圖像格式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32166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1E74-294C-1FA4-2D12-40A276257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0B8C-EBD4-A419-82F8-AB2481F2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zh-TW" altLang="en-US" dirty="0"/>
              <a:t>簡單總結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916459-264C-02E2-AE20-A98D3707F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0961"/>
            <a:ext cx="10910777" cy="2402958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b="1" dirty="0"/>
              <a:t>display</a:t>
            </a:r>
            <a:r>
              <a:rPr lang="zh-TW" altLang="en-US" sz="2400" b="1" dirty="0"/>
              <a:t>負責窗口顯示和刷新</a:t>
            </a:r>
            <a:endParaRPr lang="en-US" altLang="zh-TW" sz="2400" b="1" dirty="0"/>
          </a:p>
          <a:p>
            <a:pPr algn="just">
              <a:spcBef>
                <a:spcPts val="1800"/>
              </a:spcBef>
            </a:pPr>
            <a:r>
              <a:rPr lang="zh-TW" altLang="en-US" sz="2400" b="1" dirty="0"/>
              <a:t>定義物體坐標</a:t>
            </a:r>
            <a:r>
              <a:rPr lang="en-US" altLang="zh-TW" sz="2400" b="1" dirty="0"/>
              <a:t>(</a:t>
            </a:r>
            <a:r>
              <a:rPr lang="zh-TW" altLang="en-US" sz="2400" b="1" dirty="0"/>
              <a:t>位置</a:t>
            </a:r>
            <a:r>
              <a:rPr lang="en-US" altLang="zh-TW" sz="2400" b="1" dirty="0"/>
              <a:t>)--&gt;</a:t>
            </a:r>
            <a:r>
              <a:rPr lang="en-US" altLang="zh-TW" sz="2400" b="1" dirty="0" err="1"/>
              <a:t>rect</a:t>
            </a:r>
            <a:r>
              <a:rPr lang="zh-TW" altLang="en-US" sz="2400" b="1" dirty="0"/>
              <a:t>中坐標系相關概念</a:t>
            </a:r>
            <a:endParaRPr lang="en-US" altLang="zh-TW" sz="2400" b="1" dirty="0"/>
          </a:p>
          <a:p>
            <a:pPr algn="just">
              <a:spcBef>
                <a:spcPts val="1800"/>
              </a:spcBef>
            </a:pPr>
            <a:r>
              <a:rPr lang="zh-TW" altLang="en-US" sz="2400" b="1" dirty="0"/>
              <a:t>加載圖像</a:t>
            </a:r>
            <a:r>
              <a:rPr lang="en-US" altLang="zh-TW" sz="2400" b="1" dirty="0"/>
              <a:t>-&gt;image</a:t>
            </a:r>
            <a:r>
              <a:rPr lang="zh-TW" altLang="en-US" sz="2400" b="1" dirty="0"/>
              <a:t>模組</a:t>
            </a:r>
            <a:endParaRPr lang="en-US" altLang="zh-TW" sz="2400" b="1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D477245-233A-3BBB-F18A-91283A03EF82}"/>
              </a:ext>
            </a:extLst>
          </p:cNvPr>
          <p:cNvGrpSpPr/>
          <p:nvPr/>
        </p:nvGrpSpPr>
        <p:grpSpPr>
          <a:xfrm>
            <a:off x="3469988" y="3598582"/>
            <a:ext cx="2868609" cy="2637519"/>
            <a:chOff x="1509728" y="1289346"/>
            <a:chExt cx="6777062" cy="5466241"/>
          </a:xfrm>
        </p:grpSpPr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6325E0B4-93A3-F37B-7EDC-82E23BF524DB}"/>
                </a:ext>
              </a:extLst>
            </p:cNvPr>
            <p:cNvCxnSpPr/>
            <p:nvPr/>
          </p:nvCxnSpPr>
          <p:spPr>
            <a:xfrm>
              <a:off x="2060154" y="2005070"/>
              <a:ext cx="5695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04D2385D-DDBC-129C-37E0-F53D81437D22}"/>
                </a:ext>
              </a:extLst>
            </p:cNvPr>
            <p:cNvCxnSpPr/>
            <p:nvPr/>
          </p:nvCxnSpPr>
          <p:spPr>
            <a:xfrm>
              <a:off x="2060154" y="2005070"/>
              <a:ext cx="0" cy="4565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51CFD2-EA21-9D14-521D-7CC07DC39AB6}"/>
                </a:ext>
              </a:extLst>
            </p:cNvPr>
            <p:cNvSpPr/>
            <p:nvPr/>
          </p:nvSpPr>
          <p:spPr>
            <a:xfrm>
              <a:off x="4593265" y="3429000"/>
              <a:ext cx="1137684" cy="17596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4CF68D44-B483-88A9-3533-0BA5F8395124}"/>
                </a:ext>
              </a:extLst>
            </p:cNvPr>
            <p:cNvCxnSpPr/>
            <p:nvPr/>
          </p:nvCxnSpPr>
          <p:spPr>
            <a:xfrm flipV="1">
              <a:off x="4593265" y="2005070"/>
              <a:ext cx="0" cy="142393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D4425D0C-9D0C-3F29-260C-90D73A000C1B}"/>
                </a:ext>
              </a:extLst>
            </p:cNvPr>
            <p:cNvCxnSpPr/>
            <p:nvPr/>
          </p:nvCxnSpPr>
          <p:spPr>
            <a:xfrm flipH="1">
              <a:off x="2060154" y="3429000"/>
              <a:ext cx="253311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3A3F5383-3E35-B311-94D7-D519A042E102}"/>
                </a:ext>
              </a:extLst>
            </p:cNvPr>
            <p:cNvCxnSpPr/>
            <p:nvPr/>
          </p:nvCxnSpPr>
          <p:spPr>
            <a:xfrm>
              <a:off x="5954233" y="3418367"/>
              <a:ext cx="0" cy="185538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7A10F288-A524-1B67-5AA7-2B7AA2E80B1E}"/>
                </a:ext>
              </a:extLst>
            </p:cNvPr>
            <p:cNvCxnSpPr/>
            <p:nvPr/>
          </p:nvCxnSpPr>
          <p:spPr>
            <a:xfrm>
              <a:off x="4593265" y="5465135"/>
              <a:ext cx="11376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64EEDB5C-B063-88C1-9621-6613872AE175}"/>
                </a:ext>
              </a:extLst>
            </p:cNvPr>
            <p:cNvSpPr txBox="1"/>
            <p:nvPr/>
          </p:nvSpPr>
          <p:spPr>
            <a:xfrm>
              <a:off x="7755875" y="165867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x</a:t>
              </a:r>
              <a:r>
                <a:rPr lang="zh-TW" altLang="en-US" dirty="0"/>
                <a:t>軸</a:t>
              </a:r>
              <a:endParaRPr lang="zh-HK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49BAC2C-CD97-650F-D382-35E535226933}"/>
                </a:ext>
              </a:extLst>
            </p:cNvPr>
            <p:cNvSpPr txBox="1"/>
            <p:nvPr/>
          </p:nvSpPr>
          <p:spPr>
            <a:xfrm>
              <a:off x="2156061" y="6386255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y</a:t>
              </a:r>
              <a:r>
                <a:rPr lang="zh-TW" altLang="en-US" dirty="0"/>
                <a:t>軸</a:t>
              </a:r>
              <a:endParaRPr lang="zh-HK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BE02664-00D8-A60E-E8CF-F05808AB6B1A}"/>
                </a:ext>
              </a:extLst>
            </p:cNvPr>
            <p:cNvSpPr txBox="1"/>
            <p:nvPr/>
          </p:nvSpPr>
          <p:spPr>
            <a:xfrm>
              <a:off x="4841825" y="5465135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width</a:t>
              </a:r>
              <a:endParaRPr lang="zh-HK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897AEAC-E223-BBE2-E900-3CB5A60450FC}"/>
                </a:ext>
              </a:extLst>
            </p:cNvPr>
            <p:cNvSpPr txBox="1"/>
            <p:nvPr/>
          </p:nvSpPr>
          <p:spPr>
            <a:xfrm>
              <a:off x="5972310" y="4161391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height</a:t>
              </a:r>
              <a:endParaRPr lang="zh-HK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1609A0D7-9E12-A9B7-7515-155053211D47}"/>
                </a:ext>
              </a:extLst>
            </p:cNvPr>
            <p:cNvSpPr txBox="1"/>
            <p:nvPr/>
          </p:nvSpPr>
          <p:spPr>
            <a:xfrm>
              <a:off x="1509728" y="1289346"/>
              <a:ext cx="646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原點</a:t>
              </a:r>
              <a:endParaRPr lang="zh-HK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5E1F8168-B648-F3B9-2AC7-D7B21AACB097}"/>
                </a:ext>
              </a:extLst>
            </p:cNvPr>
            <p:cNvSpPr txBox="1"/>
            <p:nvPr/>
          </p:nvSpPr>
          <p:spPr>
            <a:xfrm>
              <a:off x="3150908" y="34290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x</a:t>
              </a:r>
              <a:endParaRPr lang="zh-HK" altLang="en-US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BFF6818B-4A32-07ED-F23D-DED86CE0D6C3}"/>
                </a:ext>
              </a:extLst>
            </p:cNvPr>
            <p:cNvSpPr txBox="1"/>
            <p:nvPr/>
          </p:nvSpPr>
          <p:spPr>
            <a:xfrm>
              <a:off x="4640357" y="256677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dirty="0"/>
                <a:t>y</a:t>
              </a:r>
              <a:endParaRPr lang="zh-HK" altLang="en-US" dirty="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7A7BA07-3163-1A3B-0BE3-7E7A1152244D}"/>
              </a:ext>
            </a:extLst>
          </p:cNvPr>
          <p:cNvGrpSpPr/>
          <p:nvPr/>
        </p:nvGrpSpPr>
        <p:grpSpPr>
          <a:xfrm>
            <a:off x="511813" y="4083538"/>
            <a:ext cx="2249195" cy="2243470"/>
            <a:chOff x="5941038" y="1470275"/>
            <a:chExt cx="5695717" cy="4565851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85C493D-F3A2-F5DB-A374-C1A53AF7C827}"/>
                </a:ext>
              </a:extLst>
            </p:cNvPr>
            <p:cNvSpPr/>
            <p:nvPr/>
          </p:nvSpPr>
          <p:spPr>
            <a:xfrm>
              <a:off x="5941038" y="1470275"/>
              <a:ext cx="5695717" cy="3553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3814BB6-1235-D2C7-40E5-99A8123E4703}"/>
                </a:ext>
              </a:extLst>
            </p:cNvPr>
            <p:cNvSpPr/>
            <p:nvPr/>
          </p:nvSpPr>
          <p:spPr>
            <a:xfrm>
              <a:off x="5941038" y="1825624"/>
              <a:ext cx="5695713" cy="42105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B24C5F08-C77C-EA4B-D3BD-7109D5661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710" y="4800147"/>
            <a:ext cx="587449" cy="414670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3BCA2B6B-50DE-F86C-0C03-F4A8983EE2FE}"/>
              </a:ext>
            </a:extLst>
          </p:cNvPr>
          <p:cNvSpPr/>
          <p:nvPr/>
        </p:nvSpPr>
        <p:spPr>
          <a:xfrm>
            <a:off x="153218" y="3147228"/>
            <a:ext cx="11936001" cy="3429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8" name="加號 27">
            <a:extLst>
              <a:ext uri="{FF2B5EF4-FFF2-40B4-BE49-F238E27FC236}">
                <a16:creationId xmlns:a16="http://schemas.microsoft.com/office/drawing/2014/main" id="{D53951F8-31AA-7033-9C14-5DC0F156BEBF}"/>
              </a:ext>
            </a:extLst>
          </p:cNvPr>
          <p:cNvSpPr/>
          <p:nvPr/>
        </p:nvSpPr>
        <p:spPr>
          <a:xfrm>
            <a:off x="2970620" y="4724482"/>
            <a:ext cx="614532" cy="614532"/>
          </a:xfrm>
          <a:prstGeom prst="mathPlus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0" name="加號 29">
            <a:extLst>
              <a:ext uri="{FF2B5EF4-FFF2-40B4-BE49-F238E27FC236}">
                <a16:creationId xmlns:a16="http://schemas.microsoft.com/office/drawing/2014/main" id="{BFC95FDC-5209-AD07-D778-53CCCDDFD840}"/>
              </a:ext>
            </a:extLst>
          </p:cNvPr>
          <p:cNvSpPr/>
          <p:nvPr/>
        </p:nvSpPr>
        <p:spPr>
          <a:xfrm>
            <a:off x="6533468" y="4757111"/>
            <a:ext cx="614532" cy="614532"/>
          </a:xfrm>
          <a:prstGeom prst="mathPlus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BDF968DA-6612-A594-988A-415D5076964B}"/>
              </a:ext>
            </a:extLst>
          </p:cNvPr>
          <p:cNvCxnSpPr>
            <a:cxnSpLocks/>
          </p:cNvCxnSpPr>
          <p:nvPr/>
        </p:nvCxnSpPr>
        <p:spPr>
          <a:xfrm>
            <a:off x="7995684" y="5007482"/>
            <a:ext cx="1127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7D5F555A-8B02-BE71-06D8-8B59731139A5}"/>
              </a:ext>
            </a:extLst>
          </p:cNvPr>
          <p:cNvGrpSpPr/>
          <p:nvPr/>
        </p:nvGrpSpPr>
        <p:grpSpPr>
          <a:xfrm>
            <a:off x="9197232" y="3853764"/>
            <a:ext cx="2789706" cy="2236309"/>
            <a:chOff x="1283978" y="1682549"/>
            <a:chExt cx="5695717" cy="4565851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F2D4022-909F-4816-D39E-DC86FA069FF3}"/>
                </a:ext>
              </a:extLst>
            </p:cNvPr>
            <p:cNvSpPr/>
            <p:nvPr/>
          </p:nvSpPr>
          <p:spPr>
            <a:xfrm>
              <a:off x="1283978" y="1682549"/>
              <a:ext cx="5695717" cy="3553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393743D-A090-378B-38E1-0E158710571B}"/>
                </a:ext>
              </a:extLst>
            </p:cNvPr>
            <p:cNvSpPr/>
            <p:nvPr/>
          </p:nvSpPr>
          <p:spPr>
            <a:xfrm>
              <a:off x="1283978" y="2037898"/>
              <a:ext cx="5695713" cy="42105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2CA930DF-D1D8-5C13-F6DE-4B4F2445C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2065" y="3755898"/>
              <a:ext cx="587449" cy="414670"/>
            </a:xfrm>
            <a:prstGeom prst="rect">
              <a:avLst/>
            </a:prstGeom>
          </p:spPr>
        </p:pic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D0F7047-E91C-AA72-D86E-AA04255AE32E}"/>
              </a:ext>
            </a:extLst>
          </p:cNvPr>
          <p:cNvSpPr txBox="1"/>
          <p:nvPr/>
        </p:nvSpPr>
        <p:spPr>
          <a:xfrm>
            <a:off x="8125011" y="460148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surface</a:t>
            </a:r>
            <a:endParaRPr lang="zh-HK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4E972A2-A9A3-E98E-369C-D98122C84D5F}"/>
              </a:ext>
            </a:extLst>
          </p:cNvPr>
          <p:cNvSpPr txBox="1"/>
          <p:nvPr/>
        </p:nvSpPr>
        <p:spPr>
          <a:xfrm>
            <a:off x="8153666" y="5007482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err="1"/>
              <a:t>blit</a:t>
            </a:r>
            <a:r>
              <a:rPr lang="en-US" altLang="zh-HK" dirty="0"/>
              <a:t>()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9523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132B-9A84-EE8C-4AF5-A2F1B633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630E-B5D0-6EBD-D9A2-592F4995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Surface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966AF7-AAE6-31AB-A2D0-13CA0C9B5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56"/>
            <a:ext cx="10910777" cy="419986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dirty="0"/>
              <a:t>Surface</a:t>
            </a:r>
            <a:r>
              <a:rPr lang="zh-TW" altLang="en-US" sz="2400" dirty="0"/>
              <a:t>模塊是</a:t>
            </a:r>
            <a:r>
              <a:rPr lang="en-US" altLang="zh-TW" sz="2400" dirty="0" err="1"/>
              <a:t>pygame</a:t>
            </a:r>
            <a:r>
              <a:rPr lang="zh-TW" altLang="en-US" sz="2400" dirty="0"/>
              <a:t>中表示圖像的基礎單位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它就像是一塊畫布，可以粘貼到其他畫布身上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display</a:t>
            </a:r>
            <a:r>
              <a:rPr lang="zh-TW" altLang="en-US" sz="2400" dirty="0">
                <a:solidFill>
                  <a:schemeClr val="tx1"/>
                </a:solidFill>
              </a:rPr>
              <a:t>模塊中的通過</a:t>
            </a:r>
            <a:r>
              <a:rPr lang="en-US" altLang="zh-TW" sz="2400" dirty="0" err="1">
                <a:solidFill>
                  <a:schemeClr val="tx1"/>
                </a:solidFill>
              </a:rPr>
              <a:t>set_mode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生成的是「頂層畫布」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而通過其他方法如</a:t>
            </a:r>
            <a:r>
              <a:rPr lang="en-US" altLang="zh-TW" sz="2400" dirty="0" err="1">
                <a:solidFill>
                  <a:schemeClr val="tx1"/>
                </a:solidFill>
              </a:rPr>
              <a:t>image.load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的方式生成的是「普通畫布」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altLang="zh-TW" sz="2400" dirty="0" err="1">
                <a:solidFill>
                  <a:srgbClr val="FF0000"/>
                </a:solidFill>
              </a:rPr>
              <a:t>blit</a:t>
            </a:r>
            <a:r>
              <a:rPr lang="en-US" altLang="zh-TW" sz="2400" dirty="0">
                <a:solidFill>
                  <a:srgbClr val="FF0000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方法可以把畫布</a:t>
            </a:r>
            <a:r>
              <a:rPr lang="en-US" altLang="zh-TW" sz="2400" dirty="0">
                <a:solidFill>
                  <a:schemeClr val="tx1"/>
                </a:solidFill>
              </a:rPr>
              <a:t>A</a:t>
            </a:r>
            <a:r>
              <a:rPr lang="zh-TW" altLang="en-US" sz="2400" dirty="0">
                <a:solidFill>
                  <a:schemeClr val="tx1"/>
                </a:solidFill>
              </a:rPr>
              <a:t>粘在畫布</a:t>
            </a:r>
            <a:r>
              <a:rPr lang="en-US" altLang="zh-TW" sz="2400" dirty="0">
                <a:solidFill>
                  <a:schemeClr val="tx1"/>
                </a:solidFill>
              </a:rPr>
              <a:t>B</a:t>
            </a:r>
            <a:r>
              <a:rPr lang="zh-TW" altLang="en-US" sz="2400" dirty="0">
                <a:solidFill>
                  <a:schemeClr val="tx1"/>
                </a:solidFill>
              </a:rPr>
              <a:t>上。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7E665D9-18B6-CE4A-2BC1-904D125D6026}"/>
              </a:ext>
            </a:extLst>
          </p:cNvPr>
          <p:cNvSpPr txBox="1"/>
          <p:nvPr/>
        </p:nvSpPr>
        <p:spPr>
          <a:xfrm>
            <a:off x="839967" y="60676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</a:t>
            </a:r>
          </a:p>
          <a:p>
            <a:r>
              <a:rPr lang="en-US" altLang="zh-HK" dirty="0">
                <a:hlinkClick r:id="rId3"/>
              </a:rPr>
              <a:t>https://www.pygame.org/docs/ref/surface.html</a:t>
            </a:r>
            <a:endParaRPr lang="en-US" altLang="zh-HK" dirty="0"/>
          </a:p>
          <a:p>
            <a:endParaRPr lang="en-US" altLang="zh-HK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2623BD5F-3265-B2F1-A7FC-3C4A4D52C1F4}"/>
              </a:ext>
            </a:extLst>
          </p:cNvPr>
          <p:cNvGrpSpPr/>
          <p:nvPr/>
        </p:nvGrpSpPr>
        <p:grpSpPr>
          <a:xfrm>
            <a:off x="7910629" y="3866705"/>
            <a:ext cx="3498111" cy="2941677"/>
            <a:chOff x="6358270" y="3817088"/>
            <a:chExt cx="3498111" cy="294167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56796EF-349D-7438-FE38-041C7C455DD5}"/>
                </a:ext>
              </a:extLst>
            </p:cNvPr>
            <p:cNvSpPr/>
            <p:nvPr/>
          </p:nvSpPr>
          <p:spPr>
            <a:xfrm>
              <a:off x="6358270" y="3817088"/>
              <a:ext cx="3498111" cy="2934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F537D83-1327-BB46-9D6B-23C57084D52D}"/>
                </a:ext>
              </a:extLst>
            </p:cNvPr>
            <p:cNvSpPr/>
            <p:nvPr/>
          </p:nvSpPr>
          <p:spPr>
            <a:xfrm>
              <a:off x="7262038" y="3817088"/>
              <a:ext cx="584791" cy="64858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99BE7E-1020-1F6A-5039-6E54B2A22688}"/>
                </a:ext>
              </a:extLst>
            </p:cNvPr>
            <p:cNvSpPr/>
            <p:nvPr/>
          </p:nvSpPr>
          <p:spPr>
            <a:xfrm>
              <a:off x="8562754" y="6110179"/>
              <a:ext cx="584791" cy="64858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2EC21D9-336C-DF5E-54EB-F6A207DF3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0233" y="5217963"/>
              <a:ext cx="587449" cy="414670"/>
            </a:xfrm>
            <a:prstGeom prst="rect">
              <a:avLst/>
            </a:prstGeom>
          </p:spPr>
        </p:pic>
      </p:grp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41FE4DB-BC4D-F902-CE49-555110D838C7}"/>
              </a:ext>
            </a:extLst>
          </p:cNvPr>
          <p:cNvCxnSpPr/>
          <p:nvPr/>
        </p:nvCxnSpPr>
        <p:spPr>
          <a:xfrm flipV="1">
            <a:off x="9122735" y="2966484"/>
            <a:ext cx="1350335" cy="1244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C7BF6F-C12F-853F-1AA3-654B95F81121}"/>
              </a:ext>
            </a:extLst>
          </p:cNvPr>
          <p:cNvSpPr txBox="1"/>
          <p:nvPr/>
        </p:nvSpPr>
        <p:spPr>
          <a:xfrm>
            <a:off x="10461746" y="2724746"/>
            <a:ext cx="113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surface1</a:t>
            </a:r>
            <a:endParaRPr lang="zh-HK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61913CC-79C6-FD89-AAB2-4DD978B663FC}"/>
              </a:ext>
            </a:extLst>
          </p:cNvPr>
          <p:cNvCxnSpPr>
            <a:cxnSpLocks/>
          </p:cNvCxnSpPr>
          <p:nvPr/>
        </p:nvCxnSpPr>
        <p:spPr>
          <a:xfrm flipH="1">
            <a:off x="9505507" y="6531566"/>
            <a:ext cx="9142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F9CEF81-3CB6-D589-562D-BD5FC6BC8997}"/>
              </a:ext>
            </a:extLst>
          </p:cNvPr>
          <p:cNvSpPr txBox="1"/>
          <p:nvPr/>
        </p:nvSpPr>
        <p:spPr>
          <a:xfrm>
            <a:off x="8444027" y="6299423"/>
            <a:ext cx="113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surface2</a:t>
            </a:r>
            <a:endParaRPr lang="zh-HK" alt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64CB0B4-B715-9470-4A48-1FF11EAF2396}"/>
              </a:ext>
            </a:extLst>
          </p:cNvPr>
          <p:cNvCxnSpPr>
            <a:cxnSpLocks/>
          </p:cNvCxnSpPr>
          <p:nvPr/>
        </p:nvCxnSpPr>
        <p:spPr>
          <a:xfrm flipH="1">
            <a:off x="7453513" y="5474915"/>
            <a:ext cx="9142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A43A03F-15E3-5D8C-DB04-BA04AF3EFC57}"/>
              </a:ext>
            </a:extLst>
          </p:cNvPr>
          <p:cNvSpPr txBox="1"/>
          <p:nvPr/>
        </p:nvSpPr>
        <p:spPr>
          <a:xfrm>
            <a:off x="6681958" y="5105583"/>
            <a:ext cx="113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surface3</a:t>
            </a:r>
            <a:endParaRPr lang="zh-HK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7B924F1-F14B-02F5-4926-47F5C48BF1A3}"/>
              </a:ext>
            </a:extLst>
          </p:cNvPr>
          <p:cNvCxnSpPr>
            <a:cxnSpLocks/>
          </p:cNvCxnSpPr>
          <p:nvPr/>
        </p:nvCxnSpPr>
        <p:spPr>
          <a:xfrm flipV="1">
            <a:off x="10983365" y="3620386"/>
            <a:ext cx="218043" cy="4182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A3D1C1F-3394-66CE-C19F-8E11F4FA46B3}"/>
              </a:ext>
            </a:extLst>
          </p:cNvPr>
          <p:cNvSpPr txBox="1"/>
          <p:nvPr/>
        </p:nvSpPr>
        <p:spPr>
          <a:xfrm>
            <a:off x="10611295" y="3265233"/>
            <a:ext cx="161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main surface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82968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5103-B130-D5C1-8E5F-55650529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3C06-2DE7-A1CD-3C7A-F792633B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Surface</a:t>
            </a:r>
            <a:r>
              <a:rPr lang="zh-TW" altLang="en-US" dirty="0"/>
              <a:t>模塊 </a:t>
            </a:r>
            <a:r>
              <a:rPr lang="en-US" altLang="zh-TW" dirty="0"/>
              <a:t>– </a:t>
            </a:r>
            <a:r>
              <a:rPr lang="en-US" altLang="zh-TW" dirty="0" err="1"/>
              <a:t>blit</a:t>
            </a:r>
            <a:r>
              <a:rPr lang="en-US" altLang="zh-TW" dirty="0"/>
              <a:t>()</a:t>
            </a:r>
            <a:r>
              <a:rPr lang="zh-TW" altLang="en-US" dirty="0"/>
              <a:t>方法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C48AE-DEFE-4AA3-497F-ACBA97C49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456"/>
            <a:ext cx="10910777" cy="419986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altLang="zh-TW" sz="2400" dirty="0" err="1"/>
              <a:t>blit</a:t>
            </a:r>
            <a:r>
              <a:rPr lang="en-US" altLang="zh-TW" sz="2400" dirty="0"/>
              <a:t>(source, </a:t>
            </a:r>
            <a:r>
              <a:rPr lang="en-US" altLang="zh-TW" sz="2400" dirty="0" err="1"/>
              <a:t>dest</a:t>
            </a:r>
            <a:r>
              <a:rPr lang="en-US" altLang="zh-TW" sz="2400" dirty="0"/>
              <a:t>, area=None, </a:t>
            </a:r>
            <a:r>
              <a:rPr lang="en-US" altLang="zh-TW" sz="2400" dirty="0" err="1"/>
              <a:t>special_flags</a:t>
            </a:r>
            <a:r>
              <a:rPr lang="en-US" altLang="zh-TW" sz="2400" dirty="0"/>
              <a:t>=0) -&gt; </a:t>
            </a:r>
            <a:r>
              <a:rPr lang="en-US" altLang="zh-TW" sz="2400" dirty="0" err="1"/>
              <a:t>Rect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功用</a:t>
            </a:r>
            <a:r>
              <a:rPr lang="en-US" altLang="zh-TW" sz="2400" dirty="0">
                <a:solidFill>
                  <a:schemeClr val="tx1"/>
                </a:solidFill>
              </a:rPr>
              <a:t>: </a:t>
            </a:r>
            <a:r>
              <a:rPr lang="zh-TW" altLang="en-US" sz="2400" dirty="0">
                <a:solidFill>
                  <a:schemeClr val="tx1"/>
                </a:solidFill>
              </a:rPr>
              <a:t>將一個畫面粘貼到另一個畫面的特定位置上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4B7378-6DA6-CDFD-4E36-32E041FBBE7D}"/>
              </a:ext>
            </a:extLst>
          </p:cNvPr>
          <p:cNvSpPr txBox="1"/>
          <p:nvPr/>
        </p:nvSpPr>
        <p:spPr>
          <a:xfrm>
            <a:off x="839967" y="60676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</a:t>
            </a:r>
          </a:p>
          <a:p>
            <a:r>
              <a:rPr lang="en-US" altLang="zh-HK" dirty="0">
                <a:hlinkClick r:id="rId3"/>
              </a:rPr>
              <a:t>https://www.pygame.org/docs/ref/surface.html</a:t>
            </a:r>
            <a:endParaRPr lang="en-US" altLang="zh-HK" dirty="0"/>
          </a:p>
          <a:p>
            <a:endParaRPr lang="en-US" altLang="zh-HK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0AAF9EF-4E6E-889D-8B3F-F3FD9D52A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2835515"/>
            <a:ext cx="10970830" cy="1186970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322024D-3008-4445-C2B0-98556EC84209}"/>
              </a:ext>
            </a:extLst>
          </p:cNvPr>
          <p:cNvSpPr txBox="1">
            <a:spLocks/>
          </p:cNvSpPr>
          <p:nvPr/>
        </p:nvSpPr>
        <p:spPr>
          <a:xfrm>
            <a:off x="603889" y="4429382"/>
            <a:ext cx="10910777" cy="4199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zh-TW" altLang="en-US" sz="2400" dirty="0"/>
              <a:t>是否</a:t>
            </a:r>
            <a:r>
              <a:rPr lang="en-US" altLang="zh-TW" sz="2400" dirty="0" err="1"/>
              <a:t>blit</a:t>
            </a:r>
            <a:r>
              <a:rPr lang="en-US" altLang="zh-TW" sz="2400" dirty="0"/>
              <a:t>()</a:t>
            </a:r>
            <a:r>
              <a:rPr lang="zh-TW" altLang="en-US" sz="2400" dirty="0"/>
              <a:t>完畫面就會立刻更新</a:t>
            </a:r>
            <a:r>
              <a:rPr lang="en-US" altLang="zh-TW" sz="2400" dirty="0"/>
              <a:t>? </a:t>
            </a:r>
            <a:r>
              <a:rPr lang="zh-TW" altLang="en-US" sz="2400" dirty="0">
                <a:solidFill>
                  <a:schemeClr val="tx1"/>
                </a:solidFill>
              </a:rPr>
              <a:t>不是，需要</a:t>
            </a:r>
            <a:r>
              <a:rPr lang="en-US" altLang="zh-TW" sz="2400" dirty="0" err="1">
                <a:solidFill>
                  <a:srgbClr val="FF0000"/>
                </a:solidFill>
              </a:rPr>
              <a:t>pygame.display.update</a:t>
            </a:r>
            <a:r>
              <a:rPr lang="en-US" altLang="zh-TW" sz="2400" dirty="0">
                <a:solidFill>
                  <a:srgbClr val="FF0000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才會更新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詳見</a:t>
            </a:r>
            <a:r>
              <a:rPr lang="en-US" altLang="zh-TW" sz="2400" dirty="0">
                <a:solidFill>
                  <a:schemeClr val="tx1"/>
                </a:solidFill>
              </a:rPr>
              <a:t>practices</a:t>
            </a:r>
            <a:r>
              <a:rPr lang="zh-TW" altLang="en-US" sz="2400" dirty="0">
                <a:solidFill>
                  <a:schemeClr val="tx1"/>
                </a:solidFill>
              </a:rPr>
              <a:t>下的</a:t>
            </a:r>
            <a:r>
              <a:rPr lang="en-US" altLang="zh-TW" sz="2400" dirty="0">
                <a:solidFill>
                  <a:schemeClr val="tx1"/>
                </a:solidFill>
              </a:rPr>
              <a:t>surface</a:t>
            </a:r>
            <a:r>
              <a:rPr lang="zh-TW" altLang="en-US" sz="2400" dirty="0">
                <a:solidFill>
                  <a:schemeClr val="tx1"/>
                </a:solidFill>
              </a:rPr>
              <a:t>下的「</a:t>
            </a:r>
            <a:r>
              <a:rPr lang="zh-TW" altLang="en-US" sz="2400" dirty="0">
                <a:solidFill>
                  <a:srgbClr val="FF0000"/>
                </a:solidFill>
              </a:rPr>
              <a:t>把圖片顯示在畫面上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dirty="0">
                <a:solidFill>
                  <a:schemeClr val="tx1"/>
                </a:solidFill>
              </a:rPr>
              <a:t>」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3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BC2A-AF9C-7636-FFA7-C03598C5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5682-8493-6479-A549-EC14417B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2637"/>
            <a:ext cx="8596668" cy="825795"/>
          </a:xfrm>
        </p:spPr>
        <p:txBody>
          <a:bodyPr>
            <a:normAutofit/>
          </a:bodyPr>
          <a:lstStyle/>
          <a:p>
            <a:r>
              <a:rPr lang="en-US" dirty="0" err="1"/>
              <a:t>Pygame</a:t>
            </a:r>
            <a:r>
              <a:rPr lang="zh-TW" altLang="en-US" dirty="0"/>
              <a:t>中</a:t>
            </a:r>
            <a:r>
              <a:rPr lang="en-US" altLang="zh-TW" dirty="0"/>
              <a:t>Surface</a:t>
            </a:r>
            <a:r>
              <a:rPr lang="zh-TW" altLang="en-US" dirty="0"/>
              <a:t>模塊 </a:t>
            </a:r>
            <a:r>
              <a:rPr lang="en-US" altLang="zh-TW" dirty="0"/>
              <a:t>– </a:t>
            </a:r>
            <a:r>
              <a:rPr lang="zh-TW" altLang="en-US" dirty="0"/>
              <a:t>其余方法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783607-EC8D-C3C8-D3CD-1E080801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167"/>
            <a:ext cx="10910777" cy="483763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/>
              <a:t>圖像的基礎單位，用於單個畫面和多畫面間的處理</a:t>
            </a:r>
            <a:endParaRPr lang="en-US" altLang="zh-TW" sz="2400" dirty="0"/>
          </a:p>
          <a:p>
            <a:pPr algn="just">
              <a:spcBef>
                <a:spcPts val="1800"/>
              </a:spcBef>
            </a:pPr>
            <a:r>
              <a:rPr lang="zh-TW" altLang="en-US" sz="2400" dirty="0"/>
              <a:t>用法見「</a:t>
            </a:r>
            <a:r>
              <a:rPr lang="en-US" altLang="zh-TW" sz="2400" dirty="0">
                <a:solidFill>
                  <a:srgbClr val="FF0000"/>
                </a:solidFill>
              </a:rPr>
              <a:t>surface-</a:t>
            </a:r>
            <a:r>
              <a:rPr lang="zh-TW" altLang="en-US" sz="2400" dirty="0">
                <a:solidFill>
                  <a:srgbClr val="FF0000"/>
                </a:solidFill>
              </a:rPr>
              <a:t>界面</a:t>
            </a:r>
            <a:r>
              <a:rPr lang="en-US" altLang="zh-TW" sz="2400" dirty="0">
                <a:solidFill>
                  <a:srgbClr val="FF0000"/>
                </a:solidFill>
              </a:rPr>
              <a:t>.</a:t>
            </a:r>
            <a:r>
              <a:rPr lang="en-US" altLang="zh-TW" sz="2400" dirty="0" err="1">
                <a:solidFill>
                  <a:srgbClr val="FF0000"/>
                </a:solidFill>
              </a:rPr>
              <a:t>py</a:t>
            </a:r>
            <a:r>
              <a:rPr lang="zh-TW" altLang="en-US" sz="2400" b="1" dirty="0"/>
              <a:t>」</a:t>
            </a:r>
            <a:endParaRPr lang="en-US" altLang="zh-TW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9B2D40-E29E-E4AE-40E6-B5D6D6DC40A8}"/>
              </a:ext>
            </a:extLst>
          </p:cNvPr>
          <p:cNvSpPr txBox="1"/>
          <p:nvPr/>
        </p:nvSpPr>
        <p:spPr>
          <a:xfrm>
            <a:off x="839967" y="6067647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只挑選了一些常用功能，詳細可看如下</a:t>
            </a:r>
            <a:r>
              <a:rPr lang="en-US" altLang="zh-TW" dirty="0"/>
              <a:t>url:</a:t>
            </a:r>
          </a:p>
          <a:p>
            <a:r>
              <a:rPr lang="en-US" altLang="zh-TW" dirty="0">
                <a:hlinkClick r:id="rId3"/>
              </a:rPr>
              <a:t>https://www.pygame.org/docs/ref/surface.html</a:t>
            </a:r>
            <a:endParaRPr lang="en-US" altLang="zh-TW" dirty="0"/>
          </a:p>
          <a:p>
            <a:endParaRPr lang="en-US" altLang="zh-TW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4E9B47-2719-F462-5B7F-ED6099369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86738"/>
              </p:ext>
            </p:extLst>
          </p:nvPr>
        </p:nvGraphicFramePr>
        <p:xfrm>
          <a:off x="839967" y="2382684"/>
          <a:ext cx="10823949" cy="334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417">
                  <a:extLst>
                    <a:ext uri="{9D8B030D-6E8A-4147-A177-3AD203B41FA5}">
                      <a16:colId xmlns:a16="http://schemas.microsoft.com/office/drawing/2014/main" val="2588293857"/>
                    </a:ext>
                  </a:extLst>
                </a:gridCol>
                <a:gridCol w="2827357">
                  <a:extLst>
                    <a:ext uri="{9D8B030D-6E8A-4147-A177-3AD203B41FA5}">
                      <a16:colId xmlns:a16="http://schemas.microsoft.com/office/drawing/2014/main" val="3302551788"/>
                    </a:ext>
                  </a:extLst>
                </a:gridCol>
                <a:gridCol w="2073348">
                  <a:extLst>
                    <a:ext uri="{9D8B030D-6E8A-4147-A177-3AD203B41FA5}">
                      <a16:colId xmlns:a16="http://schemas.microsoft.com/office/drawing/2014/main" val="3566564496"/>
                    </a:ext>
                  </a:extLst>
                </a:gridCol>
                <a:gridCol w="3274827">
                  <a:extLst>
                    <a:ext uri="{9D8B030D-6E8A-4147-A177-3AD203B41FA5}">
                      <a16:colId xmlns:a16="http://schemas.microsoft.com/office/drawing/2014/main" val="2296433823"/>
                    </a:ext>
                  </a:extLst>
                </a:gridCol>
              </a:tblGrid>
              <a:tr h="340836"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函數參數類型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函數返回類型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函數作用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3966"/>
                  </a:ext>
                </a:extLst>
              </a:tr>
              <a:tr h="596463">
                <a:tc>
                  <a:txBody>
                    <a:bodyPr/>
                    <a:lstStyle/>
                    <a:p>
                      <a:r>
                        <a:rPr lang="en-US" altLang="zh-HK" dirty="0"/>
                        <a:t>fill(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US" altLang="zh-HK" dirty="0"/>
                        <a:t>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RGB[A]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Rect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把調用的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整體變為對應的</a:t>
                      </a:r>
                      <a:r>
                        <a:rPr lang="en-US" altLang="zh-TW" dirty="0"/>
                        <a:t>color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67552"/>
                  </a:ext>
                </a:extLst>
              </a:tr>
              <a:tr h="596463"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blit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(source, </a:t>
                      </a:r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dest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是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Surface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對象，</a:t>
                      </a:r>
                      <a:r>
                        <a:rPr lang="en-US" altLang="zh-TW" sz="1800" b="0" i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dest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是目標坐標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1800" b="0" i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int,int</a:t>
                      </a: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>
                          <a:highlight>
                            <a:srgbClr val="FFFF00"/>
                          </a:highlight>
                        </a:rPr>
                        <a:t>Rect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把</a:t>
                      </a:r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surface</a:t>
                      </a:r>
                      <a:r>
                        <a:rPr lang="zh-TW" altLang="en-US" dirty="0">
                          <a:highlight>
                            <a:srgbClr val="FFFF00"/>
                          </a:highlight>
                        </a:rPr>
                        <a:t>粘貼到對應的坐標上</a:t>
                      </a:r>
                      <a:endParaRPr lang="zh-HK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734375"/>
                  </a:ext>
                </a:extLst>
              </a:tr>
              <a:tr h="340836"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convert_alpha</a:t>
                      </a:r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B w="12700" cmpd="sng">
                      <a:noFill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dirty="0"/>
                        <a:t>Surface</a:t>
                      </a:r>
                      <a:r>
                        <a:rPr lang="zh-TW" altLang="en-US" dirty="0"/>
                        <a:t>對象</a:t>
                      </a:r>
                      <a:endParaRPr lang="zh-HK" altLang="en-US" dirty="0"/>
                    </a:p>
                    <a:p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把調用者的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格式加上</a:t>
                      </a:r>
                      <a:r>
                        <a:rPr lang="en-US" altLang="zh-TW" dirty="0"/>
                        <a:t>alpha</a:t>
                      </a:r>
                      <a:r>
                        <a:rPr lang="zh-TW" altLang="en-US" dirty="0"/>
                        <a:t>通道並返回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279017"/>
                  </a:ext>
                </a:extLst>
              </a:tr>
              <a:tr h="416519"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get_size</a:t>
                      </a:r>
                      <a:r>
                        <a:rPr lang="en-US" altLang="zh-HK" dirty="0"/>
                        <a:t>()</a:t>
                      </a:r>
                      <a:endParaRPr lang="zh-HK" alt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(width, height)</a:t>
                      </a:r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獲取調用者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對應的</a:t>
                      </a:r>
                      <a:r>
                        <a:rPr lang="en-US" altLang="zh-TW" dirty="0"/>
                        <a:t>size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66092"/>
                  </a:ext>
                </a:extLst>
              </a:tr>
              <a:tr h="50087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dirty="0" err="1"/>
                        <a:t>get_rect</a:t>
                      </a:r>
                      <a:r>
                        <a:rPr lang="en-US" altLang="zh-HK" dirty="0"/>
                        <a:t>()</a:t>
                      </a:r>
                      <a:endParaRPr lang="zh-HK" alt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</a:t>
                      </a:r>
                      <a:endParaRPr lang="zh-HK" alt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獲取調用者</a:t>
                      </a:r>
                      <a:r>
                        <a:rPr lang="en-US" altLang="zh-TW" dirty="0"/>
                        <a:t>surface</a:t>
                      </a:r>
                      <a:r>
                        <a:rPr lang="zh-TW" altLang="en-US" dirty="0"/>
                        <a:t>對應的</a:t>
                      </a:r>
                      <a:r>
                        <a:rPr lang="en-US" altLang="zh-TW" dirty="0" err="1"/>
                        <a:t>rect</a:t>
                      </a:r>
                      <a:r>
                        <a:rPr lang="zh-TW" altLang="en-US" dirty="0"/>
                        <a:t>對象，</a:t>
                      </a:r>
                      <a:r>
                        <a:rPr lang="en-US" altLang="zh-TW" dirty="0" err="1"/>
                        <a:t>Rect</a:t>
                      </a:r>
                      <a:r>
                        <a:rPr lang="en-US" altLang="zh-TW" dirty="0"/>
                        <a:t>(0,0,w,h)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9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49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CE2C-C4E8-A756-5DE7-4E531234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D5C9-E1F9-7574-F548-7C953233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2637"/>
            <a:ext cx="8596668" cy="825795"/>
          </a:xfrm>
        </p:spPr>
        <p:txBody>
          <a:bodyPr>
            <a:normAutofit/>
          </a:bodyPr>
          <a:lstStyle/>
          <a:p>
            <a:r>
              <a:rPr lang="zh-TW" altLang="en-US" dirty="0"/>
              <a:t>課堂</a:t>
            </a:r>
            <a:r>
              <a:rPr lang="en-US" altLang="zh-TW" dirty="0"/>
              <a:t>exercise</a:t>
            </a:r>
            <a:r>
              <a:rPr lang="en-US" dirty="0"/>
              <a:t>2.1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2962E9-6BA2-FAEF-7EEE-AE789CD3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167"/>
            <a:ext cx="10910777" cy="4837630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b="1" dirty="0"/>
              <a:t>創建如圖的一個界面</a:t>
            </a:r>
            <a:endParaRPr lang="en-US" altLang="zh-TW" sz="24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625740-4E24-AE0E-F385-97ABA4B17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585" y="711941"/>
            <a:ext cx="4227243" cy="600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3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2025.11.04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</TotalTime>
  <Words>1286</Words>
  <Application>Microsoft Office PowerPoint</Application>
  <PresentationFormat>寬螢幕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Arial</vt:lpstr>
      <vt:lpstr>Calibri</vt:lpstr>
      <vt:lpstr>Open Sans Semibold</vt:lpstr>
      <vt:lpstr>Times New Roman</vt:lpstr>
      <vt:lpstr>Trebuchet MS</vt:lpstr>
      <vt:lpstr>Wingdings 3</vt:lpstr>
      <vt:lpstr>Light</vt:lpstr>
      <vt:lpstr>多面向</vt:lpstr>
      <vt:lpstr>Chapter2-模塊講解1 </vt:lpstr>
      <vt:lpstr>本篇包括</vt:lpstr>
      <vt:lpstr>思考一下</vt:lpstr>
      <vt:lpstr>Pygame中模組初始化</vt:lpstr>
      <vt:lpstr>Pygame中display模組-創建窗口</vt:lpstr>
      <vt:lpstr>Pygame中Display模塊</vt:lpstr>
      <vt:lpstr>Pygame中的坐標系</vt:lpstr>
      <vt:lpstr>Pygame中Rect模塊</vt:lpstr>
      <vt:lpstr>Pygame中Rect模塊</vt:lpstr>
      <vt:lpstr>Pygame中image模塊</vt:lpstr>
      <vt:lpstr>簡單總結</vt:lpstr>
      <vt:lpstr>Pygame中Surface模塊</vt:lpstr>
      <vt:lpstr>Pygame中Surface模塊 – blit()方法</vt:lpstr>
      <vt:lpstr>Pygame中Surface模塊 – 其余方法</vt:lpstr>
      <vt:lpstr>課堂exercise2.1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110</cp:revision>
  <dcterms:created xsi:type="dcterms:W3CDTF">2021-09-29T10:33:58Z</dcterms:created>
  <dcterms:modified xsi:type="dcterms:W3CDTF">2025-11-03T15:29:11Z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