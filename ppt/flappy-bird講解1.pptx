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59" r:id="rId2"/>
  </p:sldMasterIdLst>
  <p:notesMasterIdLst>
    <p:notesMasterId r:id="rId34"/>
  </p:notesMasterIdLst>
  <p:sldIdLst>
    <p:sldId id="335" r:id="rId3"/>
    <p:sldId id="468" r:id="rId4"/>
    <p:sldId id="469" r:id="rId5"/>
    <p:sldId id="470" r:id="rId6"/>
    <p:sldId id="471" r:id="rId7"/>
    <p:sldId id="472" r:id="rId8"/>
    <p:sldId id="473" r:id="rId9"/>
    <p:sldId id="475" r:id="rId10"/>
    <p:sldId id="474" r:id="rId11"/>
    <p:sldId id="476" r:id="rId12"/>
    <p:sldId id="477" r:id="rId13"/>
    <p:sldId id="478" r:id="rId14"/>
    <p:sldId id="479" r:id="rId15"/>
    <p:sldId id="480" r:id="rId16"/>
    <p:sldId id="481" r:id="rId17"/>
    <p:sldId id="482" r:id="rId18"/>
    <p:sldId id="484" r:id="rId19"/>
    <p:sldId id="485" r:id="rId20"/>
    <p:sldId id="486" r:id="rId21"/>
    <p:sldId id="487" r:id="rId22"/>
    <p:sldId id="488" r:id="rId23"/>
    <p:sldId id="489" r:id="rId24"/>
    <p:sldId id="491" r:id="rId25"/>
    <p:sldId id="492" r:id="rId26"/>
    <p:sldId id="493" r:id="rId27"/>
    <p:sldId id="494" r:id="rId28"/>
    <p:sldId id="495" r:id="rId29"/>
    <p:sldId id="496" r:id="rId30"/>
    <p:sldId id="497" r:id="rId31"/>
    <p:sldId id="498" r:id="rId32"/>
    <p:sldId id="33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3F53"/>
    <a:srgbClr val="E0C0A0"/>
    <a:srgbClr val="013D9A"/>
    <a:srgbClr val="F8F87B"/>
    <a:srgbClr val="B9BFCA"/>
    <a:srgbClr val="66C2CD"/>
    <a:srgbClr val="D290E4"/>
    <a:srgbClr val="71BEF2"/>
    <a:srgbClr val="DBAB79"/>
    <a:srgbClr val="A8C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41" autoAdjust="0"/>
    <p:restoredTop sz="93124" autoAdjust="0"/>
  </p:normalViewPr>
  <p:slideViewPr>
    <p:cSldViewPr snapToGrid="0" showGuides="1">
      <p:cViewPr varScale="1">
        <p:scale>
          <a:sx n="60" d="100"/>
          <a:sy n="60" d="100"/>
        </p:scale>
        <p:origin x="812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8183A-536E-90C7-5272-320AE66C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BAD22-C0B7-AFAB-F06B-9B11B51AD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D4E24-377F-7942-BB03-EDCE09985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7433F-BDD5-3A6C-F6BF-B751A79F8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48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76C71-027A-0319-7289-ED0E6F163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911CC-B37B-BDB5-CD67-779833738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DD32A-2F19-4A1A-0241-12489787C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1EE63-8988-87CA-AA8F-647173034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90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68D17-D957-9B72-F306-1CFBCAA6C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F9422-4B14-B46C-FE1B-AF1B74E03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881DA-1BA5-E061-D83B-C111ED31D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EDEA5-2D52-3C2A-EBD7-3DAE3F2DB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55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0E682-1951-224A-C699-623FED813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7F743-CD9C-0B87-C469-BC5713C9B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F3F6F-585F-473C-0582-1CA6DDE86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05996-6646-A709-765F-1F5F031D1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32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B1894-3FA4-C363-7724-F46E66288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60D18-0110-15A1-A224-C64DA0E1F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98511-E980-DD72-2831-7E1D40080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42F2C-0C05-79CB-3400-69278FC58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35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18F4F-7456-67A7-4DFB-3B0D436A7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76A65-5FB4-3182-6E9D-A04EB3BEE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968A3-7641-E615-F8C1-4E302D965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99348-2DC7-BF8E-2E7C-C2EBA0D00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18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A6376-101B-5B06-9548-90044180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EC9E26-68AA-91AB-CCAE-21B630AF3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867806-2FFD-3F18-D13F-CE3CF2EFF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74D11-A9E0-C90B-50AE-55AEBAC46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40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6E073-4495-B959-44BF-4442D9F7F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B26A0-3A66-6114-0A6B-3F7F7F706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C05F10-63A9-03A6-6133-0A07E17AE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C1DCF-B6CC-8B6E-F782-F209BA5C0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95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2EFBF-1D66-B883-5873-8DF005DBD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187B5-4318-78A1-48D6-B18FF8D6C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1F1AF-A51D-6E3B-F1C6-86CF5965F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CCA02-341D-3A3E-D0BB-F4C5A236B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41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5D4E-EA4C-26FE-BE00-76ECF957B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9D0D5-57A5-2BCE-13AE-A27DF05FF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1C2B20-5CC0-A585-E651-0CCA9CB2A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47276-6A69-403C-9D65-E42D999B6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79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684E6-C8F0-BA88-A65A-EFECABE1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0F4F3-9491-6043-C933-242C52866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968E9-3B48-EE59-7DF8-014DCC9EB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CDAA4-4403-398B-2A91-B141D3286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30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03CE0-D157-6CE4-DC5B-A4971FCC7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A2762-48CD-8637-EC8C-FCAD11E52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009AC3-C419-7F9A-3728-1F478E212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B919F-2389-2C57-97E7-8EF398F77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314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CAD67-50C9-FDA5-4176-79434CAB8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1953D-A85D-2931-5E0F-79364F189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FFE20-C8B6-632E-6E60-64058450F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37439-C201-627D-6751-704210C0B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4993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95371-A260-5083-FDE8-55AA005F1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1B7F2-9CFA-CAFF-9B89-4029F7E3D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172E6-C955-96F7-D845-114B88B43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24045-CF33-4324-85DA-5955607DE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18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E5E4A-DCFB-28C2-8B3D-D957BDF6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D2421-7E35-CB0F-D5C7-87BE2F957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BE0DFE-5A75-3018-E25C-4CF07C7EB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EB3EA-9672-8757-9CA1-9FE47D7B2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847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13226-5EDB-C4CE-7D96-E313FC1F5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841BE-1304-98A4-D063-E24152E83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D45C3-C80B-6625-4BB6-A40C43F50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88207-5089-AA1E-1F04-D183FF82A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943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AE8E9-71B7-9665-39D9-A09B47906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C8B74-4F85-158B-24C5-17A8842DA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5F341-9AF6-1F7B-BEAA-D7F706951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008E5-D30B-0944-6654-E52A581C1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089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3761E-F37D-F823-21AE-7ED41068E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44220-BE7B-F7D4-7EDE-6F18D5271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D2D8F-FDE8-346A-F9B2-97C939527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4AC97-6CCE-D5FB-E9E6-1643AD798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671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5F84C-C6C0-9A58-C894-8B0246E34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2B205-8A79-D5E3-F05D-D1FFC7B2C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C8FD94-8AA6-50A9-2AC2-69106B9E6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88F5F-B90F-DEEA-445D-3F38434A5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963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47E2F-EB28-C908-A4DB-78500FBB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DEA02-3C08-77AF-A6B2-CC12A153A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2DB1F-F4B5-271A-33AB-918F74D0C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30C5D-8B19-4351-56B6-6CC674D6C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775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5882-6738-43C5-A3EB-B5E3E6CC0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1BC0F-B502-BCCC-FF5B-77FEE010D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16467-D093-2775-295F-80C7A4657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D7DD6-107A-D3C9-8EEB-640F76D10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822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521E-D2E9-A04F-56D9-6BF3E69E7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54C15-7F9C-D267-9C46-78C8E342E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D7F79-A15F-1436-AA40-4544FEE72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973C9-B298-8151-9FC4-56F1FD1D4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433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769FB-5B17-460C-A19A-D2F0911E6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0079A-958A-0181-A403-5EC73D71A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C08DB-017B-DFA3-6151-79D2D95C3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FE9E7-96B1-295A-59A2-A6D09EDC3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090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F12F7-0CD2-6331-8C3F-7EB22388C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EB132-EE57-7057-83FD-4560D2489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92969-68A5-3B0D-7476-67F98678E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6314B-675B-FFF9-2F9D-82C10044C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198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78189-3452-5CE0-0158-14408965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CEB14-7907-DF09-6E10-ADF1B26B1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24AAE-D1A3-4DB6-C801-043F314C0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D399F-521F-F817-D959-050B3445B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148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80BF5-7F29-E2C3-65B6-5C05EAA34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9FC08-094A-EE2A-09BE-3DEA3595A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65564-858C-4A3A-4D69-25C7191ED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83159-684E-5993-7CB4-87BA36D05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562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A3CB8-68CB-FE7A-329D-AED1A266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1C236-3BF5-E835-3F3D-E0368D6E1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51FDD-139C-3DA1-6C21-B8453C270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F2D06-830A-0460-F3A6-7C839216A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424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B1A3-FD63-19EE-665D-FC8A9FB2B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CBA14-AF11-8604-89FB-F24E61791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22AAB2-EF0D-419D-71B5-F95A79D8F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18595-41A6-E978-45AB-02DE37DA3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208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52518-439E-B163-F2DD-15B8A66E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09D45-75EE-C36D-D42A-A73A54E99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347FF-D4A4-6B65-3546-C23C324A2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58698-E4B8-E309-DDD1-7D9538E02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198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17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1388"/>
            <a:ext cx="9144000" cy="2387600"/>
          </a:xfrm>
        </p:spPr>
        <p:txBody>
          <a:bodyPr anchor="b">
            <a:normAutofit/>
          </a:bodyPr>
          <a:lstStyle>
            <a:lvl1pPr algn="ctr">
              <a:defRPr sz="80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1063"/>
            <a:ext cx="9144000" cy="8651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tx2">
                    <a:lumMod val="75000"/>
                  </a:schemeClr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87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7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0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66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90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569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57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1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203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27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8172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51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51245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50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697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8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Open Sans Semibold" panose="020B0706030804020204" pitchFamily="34" charset="0"/>
          <a:ea typeface="Open Sans Semibold" panose="020B0706030804020204" pitchFamily="34" charset="0"/>
          <a:cs typeface="Open Sans Semibold" panose="020B07060308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97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8189826" cy="1646302"/>
          </a:xfrm>
        </p:spPr>
        <p:txBody>
          <a:bodyPr/>
          <a:lstStyle/>
          <a:p>
            <a:r>
              <a:rPr lang="zh-TW" altLang="en-US" sz="4400" dirty="0"/>
              <a:t>綜合練習</a:t>
            </a:r>
            <a:r>
              <a:rPr lang="en-US" altLang="zh-TW" sz="4400" dirty="0"/>
              <a:t> flappy-bird</a:t>
            </a:r>
            <a:endParaRPr lang="en-US" sz="44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836676" y="4178423"/>
            <a:ext cx="7766936" cy="1096899"/>
          </a:xfrm>
        </p:spPr>
        <p:txBody>
          <a:bodyPr>
            <a:norm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基於</a:t>
            </a:r>
            <a:r>
              <a:rPr lang="en-US" altLang="zh-TW" sz="20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Pygame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Python 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遊戲開發</a:t>
            </a:r>
            <a:endParaRPr lang="en-US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BE3C2-EB8D-DD4D-EF43-FE32DE5E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22090-EC7D-B527-04CC-92E6D9F8F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簡介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64B6D10-EAE3-4E3F-A0EB-58FF46A9E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1" y="1290127"/>
            <a:ext cx="10910777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/>
              <a:t>Flappy bird</a:t>
            </a:r>
            <a:r>
              <a:rPr lang="zh-TW" altLang="en-US" sz="2400" dirty="0"/>
              <a:t>是</a:t>
            </a:r>
            <a:r>
              <a:rPr lang="en-US" altLang="zh-TW" sz="2400" dirty="0"/>
              <a:t>2013</a:t>
            </a:r>
            <a:r>
              <a:rPr lang="zh-TW" altLang="en-US" sz="2400" dirty="0"/>
              <a:t>年由越南公司推出的一款像素風格休閒手遊，遊戲憑藉極簡設計和超高難度引發全球熱潮，玩家通過點擊螢幕控制小鳥飛行高度，躲避隨機生成的管道障礙，每穿過一對管道得</a:t>
            </a:r>
            <a:r>
              <a:rPr lang="en-US" altLang="zh-TW" sz="2400" dirty="0"/>
              <a:t>1</a:t>
            </a:r>
            <a:r>
              <a:rPr lang="zh-TW" altLang="en-US" sz="2400" dirty="0"/>
              <a:t>分，發生碰撞即遊戲結束。</a:t>
            </a:r>
            <a:endParaRPr lang="en-US" altLang="zh-TW" sz="1800" dirty="0"/>
          </a:p>
        </p:txBody>
      </p:sp>
      <p:pic>
        <p:nvPicPr>
          <p:cNvPr id="3" name="Picture 2" descr="Flappy Bird 🐦 Play on CrazyGames">
            <a:extLst>
              <a:ext uri="{FF2B5EF4-FFF2-40B4-BE49-F238E27FC236}">
                <a16:creationId xmlns:a16="http://schemas.microsoft.com/office/drawing/2014/main" id="{6EF11851-4973-AAF5-E5FE-48E6F2270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831" y="3179695"/>
            <a:ext cx="5455476" cy="306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3973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BC0F5-0CB1-E1A3-A8A3-B34066972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F4F7-0CB6-4C93-15D4-697E0D62A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F2FA6B6-FA1A-2FC6-C487-5E0D7A6CD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1" y="1290127"/>
            <a:ext cx="6628869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/>
              <a:t>我們使用</a:t>
            </a:r>
            <a:r>
              <a:rPr lang="en-US" altLang="zh-TW" sz="2400" dirty="0"/>
              <a:t>python</a:t>
            </a:r>
            <a:r>
              <a:rPr lang="zh-TW" altLang="en-US" sz="2400" dirty="0"/>
              <a:t>中的</a:t>
            </a:r>
            <a:r>
              <a:rPr lang="en-US" altLang="zh-TW" sz="2400" dirty="0" err="1"/>
              <a:t>pygame</a:t>
            </a:r>
            <a:r>
              <a:rPr lang="zh-TW" altLang="en-US" sz="2400" dirty="0"/>
              <a:t>模組協助實現一款簡易版的</a:t>
            </a:r>
            <a:r>
              <a:rPr lang="en-US" altLang="zh-TW" sz="2400" dirty="0"/>
              <a:t>flappy bird</a:t>
            </a:r>
            <a:r>
              <a:rPr lang="zh-TW" altLang="en-US" sz="2400" dirty="0"/>
              <a:t>遊戲。</a:t>
            </a:r>
            <a:endParaRPr lang="en-US" altLang="zh-TW" sz="24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/>
              <a:t>遊戲包含三個頁面</a:t>
            </a:r>
            <a:r>
              <a:rPr lang="en-US" altLang="zh-TW" sz="2400" dirty="0"/>
              <a:t>: </a:t>
            </a:r>
            <a:r>
              <a:rPr lang="zh-TW" altLang="en-US" sz="2400" dirty="0"/>
              <a:t>首頁、遊戲主頁和尾頁</a:t>
            </a:r>
            <a:endParaRPr lang="en-US" altLang="zh-TW" sz="24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rgbClr val="FF0000"/>
                </a:solidFill>
              </a:rPr>
              <a:t>首頁</a:t>
            </a:r>
            <a:r>
              <a:rPr lang="zh-TW" altLang="en-US" sz="2200" dirty="0"/>
              <a:t>主要是介紹遊戲是什么，並帶有開始鍵</a:t>
            </a:r>
            <a:endParaRPr lang="en-US" altLang="zh-TW" sz="22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rgbClr val="FF0000"/>
                </a:solidFill>
              </a:rPr>
              <a:t>主頁</a:t>
            </a:r>
            <a:r>
              <a:rPr lang="zh-TW" altLang="en-US" sz="2200" dirty="0"/>
              <a:t>是遊戲主要的實現過程 </a:t>
            </a:r>
            <a:endParaRPr lang="en-US" altLang="zh-TW" sz="22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rgbClr val="FF0000"/>
                </a:solidFill>
              </a:rPr>
              <a:t>尾頁</a:t>
            </a:r>
            <a:r>
              <a:rPr lang="zh-TW" altLang="en-US" sz="2200" dirty="0"/>
              <a:t>用於顯示分數</a:t>
            </a:r>
            <a:r>
              <a:rPr lang="en-US" altLang="zh-TW" sz="2200" dirty="0"/>
              <a:t>(</a:t>
            </a:r>
            <a:r>
              <a:rPr lang="zh-TW" altLang="en-US" sz="2200" dirty="0"/>
              <a:t>包含最佳分數</a:t>
            </a:r>
            <a:r>
              <a:rPr lang="en-US" altLang="zh-TW" sz="2200" dirty="0"/>
              <a:t>)</a:t>
            </a:r>
            <a:r>
              <a:rPr lang="zh-TW" altLang="en-US" sz="2200" dirty="0"/>
              <a:t>和獎牌，並帶有</a:t>
            </a:r>
            <a:r>
              <a:rPr lang="en-US" altLang="zh-TW" sz="2200" dirty="0"/>
              <a:t>replay</a:t>
            </a:r>
            <a:r>
              <a:rPr lang="zh-TW" altLang="en-US" sz="2200" dirty="0"/>
              <a:t>鍵</a:t>
            </a:r>
            <a:endParaRPr lang="en-US" altLang="zh-TW" sz="2200" dirty="0"/>
          </a:p>
        </p:txBody>
      </p:sp>
      <p:pic>
        <p:nvPicPr>
          <p:cNvPr id="5" name="pygame window 2025-05-29 00-35-23">
            <a:hlinkClick r:id="" action="ppaction://media"/>
            <a:extLst>
              <a:ext uri="{FF2B5EF4-FFF2-40B4-BE49-F238E27FC236}">
                <a16:creationId xmlns:a16="http://schemas.microsoft.com/office/drawing/2014/main" id="{F757C16F-C36C-F712-3446-C302816E84E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r="34359" b="33740"/>
          <a:stretch/>
        </p:blipFill>
        <p:spPr>
          <a:xfrm>
            <a:off x="7489083" y="246375"/>
            <a:ext cx="4203807" cy="636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0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1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770DC-E02E-C5FB-3198-FE8415361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48CEE-7030-7F51-428B-81CF1526B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Bird</a:t>
            </a:r>
            <a:r>
              <a:rPr lang="zh-TW" altLang="en-US" dirty="0"/>
              <a:t>類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E5C53BD-8CAA-D54C-B1DF-23EF3BC46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1" y="1290127"/>
            <a:ext cx="9463509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/>
              <a:t>遊戲中包含三個角色子類 </a:t>
            </a:r>
            <a:r>
              <a:rPr lang="en-US" altLang="zh-TW" sz="2400" dirty="0"/>
              <a:t>– </a:t>
            </a:r>
            <a:r>
              <a:rPr lang="zh-TW" altLang="en-US" sz="2400" dirty="0"/>
              <a:t>小鳥、地面和</a:t>
            </a:r>
            <a:r>
              <a:rPr lang="en-US" altLang="zh-TW" sz="2400" dirty="0"/>
              <a:t>Pipe</a:t>
            </a:r>
            <a:r>
              <a:rPr lang="zh-TW" altLang="en-US" sz="2400" dirty="0"/>
              <a:t>管道</a:t>
            </a:r>
            <a:endParaRPr lang="en-US" altLang="zh-TW" sz="24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/>
              <a:t>小鳥類主要的實現在於受「重力」影響，從而使得</a:t>
            </a:r>
            <a:r>
              <a:rPr lang="en-US" altLang="zh-TW" sz="2400" dirty="0"/>
              <a:t>”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/>
              <a:t>需要加速下降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/>
              <a:t>順時針加速翻轉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/>
              <a:t>按</a:t>
            </a:r>
            <a:r>
              <a:rPr lang="en-US" altLang="zh-TW" sz="2000" dirty="0"/>
              <a:t>space</a:t>
            </a:r>
            <a:r>
              <a:rPr lang="zh-TW" altLang="en-US" sz="2000" dirty="0"/>
              <a:t>後回正</a:t>
            </a:r>
            <a:endParaRPr lang="en-US" altLang="zh-TW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FE61F3D-3453-78A6-9A8F-A0F1747C6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524" y="3143250"/>
            <a:ext cx="2347913" cy="165735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7EB9FCA-6F92-5A54-2598-93AE0C586080}"/>
              </a:ext>
            </a:extLst>
          </p:cNvPr>
          <p:cNvSpPr txBox="1"/>
          <p:nvPr/>
        </p:nvSpPr>
        <p:spPr>
          <a:xfrm>
            <a:off x="112014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詳請看</a:t>
            </a:r>
            <a:r>
              <a:rPr lang="en-US" altLang="zh-TW" dirty="0">
                <a:solidFill>
                  <a:srgbClr val="FF0000"/>
                </a:solidFill>
              </a:rPr>
              <a:t>: </a:t>
            </a:r>
            <a:r>
              <a:rPr lang="en-US" altLang="zh-HK" dirty="0">
                <a:solidFill>
                  <a:srgbClr val="FF0000"/>
                </a:solidFill>
              </a:rPr>
              <a:t>0_</a:t>
            </a:r>
            <a:r>
              <a:rPr lang="zh-TW" altLang="en-US" dirty="0">
                <a:solidFill>
                  <a:srgbClr val="FF0000"/>
                </a:solidFill>
              </a:rPr>
              <a:t>功課中已實現內容</a:t>
            </a:r>
            <a:r>
              <a:rPr lang="en-US" altLang="zh-TW" dirty="0">
                <a:solidFill>
                  <a:srgbClr val="FF0000"/>
                </a:solidFill>
              </a:rPr>
              <a:t>.</a:t>
            </a:r>
            <a:r>
              <a:rPr lang="en-US" altLang="zh-TW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51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228FA-0A3E-2E5F-8BA1-CD852DF8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43B8F-C8C9-144A-14B6-FE757B3CC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Base</a:t>
            </a:r>
            <a:r>
              <a:rPr lang="zh-TW" altLang="en-US" dirty="0"/>
              <a:t>類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D807553-12DF-DF6B-BD73-BA1FBCE6B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1" y="1290127"/>
            <a:ext cx="9463509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/>
              <a:t>地面類在初期並不需要移動</a:t>
            </a:r>
            <a:r>
              <a:rPr lang="en-US" altLang="zh-TW" sz="2400" dirty="0"/>
              <a:t>(</a:t>
            </a:r>
            <a:r>
              <a:rPr lang="zh-TW" altLang="en-US" sz="2400" dirty="0"/>
              <a:t>創建首頁時才實現移動</a:t>
            </a:r>
            <a:r>
              <a:rPr lang="en-US" altLang="zh-TW" sz="2400" dirty="0"/>
              <a:t>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/>
              <a:t>因此不需要實現</a:t>
            </a:r>
            <a:r>
              <a:rPr lang="en-US" altLang="zh-TW" sz="2400" dirty="0"/>
              <a:t>update()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/>
              <a:t>只需要在</a:t>
            </a:r>
            <a:r>
              <a:rPr lang="en-US" altLang="zh-TW" sz="2400" dirty="0"/>
              <a:t>image</a:t>
            </a:r>
            <a:r>
              <a:rPr lang="zh-TW" altLang="en-US" sz="2400" dirty="0"/>
              <a:t>中把寬度拉成遊戲寬度即可</a:t>
            </a:r>
            <a:endParaRPr lang="en-US" altLang="zh-TW" sz="2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5E9B753-5BCE-D52C-7467-74CB8E0D0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170" y="3614715"/>
            <a:ext cx="4343400" cy="14478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CDA60BA-170D-F462-1AAD-FCD8A2FA9B26}"/>
              </a:ext>
            </a:extLst>
          </p:cNvPr>
          <p:cNvSpPr txBox="1"/>
          <p:nvPr/>
        </p:nvSpPr>
        <p:spPr>
          <a:xfrm>
            <a:off x="112014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詳請看</a:t>
            </a:r>
            <a:r>
              <a:rPr lang="en-US" altLang="zh-TW" dirty="0">
                <a:solidFill>
                  <a:srgbClr val="FF0000"/>
                </a:solidFill>
              </a:rPr>
              <a:t>: </a:t>
            </a:r>
            <a:r>
              <a:rPr lang="en-US" altLang="zh-HK" dirty="0">
                <a:solidFill>
                  <a:srgbClr val="FF0000"/>
                </a:solidFill>
              </a:rPr>
              <a:t>0_</a:t>
            </a:r>
            <a:r>
              <a:rPr lang="zh-TW" altLang="en-US" dirty="0">
                <a:solidFill>
                  <a:srgbClr val="FF0000"/>
                </a:solidFill>
              </a:rPr>
              <a:t>功課中已實現內容</a:t>
            </a:r>
            <a:r>
              <a:rPr lang="en-US" altLang="zh-TW" dirty="0">
                <a:solidFill>
                  <a:srgbClr val="FF0000"/>
                </a:solidFill>
              </a:rPr>
              <a:t>.</a:t>
            </a:r>
            <a:r>
              <a:rPr lang="en-US" altLang="zh-TW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349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D5D2F-2944-BB5F-A6C4-0DF7A0E81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415A6-5E66-4053-199B-B01A2D6FA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Pipe</a:t>
            </a:r>
            <a:r>
              <a:rPr lang="zh-TW" altLang="en-US" dirty="0"/>
              <a:t>類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8627852-9BE8-745C-60DB-C5F76B66A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1" y="1290127"/>
            <a:ext cx="9463509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/>
              <a:t>Pipe</a:t>
            </a:r>
            <a:r>
              <a:rPr lang="zh-TW" altLang="en-US" sz="2400" dirty="0"/>
              <a:t>類是</a:t>
            </a:r>
            <a:r>
              <a:rPr lang="en-US" altLang="zh-TW" sz="2400" dirty="0"/>
              <a:t>flappy bird</a:t>
            </a:r>
            <a:r>
              <a:rPr lang="zh-TW" altLang="en-US" sz="2400" dirty="0"/>
              <a:t>中主要的障礙物，一般是成對出現</a:t>
            </a:r>
            <a:r>
              <a:rPr lang="en-US" altLang="zh-TW" sz="2400" dirty="0"/>
              <a:t>(</a:t>
            </a:r>
            <a:r>
              <a:rPr lang="zh-TW" altLang="en-US" sz="2400" dirty="0"/>
              <a:t>上下</a:t>
            </a:r>
            <a:r>
              <a:rPr lang="en-US" altLang="zh-TW" sz="2400" dirty="0"/>
              <a:t>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/>
              <a:t>在創建</a:t>
            </a:r>
            <a:r>
              <a:rPr lang="en-US" altLang="zh-TW" sz="2400" dirty="0"/>
              <a:t>pipe</a:t>
            </a:r>
            <a:r>
              <a:rPr lang="zh-TW" altLang="en-US" sz="2400" dirty="0"/>
              <a:t>的</a:t>
            </a:r>
            <a:r>
              <a:rPr lang="en-US" altLang="zh-TW" sz="2400" dirty="0"/>
              <a:t>image</a:t>
            </a:r>
            <a:r>
              <a:rPr lang="zh-TW" altLang="en-US" sz="2400" dirty="0"/>
              <a:t>時，有如下思路</a:t>
            </a:r>
            <a:r>
              <a:rPr lang="en-GB" altLang="zh-TW" sz="2400" dirty="0"/>
              <a:t>:</a:t>
            </a:r>
            <a:endParaRPr lang="en-US" altLang="zh-TW" sz="24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1. </a:t>
            </a:r>
            <a:r>
              <a:rPr lang="zh-TW" altLang="en-US" sz="2000" dirty="0"/>
              <a:t>直接包含上下管道</a:t>
            </a:r>
            <a:r>
              <a:rPr lang="en-US" altLang="zh-TW" sz="2000" dirty="0"/>
              <a:t>(</a:t>
            </a:r>
            <a:r>
              <a:rPr lang="zh-TW" altLang="en-US" sz="2000" dirty="0"/>
              <a:t>如圖</a:t>
            </a:r>
            <a:r>
              <a:rPr lang="en-US" altLang="zh-TW" sz="2000" dirty="0"/>
              <a:t>) </a:t>
            </a:r>
          </a:p>
          <a:p>
            <a:pPr lvl="2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1800" dirty="0"/>
              <a:t> </a:t>
            </a:r>
            <a:r>
              <a:rPr lang="zh-TW" altLang="en-US" sz="1800" dirty="0"/>
              <a:t>缺點</a:t>
            </a:r>
            <a:r>
              <a:rPr lang="en-US" altLang="zh-TW" sz="1800" dirty="0"/>
              <a:t>: </a:t>
            </a:r>
            <a:r>
              <a:rPr lang="zh-TW" altLang="en-US" sz="1800" dirty="0"/>
              <a:t>不能實現單個</a:t>
            </a:r>
            <a:r>
              <a:rPr lang="en-US" altLang="zh-TW" sz="1800" dirty="0"/>
              <a:t>pipe</a:t>
            </a:r>
            <a:r>
              <a:rPr lang="zh-TW" altLang="en-US" sz="1800" dirty="0"/>
              <a:t>的建立</a:t>
            </a:r>
            <a:r>
              <a:rPr lang="en-US" altLang="zh-TW" sz="1800" dirty="0"/>
              <a:t>/</a:t>
            </a:r>
            <a:r>
              <a:rPr lang="zh-TW" altLang="en-US" sz="1800" dirty="0"/>
              <a:t>如斜放的</a:t>
            </a:r>
            <a:r>
              <a:rPr lang="en-US" altLang="zh-TW" sz="1800" dirty="0"/>
              <a:t>pipe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2. </a:t>
            </a:r>
            <a:r>
              <a:rPr lang="zh-TW" altLang="en-US" sz="2000" dirty="0"/>
              <a:t>只創建單個</a:t>
            </a:r>
            <a:r>
              <a:rPr lang="en-US" altLang="zh-TW" sz="2000" dirty="0"/>
              <a:t>pipe</a:t>
            </a:r>
            <a:r>
              <a:rPr lang="zh-TW" altLang="en-US" sz="2000" dirty="0"/>
              <a:t>，然後</a:t>
            </a:r>
            <a:r>
              <a:rPr lang="en-US" altLang="zh-TW" sz="2000" dirty="0"/>
              <a:t>group</a:t>
            </a:r>
            <a:r>
              <a:rPr lang="zh-TW" altLang="en-US" sz="2000" dirty="0"/>
              <a:t>組成它們 </a:t>
            </a:r>
            <a:endParaRPr lang="en-US" altLang="zh-TW" sz="20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/>
              <a:t>這里使用方案</a:t>
            </a:r>
            <a:r>
              <a:rPr lang="en-US" altLang="zh-TW" sz="2400" dirty="0"/>
              <a:t>2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endParaRPr lang="en-US" altLang="zh-TW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661100-91E7-320C-4CEE-6DD7683761DC}"/>
              </a:ext>
            </a:extLst>
          </p:cNvPr>
          <p:cNvSpPr/>
          <p:nvPr/>
        </p:nvSpPr>
        <p:spPr>
          <a:xfrm>
            <a:off x="8938260" y="2393610"/>
            <a:ext cx="2926080" cy="3688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6DFADCF-2C9C-E707-3F46-1CC7A22E775F}"/>
              </a:ext>
            </a:extLst>
          </p:cNvPr>
          <p:cNvGrpSpPr/>
          <p:nvPr/>
        </p:nvGrpSpPr>
        <p:grpSpPr>
          <a:xfrm>
            <a:off x="9597390" y="1583497"/>
            <a:ext cx="495300" cy="5017770"/>
            <a:chOff x="9597390" y="1435394"/>
            <a:chExt cx="495300" cy="5017770"/>
          </a:xfrm>
        </p:grpSpPr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7F0F94DE-3E0B-86FA-D2C0-D13200C89336}"/>
                </a:ext>
              </a:extLst>
            </p:cNvPr>
            <p:cNvGrpSpPr/>
            <p:nvPr/>
          </p:nvGrpSpPr>
          <p:grpSpPr>
            <a:xfrm>
              <a:off x="9597390" y="1435395"/>
              <a:ext cx="495300" cy="4958273"/>
              <a:chOff x="9597390" y="1781617"/>
              <a:chExt cx="495300" cy="4958273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EE121037-825E-9F15-0771-18E9495E84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97390" y="4823460"/>
                <a:ext cx="495300" cy="1916430"/>
              </a:xfrm>
              <a:prstGeom prst="rect">
                <a:avLst/>
              </a:prstGeom>
            </p:spPr>
          </p:pic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74688D65-4F86-428D-32B9-0059A0EE77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9597390" y="1781617"/>
                <a:ext cx="495300" cy="1916430"/>
              </a:xfrm>
              <a:prstGeom prst="rect">
                <a:avLst/>
              </a:prstGeom>
            </p:spPr>
          </p:pic>
        </p:grp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7A0C98E-BF40-5B44-82F3-ABE10E9FAD38}"/>
                </a:ext>
              </a:extLst>
            </p:cNvPr>
            <p:cNvSpPr/>
            <p:nvPr/>
          </p:nvSpPr>
          <p:spPr>
            <a:xfrm>
              <a:off x="9610725" y="1435394"/>
              <a:ext cx="468630" cy="5017770"/>
            </a:xfrm>
            <a:prstGeom prst="rect">
              <a:avLst/>
            </a:prstGeom>
            <a:noFill/>
            <a:ln>
              <a:solidFill>
                <a:srgbClr val="EE3F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339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B55C-1E01-037F-A1BA-0961363A7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C074-A07D-1D49-2350-7AE7E646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Pipe</a:t>
            </a:r>
            <a:r>
              <a:rPr lang="zh-TW" altLang="en-US" dirty="0"/>
              <a:t>類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32856BC-55F8-CC15-A93C-81EC8AEB3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1" y="1290127"/>
            <a:ext cx="8000469" cy="532784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/>
              <a:t>設計的</a:t>
            </a:r>
            <a:r>
              <a:rPr lang="en-US" altLang="zh-TW" sz="2400" dirty="0"/>
              <a:t>Pipe</a:t>
            </a:r>
            <a:r>
              <a:rPr lang="zh-TW" altLang="en-US" sz="2400" dirty="0"/>
              <a:t>類為了兼容上下</a:t>
            </a:r>
            <a:r>
              <a:rPr lang="en-US" altLang="zh-TW" sz="2400" dirty="0"/>
              <a:t>pipe</a:t>
            </a:r>
            <a:r>
              <a:rPr lang="zh-TW" altLang="en-US" sz="2400" dirty="0"/>
              <a:t>的圖像，需要在初始化時有一個變量</a:t>
            </a:r>
            <a:r>
              <a:rPr lang="en-US" altLang="zh-TW" sz="2400" i="1" dirty="0"/>
              <a:t>inverted</a:t>
            </a:r>
            <a:r>
              <a:rPr lang="zh-TW" altLang="en-US" sz="2400" dirty="0"/>
              <a:t>判斷是正放還是倒放</a:t>
            </a:r>
            <a:endParaRPr lang="en-US" altLang="zh-TW" sz="24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/>
              <a:t>思考一下</a:t>
            </a:r>
            <a:r>
              <a:rPr lang="en-US" altLang="zh-TW" sz="2400" dirty="0"/>
              <a:t>: </a:t>
            </a:r>
            <a:r>
              <a:rPr lang="zh-TW" altLang="en-US" sz="2400" dirty="0"/>
              <a:t>如何決定</a:t>
            </a:r>
            <a:r>
              <a:rPr lang="en-US" altLang="zh-TW" sz="2400" dirty="0"/>
              <a:t>pipe</a:t>
            </a:r>
            <a:r>
              <a:rPr lang="zh-TW" altLang="en-US" sz="2400" dirty="0"/>
              <a:t>的</a:t>
            </a:r>
            <a:r>
              <a:rPr lang="en-US" altLang="zh-TW" sz="2400" dirty="0"/>
              <a:t>y</a:t>
            </a:r>
            <a:r>
              <a:rPr lang="zh-TW" altLang="en-US" sz="2400" dirty="0"/>
              <a:t>方向位置</a:t>
            </a:r>
            <a:r>
              <a:rPr lang="en-US" altLang="zh-TW" sz="2400" dirty="0"/>
              <a:t>?</a:t>
            </a:r>
          </a:p>
          <a:p>
            <a:pPr lvl="1" algn="just">
              <a:spcBef>
                <a:spcPts val="2400"/>
              </a:spcBef>
            </a:pPr>
            <a:r>
              <a:rPr lang="zh-TW" altLang="en-US" sz="2200" dirty="0">
                <a:solidFill>
                  <a:srgbClr val="FF0000"/>
                </a:solidFill>
              </a:rPr>
              <a:t>為了實現在顯示上管的長短不一，需要把圖繪出視窗外</a:t>
            </a:r>
            <a:r>
              <a:rPr lang="en-US" altLang="zh-TW" sz="2200" dirty="0">
                <a:solidFill>
                  <a:srgbClr val="FF0000"/>
                </a:solidFill>
              </a:rPr>
              <a:t>!</a:t>
            </a:r>
          </a:p>
          <a:p>
            <a:pPr lvl="1" algn="just">
              <a:spcBef>
                <a:spcPts val="2400"/>
              </a:spcBef>
            </a:pPr>
            <a:r>
              <a:rPr lang="zh-TW" altLang="en-US" sz="2200" dirty="0"/>
              <a:t>如果采用</a:t>
            </a:r>
            <a:r>
              <a:rPr lang="en-US" altLang="zh-TW" sz="2200" dirty="0"/>
              <a:t>y</a:t>
            </a:r>
            <a:r>
              <a:rPr lang="zh-TW" altLang="en-US" sz="2200" dirty="0"/>
              <a:t>方向位置隨機生成的做法，會有</a:t>
            </a:r>
            <a:r>
              <a:rPr lang="en-US" altLang="zh-TW" sz="2200" dirty="0"/>
              <a:t>pipe</a:t>
            </a:r>
            <a:r>
              <a:rPr lang="zh-TW" altLang="en-US" sz="2200" dirty="0"/>
              <a:t>間間隔隨機的情況出現，如右圖</a:t>
            </a:r>
            <a:endParaRPr lang="en-US" altLang="zh-TW" sz="2200" dirty="0"/>
          </a:p>
          <a:p>
            <a:pPr lvl="1" algn="just">
              <a:spcBef>
                <a:spcPts val="2400"/>
              </a:spcBef>
            </a:pPr>
            <a:r>
              <a:rPr lang="zh-TW" altLang="en-US" sz="2200" dirty="0"/>
              <a:t>上下</a:t>
            </a:r>
            <a:r>
              <a:rPr lang="en-US" altLang="zh-TW" sz="2200" dirty="0"/>
              <a:t>pipe</a:t>
            </a:r>
            <a:r>
              <a:rPr lang="zh-TW" altLang="en-US" sz="2200" dirty="0"/>
              <a:t>間的距離是恒定的，需要由外部去決定上下</a:t>
            </a:r>
            <a:r>
              <a:rPr lang="en-US" altLang="zh-TW" sz="2400" dirty="0"/>
              <a:t>Pipe</a:t>
            </a:r>
            <a:r>
              <a:rPr lang="zh-TW" altLang="en-US" sz="2400" dirty="0"/>
              <a:t>的</a:t>
            </a:r>
            <a:r>
              <a:rPr lang="en-US" altLang="zh-TW" sz="2400" dirty="0"/>
              <a:t>y</a:t>
            </a:r>
            <a:r>
              <a:rPr lang="zh-TW" altLang="en-US" sz="2400" dirty="0"/>
              <a:t>方向位置</a:t>
            </a:r>
            <a:endParaRPr lang="en-US" altLang="zh-TW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0EFAB8-80B1-35EB-8E20-1D3845103770}"/>
              </a:ext>
            </a:extLst>
          </p:cNvPr>
          <p:cNvSpPr/>
          <p:nvPr/>
        </p:nvSpPr>
        <p:spPr>
          <a:xfrm>
            <a:off x="8938259" y="1531620"/>
            <a:ext cx="2624559" cy="41775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67F96AE-D8F7-FAF0-1C41-44129CA0F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468384" y="1148852"/>
            <a:ext cx="495300" cy="191643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136977C-B1D6-740D-6CC2-B0EE003C9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6895" y="3888943"/>
            <a:ext cx="495300" cy="191643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EF8E35B-3C80-9D02-8722-2DC356299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8937" y="4004310"/>
            <a:ext cx="495300" cy="191643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2DE521A-6C24-956B-6218-50AC07758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515601" y="190637"/>
            <a:ext cx="495300" cy="1916430"/>
          </a:xfrm>
          <a:prstGeom prst="rect">
            <a:avLst/>
          </a:prstGeom>
        </p:spPr>
      </p:pic>
      <p:sp>
        <p:nvSpPr>
          <p:cNvPr id="12" name="右大括弧 11">
            <a:extLst>
              <a:ext uri="{FF2B5EF4-FFF2-40B4-BE49-F238E27FC236}">
                <a16:creationId xmlns:a16="http://schemas.microsoft.com/office/drawing/2014/main" id="{9862357C-0473-AB40-5502-A0A11DA895D0}"/>
              </a:ext>
            </a:extLst>
          </p:cNvPr>
          <p:cNvSpPr/>
          <p:nvPr/>
        </p:nvSpPr>
        <p:spPr>
          <a:xfrm>
            <a:off x="11024237" y="2107066"/>
            <a:ext cx="181046" cy="1801019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8C03D7E-21C7-98C3-3175-B6134CBA2AB8}"/>
              </a:ext>
            </a:extLst>
          </p:cNvPr>
          <p:cNvSpPr txBox="1"/>
          <p:nvPr/>
        </p:nvSpPr>
        <p:spPr>
          <a:xfrm>
            <a:off x="11352432" y="2880616"/>
            <a:ext cx="697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間距</a:t>
            </a:r>
            <a:endParaRPr lang="zh-HK" altLang="en-US" dirty="0"/>
          </a:p>
        </p:txBody>
      </p:sp>
      <p:sp>
        <p:nvSpPr>
          <p:cNvPr id="15" name="右大括弧 14">
            <a:extLst>
              <a:ext uri="{FF2B5EF4-FFF2-40B4-BE49-F238E27FC236}">
                <a16:creationId xmlns:a16="http://schemas.microsoft.com/office/drawing/2014/main" id="{C37B7F52-38B3-6702-4AE3-E5112A87EDFF}"/>
              </a:ext>
            </a:extLst>
          </p:cNvPr>
          <p:cNvSpPr/>
          <p:nvPr/>
        </p:nvSpPr>
        <p:spPr>
          <a:xfrm>
            <a:off x="10042092" y="3065282"/>
            <a:ext cx="162229" cy="842803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340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878D-9F07-1C59-B373-80A06784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EA08D-1261-9D1D-F786-99F43096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Pipe</a:t>
            </a:r>
            <a:r>
              <a:rPr lang="zh-TW" altLang="en-US" dirty="0"/>
              <a:t>類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DFB6F414-025D-4C74-FB7F-BCE57C422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1" y="1290127"/>
            <a:ext cx="8000469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/>
              <a:t>因此，</a:t>
            </a:r>
            <a:r>
              <a:rPr lang="en-US" altLang="zh-TW" sz="2400" dirty="0"/>
              <a:t>Pipe</a:t>
            </a:r>
            <a:r>
              <a:rPr lang="zh-TW" altLang="en-US" sz="2400" dirty="0"/>
              <a:t>類的設計為初始化時需要填入</a:t>
            </a:r>
            <a:endParaRPr lang="en-US" altLang="zh-TW" sz="24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決定圖像正反的</a:t>
            </a:r>
            <a:r>
              <a:rPr lang="en-US" altLang="zh-TW" sz="2200" i="1" dirty="0">
                <a:solidFill>
                  <a:srgbClr val="FF0000"/>
                </a:solidFill>
              </a:rPr>
              <a:t>inverted</a:t>
            </a:r>
            <a:r>
              <a:rPr lang="zh-TW" altLang="en-US" sz="2200" dirty="0"/>
              <a:t>變量</a:t>
            </a:r>
            <a:endParaRPr lang="en-US" altLang="zh-TW" sz="22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決定</a:t>
            </a:r>
            <a:r>
              <a:rPr lang="en-US" altLang="zh-TW" sz="2200" dirty="0"/>
              <a:t>pipe x</a:t>
            </a:r>
            <a:r>
              <a:rPr lang="zh-TW" altLang="en-US" sz="2200" dirty="0"/>
              <a:t>位置的</a:t>
            </a:r>
            <a:r>
              <a:rPr lang="en-US" altLang="zh-TW" sz="2200" i="1" dirty="0" err="1">
                <a:solidFill>
                  <a:srgbClr val="FF0000"/>
                </a:solidFill>
              </a:rPr>
              <a:t>init_xpos</a:t>
            </a:r>
            <a:endParaRPr lang="en-US" altLang="zh-TW" sz="2200" i="1" dirty="0">
              <a:solidFill>
                <a:srgbClr val="FF0000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決定</a:t>
            </a:r>
            <a:r>
              <a:rPr lang="en-US" altLang="zh-TW" sz="2200" dirty="0"/>
              <a:t>pipe </a:t>
            </a:r>
            <a:r>
              <a:rPr lang="zh-TW" altLang="en-US" sz="2200" dirty="0"/>
              <a:t>顥示出來多少長度的變量</a:t>
            </a:r>
            <a:r>
              <a:rPr lang="en-US" altLang="zh-TW" sz="2200" i="1" dirty="0" err="1">
                <a:solidFill>
                  <a:srgbClr val="FF0000"/>
                </a:solidFill>
              </a:rPr>
              <a:t>show_height</a:t>
            </a:r>
            <a:endParaRPr lang="en-US" altLang="zh-TW" sz="2200" i="1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129BAD-A825-B291-A4D7-57E49A053780}"/>
              </a:ext>
            </a:extLst>
          </p:cNvPr>
          <p:cNvSpPr/>
          <p:nvPr/>
        </p:nvSpPr>
        <p:spPr>
          <a:xfrm>
            <a:off x="8938259" y="1531620"/>
            <a:ext cx="2624559" cy="41775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5F24B338-4B95-F3B5-9431-5C6F0D4F6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858501" y="609600"/>
            <a:ext cx="495300" cy="1916430"/>
          </a:xfrm>
          <a:prstGeom prst="rect">
            <a:avLst/>
          </a:prstGeom>
        </p:spPr>
      </p:pic>
      <p:sp>
        <p:nvSpPr>
          <p:cNvPr id="9" name="右大括弧 8">
            <a:extLst>
              <a:ext uri="{FF2B5EF4-FFF2-40B4-BE49-F238E27FC236}">
                <a16:creationId xmlns:a16="http://schemas.microsoft.com/office/drawing/2014/main" id="{DDD152D4-1E36-292C-2C39-8590A1CB1C70}"/>
              </a:ext>
            </a:extLst>
          </p:cNvPr>
          <p:cNvSpPr/>
          <p:nvPr/>
        </p:nvSpPr>
        <p:spPr>
          <a:xfrm rot="16200000">
            <a:off x="9850746" y="427640"/>
            <a:ext cx="114117" cy="1901392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F77225D-6AF7-D794-A72B-57E9CD7582F0}"/>
              </a:ext>
            </a:extLst>
          </p:cNvPr>
          <p:cNvSpPr txBox="1"/>
          <p:nvPr/>
        </p:nvSpPr>
        <p:spPr>
          <a:xfrm>
            <a:off x="9322155" y="964186"/>
            <a:ext cx="132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 err="1"/>
              <a:t>init_xpos</a:t>
            </a:r>
            <a:endParaRPr lang="zh-HK" altLang="en-US" dirty="0"/>
          </a:p>
        </p:txBody>
      </p:sp>
      <p:sp>
        <p:nvSpPr>
          <p:cNvPr id="16" name="右大括弧 15">
            <a:extLst>
              <a:ext uri="{FF2B5EF4-FFF2-40B4-BE49-F238E27FC236}">
                <a16:creationId xmlns:a16="http://schemas.microsoft.com/office/drawing/2014/main" id="{1D66D973-258A-2819-39AC-C57E6B6A5250}"/>
              </a:ext>
            </a:extLst>
          </p:cNvPr>
          <p:cNvSpPr/>
          <p:nvPr/>
        </p:nvSpPr>
        <p:spPr>
          <a:xfrm rot="10800000">
            <a:off x="10673025" y="1567814"/>
            <a:ext cx="185475" cy="958215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643B350-1087-8B1B-8547-5AD8482F81C7}"/>
              </a:ext>
            </a:extLst>
          </p:cNvPr>
          <p:cNvSpPr txBox="1"/>
          <p:nvPr/>
        </p:nvSpPr>
        <p:spPr>
          <a:xfrm>
            <a:off x="9146137" y="1860529"/>
            <a:ext cx="1840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 err="1"/>
              <a:t>show_height</a:t>
            </a:r>
            <a:endParaRPr lang="zh-HK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1E875D9-5F09-D363-0F19-EBEDACE295CF}"/>
              </a:ext>
            </a:extLst>
          </p:cNvPr>
          <p:cNvSpPr txBox="1"/>
          <p:nvPr/>
        </p:nvSpPr>
        <p:spPr>
          <a:xfrm>
            <a:off x="9793871" y="6053297"/>
            <a:ext cx="2624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Inverted = False</a:t>
            </a:r>
            <a:endParaRPr lang="zh-HK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6773FAD7-751E-DCB0-FB2D-0951C3B69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293" y="4167347"/>
            <a:ext cx="495300" cy="1916430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64A2B111-4CCD-E6ED-37E4-09A66ECACFBF}"/>
              </a:ext>
            </a:extLst>
          </p:cNvPr>
          <p:cNvSpPr txBox="1"/>
          <p:nvPr/>
        </p:nvSpPr>
        <p:spPr>
          <a:xfrm>
            <a:off x="10250538" y="222171"/>
            <a:ext cx="2624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Inverted = True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723402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EBD68-BDC5-9669-C81C-B33C7F10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06B5-47D8-B62F-03BE-CD885F2C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Pipe</a:t>
            </a:r>
            <a:r>
              <a:rPr lang="zh-TW" altLang="en-US" dirty="0"/>
              <a:t>類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7C2BF1B-8544-01E8-01D7-EC7201508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1" y="1290127"/>
            <a:ext cx="6152789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/>
              <a:t>對於</a:t>
            </a:r>
            <a:r>
              <a:rPr lang="en-US" altLang="zh-TW" sz="2400" dirty="0"/>
              <a:t>inverted=True</a:t>
            </a:r>
            <a:r>
              <a:rPr lang="zh-TW" altLang="en-US" sz="2400" dirty="0"/>
              <a:t>即倒轉</a:t>
            </a:r>
            <a:r>
              <a:rPr lang="en-US" altLang="zh-TW" sz="2400" dirty="0"/>
              <a:t>Pipe</a:t>
            </a:r>
            <a:r>
              <a:rPr lang="zh-TW" altLang="en-US" sz="2400" dirty="0"/>
              <a:t>，如果想實現只有</a:t>
            </a:r>
            <a:r>
              <a:rPr lang="en-US" altLang="zh-TW" sz="2400" dirty="0" err="1"/>
              <a:t>show_height</a:t>
            </a:r>
            <a:r>
              <a:rPr lang="zh-TW" altLang="en-US" sz="2400" dirty="0"/>
              <a:t>的長度顯示在畫面上，其</a:t>
            </a:r>
            <a:r>
              <a:rPr lang="en-US" altLang="zh-TW" sz="2400" dirty="0" err="1"/>
              <a:t>rect.y</a:t>
            </a:r>
            <a:r>
              <a:rPr lang="en-US" altLang="zh-TW" sz="2400" dirty="0"/>
              <a:t> = </a:t>
            </a:r>
            <a:r>
              <a:rPr lang="en-US" altLang="zh-TW" sz="2400" dirty="0" err="1"/>
              <a:t>show_height</a:t>
            </a:r>
            <a:r>
              <a:rPr lang="en-US" altLang="zh-TW" sz="2400" dirty="0"/>
              <a:t> – PIPE_HEIGHT</a:t>
            </a:r>
          </a:p>
          <a:p>
            <a:pPr marL="0" indent="0" algn="just">
              <a:lnSpc>
                <a:spcPct val="150000"/>
              </a:lnSpc>
              <a:spcBef>
                <a:spcPts val="1800"/>
              </a:spcBef>
              <a:buNone/>
            </a:pPr>
            <a:endParaRPr lang="en-US" altLang="zh-TW" sz="24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/>
              <a:t>對於</a:t>
            </a:r>
            <a:r>
              <a:rPr lang="en-US" altLang="zh-TW" sz="2400" dirty="0"/>
              <a:t>inverted=False</a:t>
            </a:r>
            <a:r>
              <a:rPr lang="zh-TW" altLang="en-US" sz="2400" dirty="0"/>
              <a:t>即倒正放的</a:t>
            </a:r>
            <a:r>
              <a:rPr lang="en-US" altLang="zh-TW" sz="2400" dirty="0"/>
              <a:t>Pipe</a:t>
            </a:r>
            <a:r>
              <a:rPr lang="zh-TW" altLang="en-US" sz="2400" dirty="0"/>
              <a:t>，如果想實現只有</a:t>
            </a:r>
            <a:r>
              <a:rPr lang="en-US" altLang="zh-TW" sz="2400" dirty="0" err="1"/>
              <a:t>show_height</a:t>
            </a:r>
            <a:r>
              <a:rPr lang="zh-TW" altLang="en-US" sz="2400" dirty="0"/>
              <a:t>的長度顯示在畫面上，其</a:t>
            </a:r>
            <a:r>
              <a:rPr lang="en-US" altLang="zh-TW" sz="2400" dirty="0" err="1"/>
              <a:t>rect.y</a:t>
            </a:r>
            <a:r>
              <a:rPr lang="en-US" altLang="zh-TW" sz="2400" dirty="0"/>
              <a:t> = SCREEN_HEIGHT – </a:t>
            </a:r>
            <a:r>
              <a:rPr lang="en-US" altLang="zh-TW" sz="2400" dirty="0" err="1"/>
              <a:t>show_height</a:t>
            </a:r>
            <a:endParaRPr lang="en-US" altLang="zh-TW" sz="24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endParaRPr lang="en-US" altLang="zh-TW" sz="2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DE2580-60F8-692B-B6C0-6F2F29B64D21}"/>
              </a:ext>
            </a:extLst>
          </p:cNvPr>
          <p:cNvSpPr/>
          <p:nvPr/>
        </p:nvSpPr>
        <p:spPr>
          <a:xfrm>
            <a:off x="8138219" y="1646804"/>
            <a:ext cx="3556233" cy="41775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31103C4-833B-90B1-4530-25FC9A12A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784081" y="609604"/>
            <a:ext cx="495300" cy="1916430"/>
          </a:xfrm>
          <a:prstGeom prst="rect">
            <a:avLst/>
          </a:prstGeom>
        </p:spPr>
      </p:pic>
      <p:sp>
        <p:nvSpPr>
          <p:cNvPr id="16" name="右大括弧 15">
            <a:extLst>
              <a:ext uri="{FF2B5EF4-FFF2-40B4-BE49-F238E27FC236}">
                <a16:creationId xmlns:a16="http://schemas.microsoft.com/office/drawing/2014/main" id="{84CC1DFC-8F8A-E8F8-27BB-DDB919F22F0B}"/>
              </a:ext>
            </a:extLst>
          </p:cNvPr>
          <p:cNvSpPr/>
          <p:nvPr/>
        </p:nvSpPr>
        <p:spPr>
          <a:xfrm rot="10800000">
            <a:off x="9598605" y="1646803"/>
            <a:ext cx="161148" cy="879229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DB04C54-772B-C2FF-DA8D-21F5507F2666}"/>
              </a:ext>
            </a:extLst>
          </p:cNvPr>
          <p:cNvSpPr txBox="1"/>
          <p:nvPr/>
        </p:nvSpPr>
        <p:spPr>
          <a:xfrm>
            <a:off x="8118187" y="1862259"/>
            <a:ext cx="1840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 err="1"/>
              <a:t>show_height</a:t>
            </a:r>
            <a:endParaRPr lang="zh-HK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199CA5F7-9AD3-49F1-1696-89D439FF0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873" y="4167351"/>
            <a:ext cx="495300" cy="1916430"/>
          </a:xfrm>
          <a:prstGeom prst="rect">
            <a:avLst/>
          </a:prstGeom>
        </p:spPr>
      </p:pic>
      <p:sp>
        <p:nvSpPr>
          <p:cNvPr id="23" name="右大括弧 22">
            <a:extLst>
              <a:ext uri="{FF2B5EF4-FFF2-40B4-BE49-F238E27FC236}">
                <a16:creationId xmlns:a16="http://schemas.microsoft.com/office/drawing/2014/main" id="{75D8EBC1-4593-FAFA-82EB-5D0C3146C1E8}"/>
              </a:ext>
            </a:extLst>
          </p:cNvPr>
          <p:cNvSpPr/>
          <p:nvPr/>
        </p:nvSpPr>
        <p:spPr>
          <a:xfrm rot="10800000" flipH="1">
            <a:off x="10328643" y="609600"/>
            <a:ext cx="188938" cy="1916431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A581D2A-7328-4A05-58DE-EE24869E7FE9}"/>
              </a:ext>
            </a:extLst>
          </p:cNvPr>
          <p:cNvSpPr txBox="1"/>
          <p:nvPr/>
        </p:nvSpPr>
        <p:spPr>
          <a:xfrm>
            <a:off x="10423112" y="1646804"/>
            <a:ext cx="1840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PIPE_HEIGHT</a:t>
            </a:r>
            <a:endParaRPr lang="zh-HK" altLang="en-US" dirty="0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F2360C66-9AB0-90B4-D9CF-48AA9010277A}"/>
              </a:ext>
            </a:extLst>
          </p:cNvPr>
          <p:cNvCxnSpPr>
            <a:cxnSpLocks/>
          </p:cNvCxnSpPr>
          <p:nvPr/>
        </p:nvCxnSpPr>
        <p:spPr>
          <a:xfrm flipH="1" flipV="1">
            <a:off x="9637577" y="609600"/>
            <a:ext cx="18880" cy="103720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4D0D85F-37CC-2207-EE00-0341AFE3D81C}"/>
              </a:ext>
            </a:extLst>
          </p:cNvPr>
          <p:cNvSpPr txBox="1"/>
          <p:nvPr/>
        </p:nvSpPr>
        <p:spPr>
          <a:xfrm>
            <a:off x="6888481" y="240268"/>
            <a:ext cx="6286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 err="1"/>
              <a:t>show_height</a:t>
            </a:r>
            <a:r>
              <a:rPr lang="en-US" altLang="zh-TW" sz="1800" dirty="0"/>
              <a:t> – PIPE_HEIGHT</a:t>
            </a:r>
            <a:endParaRPr lang="zh-HK" altLang="en-US" dirty="0"/>
          </a:p>
        </p:txBody>
      </p:sp>
      <p:sp>
        <p:nvSpPr>
          <p:cNvPr id="29" name="右大括弧 28">
            <a:extLst>
              <a:ext uri="{FF2B5EF4-FFF2-40B4-BE49-F238E27FC236}">
                <a16:creationId xmlns:a16="http://schemas.microsoft.com/office/drawing/2014/main" id="{7C10C046-CD6A-1114-4798-B0B890416173}"/>
              </a:ext>
            </a:extLst>
          </p:cNvPr>
          <p:cNvSpPr/>
          <p:nvPr/>
        </p:nvSpPr>
        <p:spPr>
          <a:xfrm rot="10800000" flipH="1">
            <a:off x="10236173" y="4167350"/>
            <a:ext cx="188938" cy="1916431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70CD1D8-10CD-BD9B-9AFB-6EEED11E8CBE}"/>
              </a:ext>
            </a:extLst>
          </p:cNvPr>
          <p:cNvSpPr txBox="1"/>
          <p:nvPr/>
        </p:nvSpPr>
        <p:spPr>
          <a:xfrm>
            <a:off x="10330642" y="5204554"/>
            <a:ext cx="1840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PIPE_HEIGHT</a:t>
            </a:r>
            <a:endParaRPr lang="zh-HK" altLang="en-US" dirty="0"/>
          </a:p>
        </p:txBody>
      </p:sp>
      <p:sp>
        <p:nvSpPr>
          <p:cNvPr id="31" name="右大括弧 30">
            <a:extLst>
              <a:ext uri="{FF2B5EF4-FFF2-40B4-BE49-F238E27FC236}">
                <a16:creationId xmlns:a16="http://schemas.microsoft.com/office/drawing/2014/main" id="{AE077339-7592-91E2-CB1E-BAB28B72384F}"/>
              </a:ext>
            </a:extLst>
          </p:cNvPr>
          <p:cNvSpPr/>
          <p:nvPr/>
        </p:nvSpPr>
        <p:spPr>
          <a:xfrm rot="10800000">
            <a:off x="9499849" y="4226287"/>
            <a:ext cx="167434" cy="1598044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56F7E4F-40BB-8119-D29F-08EBBF3D903B}"/>
              </a:ext>
            </a:extLst>
          </p:cNvPr>
          <p:cNvSpPr txBox="1"/>
          <p:nvPr/>
        </p:nvSpPr>
        <p:spPr>
          <a:xfrm>
            <a:off x="8019431" y="4441744"/>
            <a:ext cx="1840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 err="1"/>
              <a:t>show_height</a:t>
            </a:r>
            <a:endParaRPr lang="zh-HK" altLang="en-US" dirty="0"/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247C2E41-3FF1-314D-364C-E510BAC0A2CE}"/>
              </a:ext>
            </a:extLst>
          </p:cNvPr>
          <p:cNvCxnSpPr>
            <a:cxnSpLocks/>
          </p:cNvCxnSpPr>
          <p:nvPr/>
        </p:nvCxnSpPr>
        <p:spPr>
          <a:xfrm>
            <a:off x="9122185" y="3662183"/>
            <a:ext cx="614053" cy="52011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49ED2CC-DB52-1F29-9C20-17C4384F2D8D}"/>
              </a:ext>
            </a:extLst>
          </p:cNvPr>
          <p:cNvSpPr txBox="1"/>
          <p:nvPr/>
        </p:nvSpPr>
        <p:spPr>
          <a:xfrm>
            <a:off x="8019431" y="3054060"/>
            <a:ext cx="19381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SCREEN_HEIGHT – </a:t>
            </a:r>
            <a:r>
              <a:rPr lang="en-US" altLang="zh-TW" sz="1800" dirty="0" err="1"/>
              <a:t>show_height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631876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60BA8-FAC6-BBAB-10A4-251C3D4E4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CB09-D634-08E9-CCD7-E1CF43E49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Pipe</a:t>
            </a:r>
            <a:r>
              <a:rPr lang="zh-TW" altLang="en-US" dirty="0"/>
              <a:t>類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92E88B5-AE9D-FC1C-7EE8-5F361DD03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10972269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/>
              <a:t>Pipe</a:t>
            </a:r>
            <a:r>
              <a:rPr lang="zh-TW" altLang="en-US" sz="2200" dirty="0"/>
              <a:t>類的</a:t>
            </a:r>
            <a:r>
              <a:rPr lang="en-US" altLang="zh-TW" sz="2200" dirty="0"/>
              <a:t>update()</a:t>
            </a:r>
            <a:r>
              <a:rPr lang="zh-TW" altLang="en-US" sz="2200" dirty="0">
                <a:solidFill>
                  <a:srgbClr val="FF0000"/>
                </a:solidFill>
              </a:rPr>
              <a:t>暫時</a:t>
            </a:r>
            <a:r>
              <a:rPr lang="zh-TW" altLang="en-US" sz="2200" dirty="0"/>
              <a:t>使用一直向左</a:t>
            </a:r>
            <a:r>
              <a:rPr lang="en-US" altLang="zh-TW" sz="2200" dirty="0" err="1"/>
              <a:t>self.rect.x</a:t>
            </a:r>
            <a:r>
              <a:rPr lang="en-US" altLang="zh-TW" sz="2200" dirty="0"/>
              <a:t> -= </a:t>
            </a:r>
            <a:r>
              <a:rPr lang="en-US" altLang="zh-TW" sz="2200" dirty="0" err="1"/>
              <a:t>self.speed</a:t>
            </a:r>
            <a:r>
              <a:rPr lang="zh-TW" altLang="en-US" sz="2200" dirty="0"/>
              <a:t>，越界時復位的做法</a:t>
            </a:r>
            <a:endParaRPr lang="en-US" altLang="zh-TW" sz="22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120E5A0-7194-D096-9423-6E11E1D61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564" y="2367415"/>
            <a:ext cx="6440872" cy="186785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D86387E-24CC-EFEB-19EE-CA31B82B39C2}"/>
              </a:ext>
            </a:extLst>
          </p:cNvPr>
          <p:cNvSpPr txBox="1"/>
          <p:nvPr/>
        </p:nvSpPr>
        <p:spPr>
          <a:xfrm>
            <a:off x="82296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Pipe</a:t>
            </a:r>
            <a:r>
              <a:rPr lang="zh-TW" altLang="en-US" sz="1800" dirty="0"/>
              <a:t>類的設計詳看 </a:t>
            </a:r>
            <a:r>
              <a:rPr lang="en-US" altLang="zh-TW" sz="1800" dirty="0">
                <a:solidFill>
                  <a:srgbClr val="FF0000"/>
                </a:solidFill>
              </a:rPr>
              <a:t>1_</a:t>
            </a:r>
            <a:r>
              <a:rPr lang="zh-TW" altLang="en-US" sz="1800" dirty="0">
                <a:solidFill>
                  <a:srgbClr val="FF0000"/>
                </a:solidFill>
              </a:rPr>
              <a:t>新增單個</a:t>
            </a:r>
            <a:r>
              <a:rPr lang="en-US" altLang="zh-TW" sz="1800" dirty="0">
                <a:solidFill>
                  <a:srgbClr val="FF0000"/>
                </a:solidFill>
              </a:rPr>
              <a:t>pipe</a:t>
            </a:r>
            <a:r>
              <a:rPr lang="zh-TW" altLang="en-US" sz="1800" dirty="0">
                <a:solidFill>
                  <a:srgbClr val="FF0000"/>
                </a:solidFill>
              </a:rPr>
              <a:t>類</a:t>
            </a:r>
            <a:r>
              <a:rPr lang="en-US" altLang="zh-TW" sz="1800" dirty="0">
                <a:solidFill>
                  <a:srgbClr val="FF0000"/>
                </a:solidFill>
              </a:rPr>
              <a:t>.</a:t>
            </a:r>
            <a:r>
              <a:rPr lang="en-US" altLang="zh-TW" sz="1800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434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99EC-CBA6-04C6-E299-1F56740A6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669B-A023-F84A-6815-0C456BE27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Pipe</a:t>
            </a:r>
            <a:r>
              <a:rPr lang="zh-TW" altLang="en-US" dirty="0"/>
              <a:t>類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9AB5D32-89FB-464A-350F-50FBFC8D3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8459178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實際</a:t>
            </a:r>
            <a:r>
              <a:rPr lang="en-US" altLang="zh-TW" sz="2200" dirty="0"/>
              <a:t>Pipe</a:t>
            </a:r>
            <a:r>
              <a:rPr lang="zh-TW" altLang="en-US" sz="2200" dirty="0"/>
              <a:t>都是成對出現，因此需要使用</a:t>
            </a:r>
            <a:r>
              <a:rPr lang="en-US" altLang="zh-TW" sz="2200" dirty="0"/>
              <a:t>Group</a:t>
            </a:r>
            <a:r>
              <a:rPr lang="zh-TW" altLang="en-US" sz="2200" dirty="0"/>
              <a:t>把它們組合在一起</a:t>
            </a:r>
            <a:endParaRPr lang="en-US" altLang="zh-TW" sz="22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創建一個函數</a:t>
            </a:r>
            <a:r>
              <a:rPr lang="en-US" altLang="zh-TW" sz="2200" dirty="0" err="1"/>
              <a:t>get_random_height_pipe</a:t>
            </a:r>
            <a:r>
              <a:rPr lang="en-US" altLang="zh-TW" sz="2200" dirty="0"/>
              <a:t>()</a:t>
            </a:r>
            <a:r>
              <a:rPr lang="zh-TW" altLang="en-US" sz="2200" dirty="0"/>
              <a:t>用於創建高度隨機的成對的</a:t>
            </a:r>
            <a:r>
              <a:rPr lang="en-US" altLang="zh-TW" sz="2200" dirty="0"/>
              <a:t>Pipe: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1. </a:t>
            </a:r>
            <a:r>
              <a:rPr lang="zh-TW" altLang="en-US" sz="2000" dirty="0"/>
              <a:t>使用</a:t>
            </a:r>
            <a:r>
              <a:rPr lang="en-US" altLang="zh-TW" sz="2000" dirty="0"/>
              <a:t>random</a:t>
            </a:r>
            <a:r>
              <a:rPr lang="zh-TW" altLang="en-US" sz="2000" dirty="0"/>
              <a:t>隨機生成正放</a:t>
            </a:r>
            <a:r>
              <a:rPr lang="en-US" altLang="zh-TW" sz="2000" dirty="0"/>
              <a:t>pipe</a:t>
            </a:r>
            <a:r>
              <a:rPr lang="zh-TW" altLang="en-US" sz="2000" dirty="0"/>
              <a:t>的</a:t>
            </a:r>
            <a:r>
              <a:rPr lang="en-US" altLang="zh-TW" sz="2000" dirty="0" err="1"/>
              <a:t>show_height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2. </a:t>
            </a:r>
            <a:r>
              <a:rPr lang="zh-TW" altLang="en-US" sz="2000" dirty="0"/>
              <a:t>設置</a:t>
            </a:r>
            <a:r>
              <a:rPr lang="en-US" altLang="zh-TW" sz="2000" dirty="0"/>
              <a:t>pipe</a:t>
            </a:r>
            <a:r>
              <a:rPr lang="zh-TW" altLang="en-US" sz="2000" dirty="0"/>
              <a:t>對間的間隔常量值</a:t>
            </a:r>
            <a:r>
              <a:rPr lang="en-US" altLang="zh-TW" sz="2000" dirty="0"/>
              <a:t>TOP_DOWN_PIPE_GAP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3. invert</a:t>
            </a:r>
            <a:r>
              <a:rPr lang="zh-TW" altLang="en-US" sz="2000" dirty="0"/>
              <a:t>的</a:t>
            </a:r>
            <a:r>
              <a:rPr lang="en-US" altLang="zh-TW" sz="2000" dirty="0"/>
              <a:t>pipe</a:t>
            </a:r>
            <a:r>
              <a:rPr lang="zh-TW" altLang="en-US" sz="2000" dirty="0"/>
              <a:t>的</a:t>
            </a:r>
            <a:r>
              <a:rPr lang="en-US" altLang="zh-TW" sz="2000" dirty="0" err="1"/>
              <a:t>show_height</a:t>
            </a:r>
            <a:r>
              <a:rPr lang="zh-TW" altLang="en-US" sz="2000" dirty="0"/>
              <a:t>就自動可以計算出來</a:t>
            </a:r>
            <a:endParaRPr lang="en-US" altLang="zh-TW" sz="20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29EAF80-7761-4CBF-9407-C9F74588E310}"/>
              </a:ext>
            </a:extLst>
          </p:cNvPr>
          <p:cNvSpPr txBox="1"/>
          <p:nvPr/>
        </p:nvSpPr>
        <p:spPr>
          <a:xfrm>
            <a:off x="82296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Pipe</a:t>
            </a:r>
            <a:r>
              <a:rPr lang="zh-TW" altLang="en-US" sz="1800" dirty="0"/>
              <a:t>類的設計詳看 </a:t>
            </a:r>
            <a:r>
              <a:rPr lang="en-US" altLang="zh-TW" sz="1800" dirty="0">
                <a:solidFill>
                  <a:srgbClr val="FF0000"/>
                </a:solidFill>
              </a:rPr>
              <a:t>2_</a:t>
            </a:r>
            <a:r>
              <a:rPr lang="zh-TW" altLang="en-US" sz="1800" dirty="0">
                <a:solidFill>
                  <a:srgbClr val="FF0000"/>
                </a:solidFill>
              </a:rPr>
              <a:t>新增</a:t>
            </a:r>
            <a:r>
              <a:rPr lang="en-US" altLang="zh-TW" sz="1800" dirty="0">
                <a:solidFill>
                  <a:srgbClr val="FF0000"/>
                </a:solidFill>
              </a:rPr>
              <a:t>pipeGroup.py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FFF3F7-A3E2-53DF-A1E5-F647C8D62263}"/>
              </a:ext>
            </a:extLst>
          </p:cNvPr>
          <p:cNvSpPr/>
          <p:nvPr/>
        </p:nvSpPr>
        <p:spPr>
          <a:xfrm>
            <a:off x="9189720" y="2070872"/>
            <a:ext cx="2373100" cy="41775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D8F5007-4093-EC20-89E8-DF879C106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281629" y="1033672"/>
            <a:ext cx="495300" cy="191643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F659BD5-719A-58FB-B838-C31E23F6B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421" y="4591419"/>
            <a:ext cx="495300" cy="1916430"/>
          </a:xfrm>
          <a:prstGeom prst="rect">
            <a:avLst/>
          </a:prstGeom>
        </p:spPr>
      </p:pic>
      <p:sp>
        <p:nvSpPr>
          <p:cNvPr id="10" name="右大括弧 9">
            <a:extLst>
              <a:ext uri="{FF2B5EF4-FFF2-40B4-BE49-F238E27FC236}">
                <a16:creationId xmlns:a16="http://schemas.microsoft.com/office/drawing/2014/main" id="{B51DF208-EF29-3BE4-8093-2F62691AD3B9}"/>
              </a:ext>
            </a:extLst>
          </p:cNvPr>
          <p:cNvSpPr/>
          <p:nvPr/>
        </p:nvSpPr>
        <p:spPr>
          <a:xfrm rot="10800000">
            <a:off x="9969625" y="4608426"/>
            <a:ext cx="167434" cy="1598044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9F010DE-6C58-846A-D9A1-B88443879891}"/>
              </a:ext>
            </a:extLst>
          </p:cNvPr>
          <p:cNvSpPr txBox="1"/>
          <p:nvPr/>
        </p:nvSpPr>
        <p:spPr>
          <a:xfrm>
            <a:off x="6299043" y="5222782"/>
            <a:ext cx="40772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random_</a:t>
            </a:r>
            <a:r>
              <a:rPr lang="zh-TW" altLang="en-US" dirty="0"/>
              <a:t>隨</a:t>
            </a:r>
            <a:r>
              <a:rPr lang="zh-TW" altLang="en-US" sz="1800" dirty="0"/>
              <a:t>機值</a:t>
            </a:r>
            <a:r>
              <a:rPr lang="en-US" altLang="zh-TW" sz="1800" dirty="0"/>
              <a:t>:</a:t>
            </a:r>
            <a:r>
              <a:rPr lang="en-US" altLang="zh-TW" sz="1800" dirty="0" err="1"/>
              <a:t>show_pipe_height</a:t>
            </a:r>
            <a:endParaRPr lang="zh-HK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0BA061C-37ED-A1D1-3A0B-B49EB72BD1E2}"/>
              </a:ext>
            </a:extLst>
          </p:cNvPr>
          <p:cNvSpPr txBox="1"/>
          <p:nvPr/>
        </p:nvSpPr>
        <p:spPr>
          <a:xfrm>
            <a:off x="7685570" y="3370147"/>
            <a:ext cx="2503170" cy="378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TOP_DOWN_PIPE_GAP</a:t>
            </a:r>
            <a:endParaRPr lang="zh-HK" altLang="en-US" dirty="0"/>
          </a:p>
        </p:txBody>
      </p:sp>
      <p:sp>
        <p:nvSpPr>
          <p:cNvPr id="14" name="右大括弧 13">
            <a:extLst>
              <a:ext uri="{FF2B5EF4-FFF2-40B4-BE49-F238E27FC236}">
                <a16:creationId xmlns:a16="http://schemas.microsoft.com/office/drawing/2014/main" id="{31CBAE17-10CF-30E3-8C9C-2143B59F1876}"/>
              </a:ext>
            </a:extLst>
          </p:cNvPr>
          <p:cNvSpPr/>
          <p:nvPr/>
        </p:nvSpPr>
        <p:spPr>
          <a:xfrm rot="10800000">
            <a:off x="10098437" y="2950102"/>
            <a:ext cx="103940" cy="1598044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5" name="右大括弧 14">
            <a:extLst>
              <a:ext uri="{FF2B5EF4-FFF2-40B4-BE49-F238E27FC236}">
                <a16:creationId xmlns:a16="http://schemas.microsoft.com/office/drawing/2014/main" id="{D24D40B4-C1C8-52BE-A41F-D93E3D7774A3}"/>
              </a:ext>
            </a:extLst>
          </p:cNvPr>
          <p:cNvSpPr/>
          <p:nvPr/>
        </p:nvSpPr>
        <p:spPr>
          <a:xfrm rot="10800000" flipH="1">
            <a:off x="10856181" y="2070871"/>
            <a:ext cx="201509" cy="840159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B11917F-6763-E74B-7BA8-5F9AD32F95BC}"/>
              </a:ext>
            </a:extLst>
          </p:cNvPr>
          <p:cNvSpPr txBox="1"/>
          <p:nvPr/>
        </p:nvSpPr>
        <p:spPr>
          <a:xfrm>
            <a:off x="5474971" y="541672"/>
            <a:ext cx="6377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SCREEN_HEIGHT - TOP_DOWN_PIPE_GAP - </a:t>
            </a:r>
            <a:r>
              <a:rPr lang="en-US" altLang="zh-TW" sz="1800" dirty="0" err="1"/>
              <a:t>show_pipe_height</a:t>
            </a:r>
            <a:endParaRPr lang="zh-HK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82CA4D8-FC1B-668B-F4C7-19EEDCEABE99}"/>
              </a:ext>
            </a:extLst>
          </p:cNvPr>
          <p:cNvCxnSpPr>
            <a:cxnSpLocks/>
          </p:cNvCxnSpPr>
          <p:nvPr/>
        </p:nvCxnSpPr>
        <p:spPr>
          <a:xfrm>
            <a:off x="11057690" y="911004"/>
            <a:ext cx="44600" cy="156391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841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86C75-D8F2-C995-B548-32DF70E54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2D775-4427-4EDA-FCC0-47CB5BA4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Pipe</a:t>
            </a:r>
            <a:r>
              <a:rPr lang="zh-TW" altLang="en-US" dirty="0"/>
              <a:t>類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2089459-14B4-EB42-8CA9-87440D8AC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1044649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大家可能會發現，遊戲中每次經過的</a:t>
            </a:r>
            <a:r>
              <a:rPr lang="en-US" altLang="zh-TW" sz="2200" dirty="0"/>
              <a:t>pipe</a:t>
            </a:r>
            <a:r>
              <a:rPr lang="zh-TW" altLang="en-US" sz="2200" dirty="0"/>
              <a:t>的高度都是恒定的，這是因為每次</a:t>
            </a:r>
            <a:r>
              <a:rPr lang="en-US" altLang="zh-TW" sz="2200" dirty="0"/>
              <a:t>render</a:t>
            </a:r>
            <a:r>
              <a:rPr lang="zh-TW" altLang="en-US" sz="2200" dirty="0"/>
              <a:t>的都是用著相同的</a:t>
            </a:r>
            <a:r>
              <a:rPr lang="en-US" altLang="zh-TW" sz="2200" dirty="0"/>
              <a:t>pipe</a:t>
            </a:r>
            <a:r>
              <a:rPr lang="zh-TW" altLang="en-US" sz="2200" dirty="0"/>
              <a:t>對象進行的畫圖。</a:t>
            </a:r>
            <a:endParaRPr lang="en-US" altLang="zh-TW" sz="22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若想實現每次經過的</a:t>
            </a:r>
            <a:r>
              <a:rPr lang="en-US" altLang="zh-TW" sz="2200" dirty="0"/>
              <a:t>pipe</a:t>
            </a:r>
            <a:r>
              <a:rPr lang="zh-TW" altLang="en-US" sz="2200" dirty="0"/>
              <a:t>的高度都有所不同，需要要創建新的</a:t>
            </a:r>
            <a:r>
              <a:rPr lang="en-US" altLang="zh-TW" sz="2200" dirty="0"/>
              <a:t>pipe</a:t>
            </a:r>
            <a:r>
              <a:rPr lang="zh-TW" altLang="en-US" sz="2200" dirty="0"/>
              <a:t>放進</a:t>
            </a:r>
            <a:r>
              <a:rPr lang="en-US" altLang="zh-TW" sz="2200" dirty="0"/>
              <a:t>Group</a:t>
            </a:r>
            <a:r>
              <a:rPr lang="zh-TW" altLang="en-US" sz="2200" dirty="0"/>
              <a:t>中</a:t>
            </a:r>
            <a:r>
              <a:rPr lang="en-US" altLang="zh-TW" sz="2200" dirty="0"/>
              <a:t>!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因此，在</a:t>
            </a:r>
            <a:r>
              <a:rPr lang="en-US" altLang="zh-TW" sz="2200" dirty="0"/>
              <a:t>update()</a:t>
            </a:r>
            <a:r>
              <a:rPr lang="zh-TW" altLang="en-US" sz="2200" dirty="0"/>
              <a:t>函數中創建一個函數</a:t>
            </a:r>
            <a:r>
              <a:rPr lang="en-US" altLang="zh-TW" sz="2200" dirty="0" err="1"/>
              <a:t>is_off_screen</a:t>
            </a:r>
            <a:r>
              <a:rPr lang="en-US" altLang="zh-TW" sz="2200" dirty="0"/>
              <a:t>()</a:t>
            </a:r>
            <a:r>
              <a:rPr lang="zh-TW" altLang="en-US" sz="2200" dirty="0"/>
              <a:t>，用於檢測當前</a:t>
            </a:r>
            <a:r>
              <a:rPr lang="en-US" altLang="zh-TW" sz="2200" dirty="0"/>
              <a:t>pipe</a:t>
            </a:r>
            <a:r>
              <a:rPr lang="zh-TW" altLang="en-US" sz="2200" dirty="0"/>
              <a:t>有沒有出界，若出界就重建一個新的</a:t>
            </a:r>
            <a:r>
              <a:rPr lang="en-US" altLang="zh-TW" sz="2200" dirty="0"/>
              <a:t>pipe</a:t>
            </a:r>
            <a:r>
              <a:rPr lang="zh-TW" altLang="en-US" sz="2200" dirty="0"/>
              <a:t>對放到</a:t>
            </a:r>
            <a:r>
              <a:rPr lang="en-US" altLang="zh-TW" sz="2200" dirty="0"/>
              <a:t>Group</a:t>
            </a:r>
            <a:r>
              <a:rPr lang="zh-TW" altLang="en-US" sz="2200" dirty="0"/>
              <a:t>中</a:t>
            </a:r>
            <a:r>
              <a:rPr lang="en-US" altLang="zh-TW" sz="2200" dirty="0"/>
              <a:t>!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endParaRPr lang="en-US" altLang="zh-TW" sz="20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7F30935-D861-E376-0AE2-D60727E7DF92}"/>
              </a:ext>
            </a:extLst>
          </p:cNvPr>
          <p:cNvSpPr txBox="1"/>
          <p:nvPr/>
        </p:nvSpPr>
        <p:spPr>
          <a:xfrm>
            <a:off x="82296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sz="1800" dirty="0">
                <a:solidFill>
                  <a:srgbClr val="FF0000"/>
                </a:solidFill>
              </a:rPr>
              <a:t>3_</a:t>
            </a:r>
            <a:r>
              <a:rPr lang="zh-TW" altLang="en-US" sz="1800" dirty="0">
                <a:solidFill>
                  <a:srgbClr val="FF0000"/>
                </a:solidFill>
              </a:rPr>
              <a:t>修改</a:t>
            </a:r>
            <a:r>
              <a:rPr lang="en-US" altLang="zh-TW" sz="1800" dirty="0">
                <a:solidFill>
                  <a:srgbClr val="FF0000"/>
                </a:solidFill>
              </a:rPr>
              <a:t>pipe</a:t>
            </a:r>
            <a:r>
              <a:rPr lang="zh-TW" altLang="en-US" sz="1800" dirty="0">
                <a:solidFill>
                  <a:srgbClr val="FF0000"/>
                </a:solidFill>
              </a:rPr>
              <a:t>的</a:t>
            </a:r>
            <a:r>
              <a:rPr lang="en-US" altLang="zh-TW" sz="1800" dirty="0">
                <a:solidFill>
                  <a:srgbClr val="FF0000"/>
                </a:solidFill>
              </a:rPr>
              <a:t>update</a:t>
            </a:r>
            <a:r>
              <a:rPr lang="zh-TW" altLang="en-US" sz="1800" dirty="0">
                <a:solidFill>
                  <a:srgbClr val="FF0000"/>
                </a:solidFill>
              </a:rPr>
              <a:t>和創建方式</a:t>
            </a:r>
            <a:r>
              <a:rPr lang="en-US" altLang="zh-TW" sz="1800" dirty="0">
                <a:solidFill>
                  <a:srgbClr val="FF0000"/>
                </a:solidFill>
              </a:rPr>
              <a:t>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718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BA0BC-7F7B-DA40-1C5C-F42ABB5B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8D0B-2112-9D7A-61CC-176D5E70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</a:t>
            </a:r>
            <a:r>
              <a:rPr lang="zh-TW" altLang="en-US" dirty="0"/>
              <a:t>碰撞檢測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10F36AA-6C0D-DAAE-239C-D89E33FC1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1044649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完成上述步驟後，</a:t>
            </a:r>
            <a:r>
              <a:rPr lang="en-US" altLang="zh-TW" sz="2200" dirty="0"/>
              <a:t>bird</a:t>
            </a:r>
            <a:r>
              <a:rPr lang="zh-TW" altLang="en-US" sz="2200" dirty="0"/>
              <a:t>，</a:t>
            </a:r>
            <a:r>
              <a:rPr lang="en-US" altLang="zh-TW" sz="2200" dirty="0"/>
              <a:t>pipe</a:t>
            </a:r>
            <a:r>
              <a:rPr lang="zh-TW" altLang="en-US" sz="2200" dirty="0"/>
              <a:t> 基本已經完成。</a:t>
            </a:r>
            <a:endParaRPr lang="en-US" altLang="zh-TW" sz="22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隨後，加上碰撞檢測功能</a:t>
            </a:r>
            <a:endParaRPr lang="en-US" altLang="zh-TW" sz="22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/>
              <a:t>需要碰撞檢測的是</a:t>
            </a:r>
            <a:r>
              <a:rPr lang="en-US" altLang="zh-TW" sz="2000" dirty="0">
                <a:solidFill>
                  <a:srgbClr val="FF0000"/>
                </a:solidFill>
              </a:rPr>
              <a:t>Bird </a:t>
            </a:r>
            <a:r>
              <a:rPr lang="zh-TW" altLang="en-US" sz="2000" dirty="0">
                <a:solidFill>
                  <a:srgbClr val="FF0000"/>
                </a:solidFill>
              </a:rPr>
              <a:t>與</a:t>
            </a:r>
            <a:r>
              <a:rPr lang="en-US" altLang="zh-TW" sz="2000" dirty="0">
                <a:solidFill>
                  <a:srgbClr val="FF0000"/>
                </a:solidFill>
              </a:rPr>
              <a:t>Pipe Group</a:t>
            </a:r>
            <a:r>
              <a:rPr lang="zh-TW" altLang="en-US" sz="2000" dirty="0"/>
              <a:t>和 </a:t>
            </a:r>
            <a:r>
              <a:rPr lang="en-US" altLang="zh-TW" sz="2000" dirty="0">
                <a:solidFill>
                  <a:srgbClr val="FF0000"/>
                </a:solidFill>
              </a:rPr>
              <a:t>Bird </a:t>
            </a:r>
            <a:r>
              <a:rPr lang="zh-TW" altLang="en-US" sz="2000" dirty="0">
                <a:solidFill>
                  <a:srgbClr val="FF0000"/>
                </a:solidFill>
              </a:rPr>
              <a:t>與 </a:t>
            </a:r>
            <a:r>
              <a:rPr lang="en-US" altLang="zh-TW" sz="2000" dirty="0">
                <a:solidFill>
                  <a:srgbClr val="FF0000"/>
                </a:solidFill>
              </a:rPr>
              <a:t>Base</a:t>
            </a:r>
            <a:r>
              <a:rPr lang="zh-TW" altLang="en-US" sz="2000" dirty="0"/>
              <a:t>，若發生碰撞遊戲馬上結束</a:t>
            </a:r>
            <a:r>
              <a:rPr lang="en-US" altLang="zh-TW" sz="2000" dirty="0"/>
              <a:t>!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5B5C2B-0BCD-328F-5E26-066AD9F421DF}"/>
              </a:ext>
            </a:extLst>
          </p:cNvPr>
          <p:cNvSpPr txBox="1"/>
          <p:nvPr/>
        </p:nvSpPr>
        <p:spPr>
          <a:xfrm>
            <a:off x="834921" y="624840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sz="1800" dirty="0">
                <a:solidFill>
                  <a:srgbClr val="FF0000"/>
                </a:solidFill>
              </a:rPr>
              <a:t>4_</a:t>
            </a:r>
            <a:r>
              <a:rPr lang="zh-TW" altLang="en-US" sz="1800" dirty="0">
                <a:solidFill>
                  <a:srgbClr val="FF0000"/>
                </a:solidFill>
              </a:rPr>
              <a:t>加入碰撞檢測</a:t>
            </a:r>
            <a:r>
              <a:rPr lang="en-US" altLang="zh-TW" sz="1800" dirty="0">
                <a:solidFill>
                  <a:srgbClr val="FF0000"/>
                </a:solidFill>
              </a:rPr>
              <a:t>.py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8A623C7-C179-060D-F64C-CB26C4E48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14245">
            <a:off x="2538544" y="4131366"/>
            <a:ext cx="875216" cy="61779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4D24A8A-996D-AA18-8947-1D676A430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8305270" y="3506734"/>
            <a:ext cx="355077" cy="13738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B57C87C-EA67-64BC-474B-1E14CD2DF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270" y="5406389"/>
            <a:ext cx="355077" cy="137387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BBCE598-4093-B312-CD08-1FEE8733B2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520" y="4880609"/>
            <a:ext cx="2938617" cy="97953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9B3000D-E1D3-1486-4B87-CD81DAC05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007560">
            <a:off x="7515681" y="4603251"/>
            <a:ext cx="875216" cy="61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06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A98D2-6C78-964F-3A98-F164ACD4F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9B562-627A-5B39-D0EF-1B810D29F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</a:t>
            </a:r>
            <a:r>
              <a:rPr lang="zh-TW" altLang="en-US" dirty="0"/>
              <a:t>碰撞檢測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932BAFB-172A-9778-CB06-313384AEC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1105228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為了使檢測更加精準，這里更改為使用</a:t>
            </a:r>
            <a:r>
              <a:rPr lang="en-US" altLang="zh-TW" sz="2200" dirty="0"/>
              <a:t>mask</a:t>
            </a:r>
            <a:r>
              <a:rPr lang="zh-TW" altLang="en-US" sz="2200" dirty="0"/>
              <a:t>進行碰撞檢測</a:t>
            </a:r>
            <a:r>
              <a:rPr lang="en-US" altLang="zh-TW" sz="2200" dirty="0"/>
              <a:t>!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使用</a:t>
            </a:r>
            <a:r>
              <a:rPr lang="en-US" altLang="zh-TW" sz="2200" dirty="0"/>
              <a:t>mask</a:t>
            </a:r>
            <a:r>
              <a:rPr lang="zh-TW" altLang="en-US" sz="2200" dirty="0"/>
              <a:t>檢測前</a:t>
            </a:r>
            <a:r>
              <a:rPr lang="en-US" altLang="zh-TW" sz="2200" dirty="0"/>
              <a:t>: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1. </a:t>
            </a:r>
            <a:r>
              <a:rPr lang="zh-TW" altLang="en-US" sz="2000" dirty="0"/>
              <a:t>必須為每個子類</a:t>
            </a:r>
            <a:r>
              <a:rPr lang="en-US" altLang="zh-TW" sz="2000" dirty="0"/>
              <a:t>class</a:t>
            </a:r>
            <a:r>
              <a:rPr lang="zh-TW" altLang="en-US" sz="2000" dirty="0"/>
              <a:t>添加</a:t>
            </a:r>
            <a:r>
              <a:rPr lang="en-US" altLang="zh-TW" sz="2000" dirty="0" err="1"/>
              <a:t>self.mask</a:t>
            </a:r>
            <a:r>
              <a:rPr lang="zh-TW" altLang="en-US" sz="2000" dirty="0"/>
              <a:t>屬性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2. </a:t>
            </a:r>
            <a:r>
              <a:rPr lang="zh-TW" altLang="en-US" sz="2000" dirty="0"/>
              <a:t>才能使用</a:t>
            </a:r>
            <a:r>
              <a:rPr lang="en-US" altLang="zh-TW" sz="2000" dirty="0"/>
              <a:t>mask</a:t>
            </a:r>
            <a:r>
              <a:rPr lang="zh-TW" altLang="en-US" sz="2000" dirty="0"/>
              <a:t>的碰撞檢測功能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1800" dirty="0" err="1"/>
              <a:t>pygame.sprite.spritecollide</a:t>
            </a:r>
            <a:r>
              <a:rPr lang="en-US" altLang="zh-TW" sz="1800" dirty="0"/>
              <a:t>(</a:t>
            </a:r>
            <a:r>
              <a:rPr lang="en-US" altLang="zh-TW" sz="1800" dirty="0" err="1"/>
              <a:t>self.bird</a:t>
            </a:r>
            <a:r>
              <a:rPr lang="en-US" altLang="zh-TW" sz="1800" dirty="0"/>
              <a:t>, </a:t>
            </a:r>
            <a:r>
              <a:rPr lang="en-US" altLang="zh-TW" sz="1800" dirty="0" err="1"/>
              <a:t>self.pipe_group</a:t>
            </a:r>
            <a:r>
              <a:rPr lang="en-US" altLang="zh-TW" sz="1800" dirty="0"/>
              <a:t>, False, </a:t>
            </a:r>
            <a:r>
              <a:rPr lang="en-US" altLang="zh-TW" sz="1800" dirty="0" err="1"/>
              <a:t>pygame.sprite.collide_mask</a:t>
            </a:r>
            <a:r>
              <a:rPr lang="en-US" altLang="zh-TW" sz="1800" dirty="0"/>
              <a:t>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endParaRPr lang="en-US" altLang="zh-TW" sz="20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53A7246-A9F0-BAAB-3ECD-C993745DF2E7}"/>
              </a:ext>
            </a:extLst>
          </p:cNvPr>
          <p:cNvSpPr txBox="1"/>
          <p:nvPr/>
        </p:nvSpPr>
        <p:spPr>
          <a:xfrm>
            <a:off x="82296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sz="1800" dirty="0">
                <a:solidFill>
                  <a:srgbClr val="FF0000"/>
                </a:solidFill>
              </a:rPr>
              <a:t>5_</a:t>
            </a:r>
            <a:r>
              <a:rPr lang="zh-TW" altLang="en-US" sz="1800" dirty="0">
                <a:solidFill>
                  <a:srgbClr val="FF0000"/>
                </a:solidFill>
              </a:rPr>
              <a:t>使用</a:t>
            </a:r>
            <a:r>
              <a:rPr lang="en-US" altLang="zh-TW" sz="1800" dirty="0">
                <a:solidFill>
                  <a:srgbClr val="FF0000"/>
                </a:solidFill>
              </a:rPr>
              <a:t>mask</a:t>
            </a:r>
            <a:r>
              <a:rPr lang="zh-TW" altLang="en-US" sz="1800" dirty="0">
                <a:solidFill>
                  <a:srgbClr val="FF0000"/>
                </a:solidFill>
              </a:rPr>
              <a:t>進行碰撞檢測</a:t>
            </a:r>
            <a:r>
              <a:rPr lang="en-US" altLang="zh-TW" sz="1800" dirty="0">
                <a:solidFill>
                  <a:srgbClr val="FF0000"/>
                </a:solidFill>
              </a:rPr>
              <a:t>.</a:t>
            </a:r>
            <a:r>
              <a:rPr lang="en-US" altLang="zh-TW" sz="1800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895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B6852-70D8-A506-C9DD-B63C0408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B5CFB-885F-7554-0F6E-FBEF06C97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- </a:t>
            </a:r>
            <a:r>
              <a:rPr lang="zh-TW" altLang="en-US" dirty="0"/>
              <a:t>分數計算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E485D2C9-CAC8-DE8C-A819-13C1B9B32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1105228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加入碰撞檢測後，這里實現分數的計算</a:t>
            </a:r>
            <a:endParaRPr lang="en-US" altLang="zh-TW" sz="22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思考一下</a:t>
            </a:r>
            <a:r>
              <a:rPr lang="en-US" altLang="zh-TW" sz="2200" dirty="0"/>
              <a:t>: </a:t>
            </a:r>
            <a:r>
              <a:rPr lang="zh-TW" altLang="en-US" sz="2200" dirty="0"/>
              <a:t>如何計分</a:t>
            </a:r>
            <a:r>
              <a:rPr lang="en-US" altLang="zh-TW" sz="2200" dirty="0"/>
              <a:t>? </a:t>
            </a:r>
            <a:endParaRPr lang="en-US" altLang="zh-TW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/>
              <a:t>直觀想法是不是</a:t>
            </a:r>
            <a:r>
              <a:rPr lang="en-US" altLang="zh-TW" sz="2000" dirty="0"/>
              <a:t>: </a:t>
            </a:r>
            <a:r>
              <a:rPr lang="zh-TW" altLang="en-US" sz="2000" dirty="0"/>
              <a:t>當小鳥的位置如果超過了</a:t>
            </a:r>
            <a:r>
              <a:rPr lang="en-US" altLang="zh-TW" sz="2000" dirty="0"/>
              <a:t>pipe</a:t>
            </a:r>
            <a:r>
              <a:rPr lang="zh-TW" altLang="en-US" sz="2000" dirty="0"/>
              <a:t>的位置，就</a:t>
            </a:r>
            <a:r>
              <a:rPr lang="en-US" altLang="zh-TW" sz="2000" dirty="0"/>
              <a:t>+1</a:t>
            </a:r>
            <a:r>
              <a:rPr lang="zh-TW" altLang="en-US" sz="2000" dirty="0"/>
              <a:t>分</a:t>
            </a:r>
            <a:r>
              <a:rPr lang="en-US" altLang="zh-TW" sz="2000" dirty="0"/>
              <a:t>?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/>
              <a:t>即</a:t>
            </a:r>
            <a:r>
              <a:rPr lang="en-US" altLang="zh-TW" sz="2000" dirty="0" err="1"/>
              <a:t>bird.x</a:t>
            </a:r>
            <a:r>
              <a:rPr lang="en-US" altLang="zh-TW" sz="2000" dirty="0"/>
              <a:t> &gt; </a:t>
            </a:r>
            <a:r>
              <a:rPr lang="en-US" altLang="zh-TW" sz="2000" dirty="0" err="1"/>
              <a:t>pipe.x</a:t>
            </a:r>
            <a:r>
              <a:rPr lang="zh-TW" altLang="en-US" sz="2000" dirty="0"/>
              <a:t>是不是就加一分</a:t>
            </a:r>
            <a:r>
              <a:rPr lang="en-US" altLang="zh-TW" sz="2000" dirty="0"/>
              <a:t>? 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B8A9D9F-B4B7-8A81-AC14-42B7E9137080}"/>
              </a:ext>
            </a:extLst>
          </p:cNvPr>
          <p:cNvSpPr txBox="1"/>
          <p:nvPr/>
        </p:nvSpPr>
        <p:spPr>
          <a:xfrm>
            <a:off x="82296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dirty="0">
                <a:solidFill>
                  <a:srgbClr val="FF0000"/>
                </a:solidFill>
              </a:rPr>
              <a:t>6_</a:t>
            </a:r>
            <a:r>
              <a:rPr lang="zh-TW" altLang="en-US" dirty="0">
                <a:solidFill>
                  <a:srgbClr val="FF0000"/>
                </a:solidFill>
              </a:rPr>
              <a:t>加入分數的錯誤方法</a:t>
            </a:r>
            <a:r>
              <a:rPr lang="en-US" altLang="zh-TW" sz="1800" dirty="0">
                <a:solidFill>
                  <a:srgbClr val="FF0000"/>
                </a:solidFill>
              </a:rPr>
              <a:t>.</a:t>
            </a:r>
            <a:r>
              <a:rPr lang="en-US" altLang="zh-TW" sz="1800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A848A13-9C32-6A57-1751-8A436C4C5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825460" y="2294345"/>
            <a:ext cx="355077" cy="137387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FD29B78-5A1A-9C6D-B73C-16AB3D8B1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460" y="4194000"/>
            <a:ext cx="355077" cy="137387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AD12F9D-8200-70CA-CC7B-458D1B612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0">
            <a:off x="10611441" y="3680455"/>
            <a:ext cx="639116" cy="451140"/>
          </a:xfrm>
          <a:prstGeom prst="rect">
            <a:avLst/>
          </a:prstGeom>
        </p:spPr>
      </p:pic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3705FA76-408A-323F-C48E-B2ABFE45E274}"/>
              </a:ext>
            </a:extLst>
          </p:cNvPr>
          <p:cNvCxnSpPr/>
          <p:nvPr/>
        </p:nvCxnSpPr>
        <p:spPr>
          <a:xfrm>
            <a:off x="9681210" y="3906025"/>
            <a:ext cx="8827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657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9F53C-663B-0B17-77B6-983AE118E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D50A8-0245-6313-F49B-D208BB01E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- </a:t>
            </a:r>
            <a:r>
              <a:rPr lang="zh-TW" altLang="en-US" dirty="0"/>
              <a:t>分數計算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ACF0AF8-302D-7B12-725B-494F4E9CE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1105228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若使用上述的碰撞檢測方法，</a:t>
            </a:r>
            <a:r>
              <a:rPr lang="en-US" altLang="zh-TW" sz="2200" dirty="0"/>
              <a:t>pipe</a:t>
            </a:r>
            <a:r>
              <a:rPr lang="zh-TW" altLang="en-US" sz="2200" dirty="0"/>
              <a:t>只要在</a:t>
            </a:r>
            <a:r>
              <a:rPr lang="en-US" altLang="zh-TW" sz="2200" dirty="0"/>
              <a:t>bird</a:t>
            </a:r>
            <a:r>
              <a:rPr lang="zh-TW" altLang="en-US" sz="2200" dirty="0"/>
              <a:t>的左邊，它都會不斷加分。</a:t>
            </a:r>
            <a:endParaRPr lang="en-US" altLang="zh-TW" sz="22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正確的做法是，如果該</a:t>
            </a:r>
            <a:r>
              <a:rPr lang="en-US" altLang="zh-TW" sz="2200" dirty="0"/>
              <a:t>pipe</a:t>
            </a:r>
            <a:r>
              <a:rPr lang="zh-TW" altLang="en-US" sz="2200" dirty="0"/>
              <a:t>對已經被成功計過一次分，就不要就加分</a:t>
            </a:r>
            <a:r>
              <a:rPr lang="en-US" altLang="zh-TW" sz="2200" dirty="0"/>
              <a:t>!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/>
              <a:t>因此，在</a:t>
            </a:r>
            <a:r>
              <a:rPr lang="en-US" altLang="zh-TW" sz="2000" dirty="0"/>
              <a:t>pipe</a:t>
            </a:r>
            <a:r>
              <a:rPr lang="zh-TW" altLang="en-US" sz="2000" dirty="0"/>
              <a:t>類中，設置一個屬性</a:t>
            </a:r>
            <a:r>
              <a:rPr lang="en-US" altLang="zh-TW" sz="2000" dirty="0" err="1"/>
              <a:t>self.is_calculated_mark</a:t>
            </a:r>
            <a:r>
              <a:rPr lang="zh-TW" altLang="en-US" sz="2000" dirty="0"/>
              <a:t>，若已經被計過分，就設置為</a:t>
            </a:r>
            <a:r>
              <a:rPr lang="en-US" altLang="zh-TW" sz="2000" dirty="0"/>
              <a:t>True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/>
              <a:t>在判斷加分時，要先檢查有沒有被計過分。若屬性為</a:t>
            </a:r>
            <a:r>
              <a:rPr lang="en-US" altLang="zh-TW" sz="2000" dirty="0"/>
              <a:t>False</a:t>
            </a:r>
            <a:r>
              <a:rPr lang="zh-TW" altLang="en-US" sz="2000" dirty="0"/>
              <a:t>時才</a:t>
            </a:r>
            <a:r>
              <a:rPr lang="en-US" altLang="zh-TW" sz="2000" dirty="0"/>
              <a:t>+1</a:t>
            </a:r>
            <a:r>
              <a:rPr lang="zh-TW" altLang="en-US" sz="2000" dirty="0"/>
              <a:t>分</a:t>
            </a:r>
            <a:r>
              <a:rPr lang="en-US" altLang="zh-TW" sz="2000" dirty="0"/>
              <a:t>!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E8AEBE-4171-5042-21B8-F62818070883}"/>
              </a:ext>
            </a:extLst>
          </p:cNvPr>
          <p:cNvSpPr txBox="1"/>
          <p:nvPr/>
        </p:nvSpPr>
        <p:spPr>
          <a:xfrm>
            <a:off x="82296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dirty="0">
                <a:solidFill>
                  <a:srgbClr val="FF0000"/>
                </a:solidFill>
              </a:rPr>
              <a:t>7_</a:t>
            </a:r>
            <a:r>
              <a:rPr lang="zh-TW" altLang="en-US" dirty="0">
                <a:solidFill>
                  <a:srgbClr val="FF0000"/>
                </a:solidFill>
              </a:rPr>
              <a:t>加入分數的正確方法</a:t>
            </a:r>
            <a:r>
              <a:rPr lang="en-US" altLang="zh-TW" dirty="0">
                <a:solidFill>
                  <a:srgbClr val="FF0000"/>
                </a:solidFill>
              </a:rPr>
              <a:t>.</a:t>
            </a:r>
            <a:r>
              <a:rPr lang="en-US" altLang="zh-TW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606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B3393-F501-FF5E-6EEF-F8DDBDA52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453B5-4C7C-2566-56DE-A8C66CC17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- </a:t>
            </a:r>
            <a:r>
              <a:rPr lang="zh-TW" altLang="en-US" dirty="0"/>
              <a:t>文字分數顯示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6D98454-AC19-EF7B-3B1C-072FFFAB4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705178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分數已經被成功計算，下一步就是顯示出來。</a:t>
            </a:r>
            <a:endParaRPr lang="en-US" altLang="zh-TW" sz="22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有兩個方案</a:t>
            </a:r>
            <a:endParaRPr lang="en-US" altLang="zh-TW" sz="22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1. </a:t>
            </a:r>
            <a:r>
              <a:rPr lang="zh-TW" altLang="en-US" sz="2000" dirty="0"/>
              <a:t>使用文字對象</a:t>
            </a:r>
            <a:r>
              <a:rPr lang="en-US" altLang="zh-TW" sz="2000" dirty="0" err="1"/>
              <a:t>pygame.font</a:t>
            </a:r>
            <a:r>
              <a:rPr lang="zh-TW" altLang="en-US" sz="2000" dirty="0"/>
              <a:t>，然後把每次的分數</a:t>
            </a:r>
            <a:r>
              <a:rPr lang="en-US" altLang="zh-TW" sz="2000" dirty="0"/>
              <a:t>render</a:t>
            </a:r>
            <a:r>
              <a:rPr lang="zh-TW" altLang="en-US" sz="2000" dirty="0"/>
              <a:t>成</a:t>
            </a:r>
            <a:r>
              <a:rPr lang="en-US" altLang="zh-TW" sz="2000" dirty="0"/>
              <a:t>surface</a:t>
            </a:r>
            <a:r>
              <a:rPr lang="zh-TW" altLang="en-US" sz="2000" dirty="0"/>
              <a:t>對象顯示出來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2. </a:t>
            </a:r>
            <a:r>
              <a:rPr lang="zh-TW" altLang="en-US" sz="2000" dirty="0"/>
              <a:t>使用圖案把分數顯示出來</a:t>
            </a:r>
            <a:endParaRPr lang="en-US" altLang="zh-TW" sz="20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F30CA5D-9460-42EE-E262-6616C4AE781E}"/>
              </a:ext>
            </a:extLst>
          </p:cNvPr>
          <p:cNvSpPr txBox="1"/>
          <p:nvPr/>
        </p:nvSpPr>
        <p:spPr>
          <a:xfrm>
            <a:off x="82296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sz="1800" dirty="0">
                <a:solidFill>
                  <a:srgbClr val="FF0000"/>
                </a:solidFill>
              </a:rPr>
              <a:t>8</a:t>
            </a:r>
            <a:r>
              <a:rPr lang="en-US" altLang="zh-TW" dirty="0">
                <a:solidFill>
                  <a:srgbClr val="FF0000"/>
                </a:solidFill>
              </a:rPr>
              <a:t>_</a:t>
            </a:r>
            <a:r>
              <a:rPr lang="zh-TW" altLang="en-US" dirty="0">
                <a:solidFill>
                  <a:srgbClr val="FF0000"/>
                </a:solidFill>
              </a:rPr>
              <a:t>使用文字顯示分數</a:t>
            </a:r>
            <a:r>
              <a:rPr lang="en-US" altLang="zh-TW" dirty="0">
                <a:solidFill>
                  <a:srgbClr val="FF0000"/>
                </a:solidFill>
              </a:rPr>
              <a:t>.</a:t>
            </a:r>
            <a:r>
              <a:rPr lang="en-US" altLang="zh-TW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2A8DB14-7C9E-ED04-42C6-EE76F9B40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304" y="329092"/>
            <a:ext cx="3947746" cy="619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40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42880-5902-C6F9-67D2-4E9CBFE0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DCC1-6519-47C3-9B8F-A738EAA48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</a:t>
            </a:r>
            <a:r>
              <a:rPr lang="zh-TW" altLang="en-US" dirty="0"/>
              <a:t>圖像分數顯示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313151A-1C56-8CA6-38BA-DF7D9541A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691462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第二種方案是使用圖像去顯示分數</a:t>
            </a:r>
            <a:r>
              <a:rPr lang="en-US" altLang="zh-TW" sz="2200" dirty="0"/>
              <a:t>: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首先我們要搜集</a:t>
            </a:r>
            <a:r>
              <a:rPr lang="en-US" altLang="zh-TW" sz="2200" dirty="0"/>
              <a:t>0-9</a:t>
            </a:r>
            <a:r>
              <a:rPr lang="zh-TW" altLang="en-US" sz="2200" dirty="0"/>
              <a:t>的圖案</a:t>
            </a:r>
            <a:endParaRPr lang="en-US" altLang="zh-TW" sz="22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/>
              <a:t>位於</a:t>
            </a:r>
            <a:r>
              <a:rPr lang="en-US" altLang="zh-TW" sz="2000" dirty="0"/>
              <a:t>resource/image</a:t>
            </a:r>
            <a:r>
              <a:rPr lang="zh-TW" altLang="en-US" sz="2000" dirty="0"/>
              <a:t>中</a:t>
            </a:r>
            <a:endParaRPr lang="en-US" altLang="zh-TW" sz="20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然後希望做到的功能是</a:t>
            </a:r>
            <a:r>
              <a:rPr lang="en-US" altLang="zh-TW" sz="2200" dirty="0"/>
              <a:t>: </a:t>
            </a:r>
            <a:r>
              <a:rPr lang="zh-TW" altLang="en-US" sz="2200" dirty="0"/>
              <a:t>給定一個分數，它能夠自動返回對應分數圖像的</a:t>
            </a:r>
            <a:r>
              <a:rPr lang="en-US" altLang="zh-TW" sz="2200" dirty="0"/>
              <a:t>surface</a:t>
            </a:r>
            <a:r>
              <a:rPr lang="zh-TW" altLang="en-US" sz="2200" dirty="0"/>
              <a:t>對象，即如下</a:t>
            </a:r>
            <a:r>
              <a:rPr lang="en-US" altLang="zh-TW" sz="2200" dirty="0"/>
              <a:t>: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8D1914F-A5B7-2799-D59A-3D3FCD225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485" y="529590"/>
            <a:ext cx="3801666" cy="601134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25D2E1C-F263-9BDF-576A-79796213C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444" y="2132578"/>
            <a:ext cx="696610" cy="104491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48A0055-25D9-F0D8-256C-2E232EE35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807" y="2132578"/>
            <a:ext cx="464406" cy="104491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FEF842B-901A-E7CD-9796-32C7293091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1657" y="2132578"/>
            <a:ext cx="704923" cy="105738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B12D1A7F-A706-EA74-F95E-6FC4D94763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6400" y="4779171"/>
            <a:ext cx="647721" cy="971582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7125F88C-C714-1685-6657-F381A1A8B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743" y="4776016"/>
            <a:ext cx="479891" cy="971582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E416DEAE-B6F6-927B-9F03-64CA6FBC4727}"/>
              </a:ext>
            </a:extLst>
          </p:cNvPr>
          <p:cNvSpPr txBox="1"/>
          <p:nvPr/>
        </p:nvSpPr>
        <p:spPr>
          <a:xfrm>
            <a:off x="961260" y="4966027"/>
            <a:ext cx="3105140" cy="601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500" dirty="0" err="1"/>
              <a:t>self.mark</a:t>
            </a:r>
            <a:r>
              <a:rPr lang="en-US" altLang="zh-TW" sz="2500" dirty="0"/>
              <a:t> = 21</a:t>
            </a:r>
            <a:r>
              <a:rPr lang="zh-TW" altLang="en-US" sz="2500" dirty="0"/>
              <a:t>時 </a:t>
            </a:r>
            <a:r>
              <a:rPr lang="en-US" altLang="zh-TW" sz="2500" dirty="0">
                <a:sym typeface="Wingdings" panose="05000000000000000000" pitchFamily="2" charset="2"/>
              </a:rPr>
              <a:t></a:t>
            </a:r>
            <a:endParaRPr lang="en-US" altLang="zh-TW" sz="2500" dirty="0"/>
          </a:p>
        </p:txBody>
      </p:sp>
    </p:spTree>
    <p:extLst>
      <p:ext uri="{BB962C8B-B14F-4D97-AF65-F5344CB8AC3E}">
        <p14:creationId xmlns:p14="http://schemas.microsoft.com/office/powerpoint/2010/main" val="439418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AC8D8-25B0-19F1-8286-D7238A9A9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25392-338A-2356-B4A3-6871D1A3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- </a:t>
            </a:r>
            <a:r>
              <a:rPr lang="zh-TW" altLang="en-US" dirty="0"/>
              <a:t>設計</a:t>
            </a:r>
            <a:r>
              <a:rPr lang="en-US" altLang="zh-TW" dirty="0" err="1"/>
              <a:t>FlappyMark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D77CF08F-7AE2-3051-B00B-7DFD76BE0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933778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為實現上述功能，需要設計一個</a:t>
            </a:r>
            <a:r>
              <a:rPr lang="zh-TW" altLang="en-US" sz="2200" dirty="0">
                <a:solidFill>
                  <a:srgbClr val="FF0000"/>
                </a:solidFill>
              </a:rPr>
              <a:t>圖案分數的顯示類</a:t>
            </a:r>
            <a:r>
              <a:rPr lang="zh-TW" altLang="en-US" sz="2200" dirty="0"/>
              <a:t>，它具備一個方法，如果把分數傳入去，它能夠返回分數圖像的</a:t>
            </a:r>
            <a:r>
              <a:rPr lang="en-US" altLang="zh-TW" sz="2200" dirty="0"/>
              <a:t>surface</a:t>
            </a:r>
            <a:r>
              <a:rPr lang="zh-TW" altLang="en-US" sz="2200" dirty="0"/>
              <a:t>對象</a:t>
            </a:r>
            <a:endParaRPr lang="en-US" altLang="zh-TW" sz="22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具體思路是</a:t>
            </a:r>
            <a:r>
              <a:rPr lang="en-US" altLang="zh-TW" sz="2200" dirty="0"/>
              <a:t>: 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1. </a:t>
            </a:r>
            <a:r>
              <a:rPr lang="zh-TW" altLang="en-US" sz="2000" dirty="0"/>
              <a:t>先判斷傳入來的是幾位數，例如傳</a:t>
            </a:r>
            <a:r>
              <a:rPr lang="en-US" altLang="zh-TW" sz="2000" dirty="0"/>
              <a:t>23</a:t>
            </a:r>
            <a:r>
              <a:rPr lang="zh-TW" altLang="en-US" sz="2000" dirty="0"/>
              <a:t>即是</a:t>
            </a:r>
            <a:r>
              <a:rPr lang="en-US" altLang="zh-TW" sz="2000" dirty="0"/>
              <a:t>2</a:t>
            </a:r>
            <a:r>
              <a:rPr lang="zh-TW" altLang="en-US" sz="2000" dirty="0"/>
              <a:t>位數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2. </a:t>
            </a:r>
            <a:r>
              <a:rPr lang="zh-TW" altLang="en-US" sz="2000" dirty="0"/>
              <a:t>生成對應寬度的透明</a:t>
            </a:r>
            <a:r>
              <a:rPr lang="en-US" altLang="zh-TW" sz="2000" dirty="0"/>
              <a:t>surface</a:t>
            </a:r>
            <a:r>
              <a:rPr lang="zh-TW" altLang="en-US" sz="2000" dirty="0"/>
              <a:t>對應，即如右圖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3. </a:t>
            </a:r>
            <a:r>
              <a:rPr lang="zh-TW" altLang="en-US" sz="2000" dirty="0"/>
              <a:t>然後分別識別對應位置</a:t>
            </a:r>
            <a:r>
              <a:rPr lang="en-US" altLang="zh-TW" sz="2000" dirty="0"/>
              <a:t>(</a:t>
            </a:r>
            <a:r>
              <a:rPr lang="zh-TW" altLang="en-US" sz="2000" dirty="0"/>
              <a:t>个、十、百</a:t>
            </a:r>
            <a:r>
              <a:rPr lang="en-US" altLang="zh-TW" sz="2000" dirty="0"/>
              <a:t>1…)</a:t>
            </a:r>
            <a:r>
              <a:rPr lang="zh-TW" altLang="en-US" sz="2000" dirty="0"/>
              <a:t>是什么數字，</a:t>
            </a:r>
            <a:endParaRPr lang="en-US" altLang="zh-TW" sz="2000" dirty="0"/>
          </a:p>
          <a:p>
            <a:pPr marL="457200" lvl="1" indent="0" algn="just">
              <a:lnSpc>
                <a:spcPct val="150000"/>
              </a:lnSpc>
              <a:spcBef>
                <a:spcPts val="1800"/>
              </a:spcBef>
              <a:buNone/>
            </a:pPr>
            <a:r>
              <a:rPr lang="en-US" altLang="zh-TW" sz="2000" dirty="0"/>
              <a:t>         </a:t>
            </a:r>
            <a:r>
              <a:rPr lang="zh-TW" altLang="en-US" sz="2000" dirty="0"/>
              <a:t>把對應圖像放入去</a:t>
            </a:r>
            <a:endParaRPr lang="en-US" altLang="zh-TW" sz="20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56563CA-A648-D479-16A6-98A7C23231B4}"/>
              </a:ext>
            </a:extLst>
          </p:cNvPr>
          <p:cNvSpPr txBox="1"/>
          <p:nvPr/>
        </p:nvSpPr>
        <p:spPr>
          <a:xfrm>
            <a:off x="82296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sz="1800" dirty="0">
                <a:solidFill>
                  <a:srgbClr val="FF0000"/>
                </a:solidFill>
              </a:rPr>
              <a:t>FlappyMark.py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8BE4D8-5908-C1F5-AF8D-E5F83E8E2F12}"/>
              </a:ext>
            </a:extLst>
          </p:cNvPr>
          <p:cNvSpPr/>
          <p:nvPr/>
        </p:nvSpPr>
        <p:spPr>
          <a:xfrm>
            <a:off x="9772819" y="3605433"/>
            <a:ext cx="651341" cy="971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D8E32D-34DC-32B2-5D1A-9CC8B8547F13}"/>
              </a:ext>
            </a:extLst>
          </p:cNvPr>
          <p:cNvSpPr/>
          <p:nvPr/>
        </p:nvSpPr>
        <p:spPr>
          <a:xfrm>
            <a:off x="10424160" y="3605433"/>
            <a:ext cx="651341" cy="971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4536565-7386-E0EE-4106-5E283EF69B84}"/>
              </a:ext>
            </a:extLst>
          </p:cNvPr>
          <p:cNvSpPr txBox="1"/>
          <p:nvPr/>
        </p:nvSpPr>
        <p:spPr>
          <a:xfrm>
            <a:off x="8240861" y="3845002"/>
            <a:ext cx="145177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600" dirty="0"/>
              <a:t>2</a:t>
            </a:r>
            <a:r>
              <a:rPr lang="zh-TW" altLang="en-US" sz="2600" dirty="0"/>
              <a:t>位數</a:t>
            </a:r>
            <a:r>
              <a:rPr lang="en-US" altLang="zh-TW" sz="2600" dirty="0">
                <a:sym typeface="Wingdings" panose="05000000000000000000" pitchFamily="2" charset="2"/>
              </a:rPr>
              <a:t></a:t>
            </a:r>
            <a:endParaRPr lang="zh-HK" altLang="en-US" sz="26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CBEF08-0635-E6A6-7D28-05F5301B6B5A}"/>
              </a:ext>
            </a:extLst>
          </p:cNvPr>
          <p:cNvSpPr/>
          <p:nvPr/>
        </p:nvSpPr>
        <p:spPr>
          <a:xfrm>
            <a:off x="9772819" y="4865026"/>
            <a:ext cx="651341" cy="971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2C6228-8854-B475-A097-8943AD7A3509}"/>
              </a:ext>
            </a:extLst>
          </p:cNvPr>
          <p:cNvSpPr/>
          <p:nvPr/>
        </p:nvSpPr>
        <p:spPr>
          <a:xfrm>
            <a:off x="10424160" y="4865026"/>
            <a:ext cx="651341" cy="971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1C711A6-71CD-F323-EB90-282662593362}"/>
              </a:ext>
            </a:extLst>
          </p:cNvPr>
          <p:cNvSpPr txBox="1"/>
          <p:nvPr/>
        </p:nvSpPr>
        <p:spPr>
          <a:xfrm>
            <a:off x="8240861" y="5104595"/>
            <a:ext cx="145177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600" dirty="0"/>
              <a:t>3</a:t>
            </a:r>
            <a:r>
              <a:rPr lang="zh-TW" altLang="en-US" sz="2600" dirty="0"/>
              <a:t>位數</a:t>
            </a:r>
            <a:r>
              <a:rPr lang="en-US" altLang="zh-TW" sz="2600" dirty="0">
                <a:sym typeface="Wingdings" panose="05000000000000000000" pitchFamily="2" charset="2"/>
              </a:rPr>
              <a:t></a:t>
            </a:r>
            <a:endParaRPr lang="zh-HK" altLang="en-US" sz="26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58B4BB-3B21-BBEE-A140-427D5FC00119}"/>
              </a:ext>
            </a:extLst>
          </p:cNvPr>
          <p:cNvSpPr/>
          <p:nvPr/>
        </p:nvSpPr>
        <p:spPr>
          <a:xfrm>
            <a:off x="11075501" y="4865025"/>
            <a:ext cx="651341" cy="971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319C52C-9F1E-E535-E43C-C118295A0478}"/>
              </a:ext>
            </a:extLst>
          </p:cNvPr>
          <p:cNvSpPr/>
          <p:nvPr/>
        </p:nvSpPr>
        <p:spPr>
          <a:xfrm>
            <a:off x="9772819" y="2345840"/>
            <a:ext cx="651341" cy="971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D378A83-F48A-9FA5-96E1-9463A374FDFE}"/>
              </a:ext>
            </a:extLst>
          </p:cNvPr>
          <p:cNvSpPr txBox="1"/>
          <p:nvPr/>
        </p:nvSpPr>
        <p:spPr>
          <a:xfrm>
            <a:off x="8240861" y="2585409"/>
            <a:ext cx="145177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600" dirty="0"/>
              <a:t>1</a:t>
            </a:r>
            <a:r>
              <a:rPr lang="zh-TW" altLang="en-US" sz="2600" dirty="0"/>
              <a:t>位數</a:t>
            </a:r>
            <a:r>
              <a:rPr lang="en-US" altLang="zh-TW" sz="2600" dirty="0">
                <a:sym typeface="Wingdings" panose="05000000000000000000" pitchFamily="2" charset="2"/>
              </a:rPr>
              <a:t></a:t>
            </a:r>
            <a:endParaRPr lang="zh-HK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221641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ED1EE-C895-9BB0-7B20-140173F8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25571-585B-3D7D-EB95-6097D607B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</a:t>
            </a:r>
            <a:r>
              <a:rPr lang="zh-TW" altLang="en-US" dirty="0"/>
              <a:t>使用圖像顯示分數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33AA909-8B57-1AFC-5F48-3CC931F0C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933778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有</a:t>
            </a:r>
            <a:r>
              <a:rPr lang="en-US" altLang="zh-TW" sz="2200" dirty="0" err="1"/>
              <a:t>FlappyMark</a:t>
            </a:r>
            <a:r>
              <a:rPr lang="zh-TW" altLang="en-US" sz="2200" dirty="0"/>
              <a:t>對象後，就十分簡單了</a:t>
            </a:r>
            <a:endParaRPr lang="en-US" altLang="zh-TW" sz="22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1. </a:t>
            </a:r>
            <a:r>
              <a:rPr lang="zh-TW" altLang="en-US" sz="2000" dirty="0"/>
              <a:t>直接把分數放進到其方法中，得到對應的</a:t>
            </a:r>
            <a:r>
              <a:rPr lang="en-US" altLang="zh-TW" sz="2000" dirty="0"/>
              <a:t>surface</a:t>
            </a:r>
            <a:r>
              <a:rPr lang="zh-TW" altLang="en-US" sz="2000" dirty="0"/>
              <a:t>對象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2. </a:t>
            </a:r>
            <a:r>
              <a:rPr lang="zh-TW" altLang="en-US" sz="2000" dirty="0"/>
              <a:t>把其</a:t>
            </a:r>
            <a:r>
              <a:rPr lang="en-US" altLang="zh-TW" sz="2000" dirty="0"/>
              <a:t>surface</a:t>
            </a:r>
            <a:r>
              <a:rPr lang="zh-TW" altLang="en-US" sz="2000" dirty="0"/>
              <a:t>對象放在中間上部分位置即可</a:t>
            </a:r>
            <a:endParaRPr lang="en-US" altLang="zh-TW" sz="2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CDF784-30D6-3E8A-EAC9-A154A71CA03E}"/>
              </a:ext>
            </a:extLst>
          </p:cNvPr>
          <p:cNvSpPr/>
          <p:nvPr/>
        </p:nvSpPr>
        <p:spPr>
          <a:xfrm>
            <a:off x="8084820" y="1558439"/>
            <a:ext cx="3870430" cy="50010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DE4C96FF-68ED-4C7A-3B8E-280B7EB5813D}"/>
              </a:ext>
            </a:extLst>
          </p:cNvPr>
          <p:cNvGrpSpPr/>
          <p:nvPr/>
        </p:nvGrpSpPr>
        <p:grpSpPr>
          <a:xfrm>
            <a:off x="9430391" y="1896864"/>
            <a:ext cx="1203234" cy="974737"/>
            <a:chOff x="9003671" y="2115922"/>
            <a:chExt cx="1203234" cy="974737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334ED55D-37E8-7834-CD51-B5E354249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03671" y="2119077"/>
              <a:ext cx="647721" cy="971582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FAFFA528-46D8-D9B7-38B4-35DD76520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7014" y="2115922"/>
              <a:ext cx="479891" cy="971582"/>
            </a:xfrm>
            <a:prstGeom prst="rect">
              <a:avLst/>
            </a:prstGeom>
          </p:spPr>
        </p:pic>
      </p:grpSp>
      <p:sp>
        <p:nvSpPr>
          <p:cNvPr id="9" name="左大括弧 8">
            <a:extLst>
              <a:ext uri="{FF2B5EF4-FFF2-40B4-BE49-F238E27FC236}">
                <a16:creationId xmlns:a16="http://schemas.microsoft.com/office/drawing/2014/main" id="{614D828C-BA99-C5A7-3965-5540D286069F}"/>
              </a:ext>
            </a:extLst>
          </p:cNvPr>
          <p:cNvSpPr/>
          <p:nvPr/>
        </p:nvSpPr>
        <p:spPr>
          <a:xfrm rot="5400000">
            <a:off x="8950303" y="389298"/>
            <a:ext cx="310071" cy="2028210"/>
          </a:xfrm>
          <a:prstGeom prst="leftBrac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2" name="左大括弧 11">
            <a:extLst>
              <a:ext uri="{FF2B5EF4-FFF2-40B4-BE49-F238E27FC236}">
                <a16:creationId xmlns:a16="http://schemas.microsoft.com/office/drawing/2014/main" id="{A6C8ED96-F837-7D23-C625-8A0E3F4FD51A}"/>
              </a:ext>
            </a:extLst>
          </p:cNvPr>
          <p:cNvSpPr/>
          <p:nvPr/>
        </p:nvSpPr>
        <p:spPr>
          <a:xfrm rot="5400000" flipH="1">
            <a:off x="9674836" y="2864430"/>
            <a:ext cx="310073" cy="647721"/>
          </a:xfrm>
          <a:prstGeom prst="leftBrac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4D14ECA-23ED-2AB2-56C4-DA14F0CAC735}"/>
              </a:ext>
            </a:extLst>
          </p:cNvPr>
          <p:cNvSpPr txBox="1"/>
          <p:nvPr/>
        </p:nvSpPr>
        <p:spPr>
          <a:xfrm>
            <a:off x="7981950" y="796630"/>
            <a:ext cx="2910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/>
              <a:t>SCREEN_WIDTH // 2</a:t>
            </a:r>
            <a:endParaRPr lang="zh-HK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F021765-EBFA-7373-6C95-80E9046EC1CE}"/>
              </a:ext>
            </a:extLst>
          </p:cNvPr>
          <p:cNvSpPr txBox="1"/>
          <p:nvPr/>
        </p:nvSpPr>
        <p:spPr>
          <a:xfrm>
            <a:off x="8427720" y="3478044"/>
            <a:ext cx="2933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 err="1"/>
              <a:t>Surface_width</a:t>
            </a:r>
            <a:r>
              <a:rPr lang="en-US" altLang="zh-TW" sz="1800" dirty="0"/>
              <a:t> // 2</a:t>
            </a:r>
            <a:endParaRPr lang="zh-HK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2FF7CB9C-E9D0-833D-25E6-752ECC71FEE8}"/>
              </a:ext>
            </a:extLst>
          </p:cNvPr>
          <p:cNvSpPr txBox="1"/>
          <p:nvPr/>
        </p:nvSpPr>
        <p:spPr>
          <a:xfrm>
            <a:off x="82296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sz="1800" dirty="0">
                <a:solidFill>
                  <a:srgbClr val="FF0000"/>
                </a:solidFill>
              </a:rPr>
              <a:t>8</a:t>
            </a:r>
            <a:r>
              <a:rPr lang="en-US" altLang="zh-TW" dirty="0">
                <a:solidFill>
                  <a:srgbClr val="FF0000"/>
                </a:solidFill>
              </a:rPr>
              <a:t>_1_</a:t>
            </a:r>
            <a:r>
              <a:rPr lang="zh-TW" altLang="en-US" dirty="0">
                <a:solidFill>
                  <a:srgbClr val="FF0000"/>
                </a:solidFill>
              </a:rPr>
              <a:t>使用圖像顯示分數</a:t>
            </a:r>
            <a:r>
              <a:rPr lang="en-US" altLang="zh-TW" dirty="0">
                <a:solidFill>
                  <a:srgbClr val="FF0000"/>
                </a:solidFill>
              </a:rPr>
              <a:t>.</a:t>
            </a:r>
            <a:r>
              <a:rPr lang="en-US" altLang="zh-TW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728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CBA51-C2FA-5332-538F-B4E39BA1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07451-F89B-603D-337A-AEF5D29D9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</a:t>
            </a:r>
            <a:r>
              <a:rPr lang="zh-TW" altLang="en-US" dirty="0"/>
              <a:t>音效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BF517D5-C93C-13A1-9350-11767537A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933778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這里，為遊戲加入音效，使遊戲效果更加豐富</a:t>
            </a:r>
            <a:endParaRPr lang="en-US" altLang="zh-TW" sz="22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音效文件放於</a:t>
            </a:r>
            <a:r>
              <a:rPr lang="en-US" altLang="zh-TW" sz="2200" dirty="0"/>
              <a:t>resources</a:t>
            </a:r>
            <a:r>
              <a:rPr lang="zh-TW" altLang="en-US" sz="2200" dirty="0"/>
              <a:t>的</a:t>
            </a:r>
            <a:r>
              <a:rPr lang="en-US" altLang="zh-TW" sz="2200" dirty="0"/>
              <a:t>audio</a:t>
            </a:r>
            <a:r>
              <a:rPr lang="zh-TW" altLang="en-US" sz="2200" dirty="0"/>
              <a:t>中，包含</a:t>
            </a:r>
            <a:r>
              <a:rPr lang="en-US" altLang="zh-TW" sz="2200" dirty="0"/>
              <a:t>: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1. </a:t>
            </a:r>
            <a:r>
              <a:rPr lang="zh-TW" altLang="en-US" sz="2000" dirty="0"/>
              <a:t>小鳥飛躍時的音效</a:t>
            </a:r>
            <a:r>
              <a:rPr lang="en-US" altLang="zh-TW" sz="2000" dirty="0"/>
              <a:t> 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2. </a:t>
            </a:r>
            <a:r>
              <a:rPr lang="zh-TW" altLang="en-US" sz="2000" dirty="0"/>
              <a:t>穿過</a:t>
            </a:r>
            <a:r>
              <a:rPr lang="en-US" altLang="zh-TW" sz="2000" dirty="0"/>
              <a:t>pipe</a:t>
            </a:r>
            <a:r>
              <a:rPr lang="zh-TW" altLang="en-US" sz="2000" dirty="0"/>
              <a:t>時有獲取分數的音效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3. </a:t>
            </a:r>
            <a:r>
              <a:rPr lang="zh-TW" altLang="en-US" sz="2000" dirty="0"/>
              <a:t>撞到</a:t>
            </a:r>
            <a:r>
              <a:rPr lang="en-US" altLang="zh-TW" sz="2000" dirty="0"/>
              <a:t>Base/Pipe</a:t>
            </a:r>
            <a:r>
              <a:rPr lang="zh-TW" altLang="en-US" sz="2000" dirty="0"/>
              <a:t>時有碰撞的音效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4. </a:t>
            </a:r>
            <a:r>
              <a:rPr lang="zh-TW" altLang="en-US" sz="2000" dirty="0"/>
              <a:t>遊戲結束時有結束的音效</a:t>
            </a:r>
            <a:endParaRPr lang="en-US" altLang="zh-TW" sz="20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9E7BC36-EF18-F01C-5399-18B4DF805029}"/>
              </a:ext>
            </a:extLst>
          </p:cNvPr>
          <p:cNvSpPr txBox="1"/>
          <p:nvPr/>
        </p:nvSpPr>
        <p:spPr>
          <a:xfrm>
            <a:off x="82296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sz="1800" dirty="0">
                <a:solidFill>
                  <a:srgbClr val="FF0000"/>
                </a:solidFill>
              </a:rPr>
              <a:t>9_</a:t>
            </a:r>
            <a:r>
              <a:rPr lang="zh-TW" altLang="en-US" sz="1800" dirty="0">
                <a:solidFill>
                  <a:srgbClr val="FF0000"/>
                </a:solidFill>
              </a:rPr>
              <a:t>加入音效</a:t>
            </a:r>
            <a:r>
              <a:rPr lang="en-US" altLang="zh-TW" dirty="0">
                <a:solidFill>
                  <a:srgbClr val="FF0000"/>
                </a:solidFill>
              </a:rPr>
              <a:t>.</a:t>
            </a:r>
            <a:r>
              <a:rPr lang="en-US" altLang="zh-TW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528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0D3FD-44ED-9A76-0AE9-B1A4950EC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28DA5-7215-06A6-2418-C48A471A5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</a:t>
            </a:r>
            <a:r>
              <a:rPr lang="zh-TW" altLang="en-US" dirty="0"/>
              <a:t>音效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8C936F8-D77C-3559-DE96-42F2DB257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933778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思考一下對應音效應該加在代碼的哪個地方</a:t>
            </a:r>
            <a:r>
              <a:rPr lang="en-US" altLang="zh-TW" sz="2200" dirty="0"/>
              <a:t>: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1. </a:t>
            </a:r>
            <a:r>
              <a:rPr lang="zh-TW" altLang="en-US" sz="2000" dirty="0"/>
              <a:t>小鳥飛躍時的音效</a:t>
            </a:r>
            <a:r>
              <a:rPr lang="en-US" altLang="zh-TW" sz="2000" dirty="0"/>
              <a:t>  </a:t>
            </a:r>
            <a:r>
              <a:rPr lang="en-US" altLang="zh-TW" sz="2000" dirty="0">
                <a:sym typeface="Wingdings" panose="05000000000000000000" pitchFamily="2" charset="2"/>
              </a:rPr>
              <a:t> </a:t>
            </a:r>
            <a:r>
              <a:rPr lang="zh-TW" altLang="en-US" sz="2000" dirty="0">
                <a:sym typeface="Wingdings" panose="05000000000000000000" pitchFamily="2" charset="2"/>
              </a:rPr>
              <a:t>按空白鍵時發出</a:t>
            </a:r>
            <a:endParaRPr lang="en-US" altLang="zh-TW" sz="2000" dirty="0"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>
                <a:sym typeface="Wingdings" panose="05000000000000000000" pitchFamily="2" charset="2"/>
              </a:rPr>
              <a:t>2.</a:t>
            </a:r>
            <a:r>
              <a:rPr lang="zh-TW" altLang="en-US" sz="2000" dirty="0"/>
              <a:t>穿過</a:t>
            </a:r>
            <a:r>
              <a:rPr lang="en-US" altLang="zh-TW" sz="2000" dirty="0"/>
              <a:t>pipe</a:t>
            </a:r>
            <a:r>
              <a:rPr lang="zh-TW" altLang="en-US" sz="2000" dirty="0"/>
              <a:t>時有獲取分數的音效</a:t>
            </a:r>
            <a:r>
              <a:rPr lang="en-US" altLang="zh-TW" sz="2000" dirty="0"/>
              <a:t> </a:t>
            </a:r>
            <a:r>
              <a:rPr lang="en-US" altLang="zh-TW" sz="2000" dirty="0">
                <a:sym typeface="Wingdings" panose="05000000000000000000" pitchFamily="2" charset="2"/>
              </a:rPr>
              <a:t> </a:t>
            </a:r>
            <a:r>
              <a:rPr lang="zh-TW" altLang="en-US" sz="2000" dirty="0">
                <a:sym typeface="Wingdings" panose="05000000000000000000" pitchFamily="2" charset="2"/>
              </a:rPr>
              <a:t>在獲取分數</a:t>
            </a:r>
            <a:r>
              <a:rPr lang="en-US" altLang="zh-TW" sz="2000" dirty="0">
                <a:sym typeface="Wingdings" panose="05000000000000000000" pitchFamily="2" charset="2"/>
              </a:rPr>
              <a:t>+1</a:t>
            </a:r>
            <a:r>
              <a:rPr lang="zh-TW" altLang="en-US" sz="2000" dirty="0">
                <a:sym typeface="Wingdings" panose="05000000000000000000" pitchFamily="2" charset="2"/>
              </a:rPr>
              <a:t>時發出</a:t>
            </a:r>
            <a:endParaRPr lang="en-US" altLang="zh-TW" sz="2000" dirty="0"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>
                <a:sym typeface="Wingdings" panose="05000000000000000000" pitchFamily="2" charset="2"/>
              </a:rPr>
              <a:t>3. </a:t>
            </a:r>
            <a:r>
              <a:rPr lang="zh-TW" altLang="en-US" sz="2000" dirty="0"/>
              <a:t>撞到</a:t>
            </a:r>
            <a:r>
              <a:rPr lang="en-US" altLang="zh-TW" sz="2000" dirty="0"/>
              <a:t>Base/Pipe</a:t>
            </a:r>
            <a:r>
              <a:rPr lang="zh-TW" altLang="en-US" sz="2000" dirty="0"/>
              <a:t>時有碰撞的音效 </a:t>
            </a:r>
            <a:r>
              <a:rPr lang="en-US" altLang="zh-TW" sz="2000" dirty="0">
                <a:sym typeface="Wingdings" panose="05000000000000000000" pitchFamily="2" charset="2"/>
              </a:rPr>
              <a:t> </a:t>
            </a:r>
            <a:r>
              <a:rPr lang="zh-TW" altLang="en-US" sz="2000" dirty="0">
                <a:sym typeface="Wingdings" panose="05000000000000000000" pitchFamily="2" charset="2"/>
              </a:rPr>
              <a:t>檢測到有碰撞時發出</a:t>
            </a:r>
            <a:endParaRPr lang="en-US" altLang="zh-TW" sz="2000" dirty="0">
              <a:sym typeface="Wingdings" panose="05000000000000000000" pitchFamily="2" charset="2"/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4. </a:t>
            </a:r>
            <a:r>
              <a:rPr lang="zh-TW" altLang="en-US" sz="2000" dirty="0"/>
              <a:t>遊戲結束時有結束的音效 </a:t>
            </a:r>
            <a:r>
              <a:rPr lang="en-US" altLang="zh-TW" sz="2000" dirty="0">
                <a:sym typeface="Wingdings" panose="05000000000000000000" pitchFamily="2" charset="2"/>
              </a:rPr>
              <a:t></a:t>
            </a:r>
            <a:r>
              <a:rPr lang="zh-TW" altLang="en-US" sz="2000" dirty="0">
                <a:sym typeface="Wingdings" panose="05000000000000000000" pitchFamily="2" charset="2"/>
              </a:rPr>
              <a:t>在</a:t>
            </a:r>
            <a:r>
              <a:rPr lang="en-US" altLang="zh-TW" sz="2000" dirty="0">
                <a:sym typeface="Wingdings" panose="05000000000000000000" pitchFamily="2" charset="2"/>
              </a:rPr>
              <a:t>running=False</a:t>
            </a:r>
            <a:r>
              <a:rPr lang="zh-TW" altLang="en-US" sz="2000" dirty="0">
                <a:sym typeface="Wingdings" panose="05000000000000000000" pitchFamily="2" charset="2"/>
              </a:rPr>
              <a:t>後發出</a:t>
            </a:r>
            <a:endParaRPr lang="en-US" altLang="zh-TW" sz="20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41609AF-9D68-4B8B-B2BD-039508FCBEFA}"/>
              </a:ext>
            </a:extLst>
          </p:cNvPr>
          <p:cNvSpPr txBox="1"/>
          <p:nvPr/>
        </p:nvSpPr>
        <p:spPr>
          <a:xfrm>
            <a:off x="82296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sz="1800" dirty="0">
                <a:solidFill>
                  <a:srgbClr val="FF0000"/>
                </a:solidFill>
              </a:rPr>
              <a:t>9_</a:t>
            </a:r>
            <a:r>
              <a:rPr lang="zh-TW" altLang="en-US" sz="1800" dirty="0">
                <a:solidFill>
                  <a:srgbClr val="FF0000"/>
                </a:solidFill>
              </a:rPr>
              <a:t>加入音效</a:t>
            </a:r>
            <a:r>
              <a:rPr lang="en-US" altLang="zh-TW" dirty="0">
                <a:solidFill>
                  <a:srgbClr val="FF0000"/>
                </a:solidFill>
              </a:rPr>
              <a:t>.</a:t>
            </a:r>
            <a:r>
              <a:rPr lang="en-US" altLang="zh-TW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962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E030E-3403-EA62-7BA3-0CB7A084B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DB2D-A357-0BD7-BB1F-E9A592EDD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</a:t>
            </a:r>
            <a:r>
              <a:rPr lang="zh-TW" altLang="en-US" dirty="0"/>
              <a:t>加入背景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F9986A1-1358-8632-558F-F74963FC3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933778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遊戲主頁的內容基本已經完成，其後進行遊戲內容優化</a:t>
            </a:r>
            <a:endParaRPr lang="en-US" altLang="zh-TW" sz="22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先為遊戲加上背景圖像</a:t>
            </a:r>
            <a:endParaRPr lang="en-US" altLang="zh-TW" sz="22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圖像資源位於</a:t>
            </a:r>
            <a:r>
              <a:rPr lang="en-US" altLang="zh-TW" sz="2200" dirty="0"/>
              <a:t>resources/image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/>
              <a:t>白天</a:t>
            </a:r>
            <a:r>
              <a:rPr lang="en-US" altLang="zh-TW" sz="2000" dirty="0"/>
              <a:t>: background-day.png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000" dirty="0"/>
              <a:t>夜晚</a:t>
            </a:r>
            <a:r>
              <a:rPr lang="en-US" altLang="zh-TW" sz="2000" dirty="0"/>
              <a:t>: background-night.png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0F9325FC-2341-2728-D9FA-25A12BDF47E5}"/>
              </a:ext>
            </a:extLst>
          </p:cNvPr>
          <p:cNvSpPr txBox="1"/>
          <p:nvPr/>
        </p:nvSpPr>
        <p:spPr>
          <a:xfrm>
            <a:off x="82296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sz="1800" dirty="0">
                <a:solidFill>
                  <a:srgbClr val="FF0000"/>
                </a:solidFill>
              </a:rPr>
              <a:t>10_1_</a:t>
            </a:r>
            <a:r>
              <a:rPr lang="zh-TW" altLang="en-US" sz="1800" dirty="0">
                <a:solidFill>
                  <a:srgbClr val="FF0000"/>
                </a:solidFill>
              </a:rPr>
              <a:t>加背景</a:t>
            </a:r>
            <a:r>
              <a:rPr lang="en-US" altLang="zh-TW" dirty="0">
                <a:solidFill>
                  <a:srgbClr val="FF0000"/>
                </a:solidFill>
              </a:rPr>
              <a:t>.</a:t>
            </a:r>
            <a:r>
              <a:rPr lang="en-US" altLang="zh-TW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B3E5ADE-27E1-F4E9-FCD6-4C5002BC8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2115922"/>
            <a:ext cx="2339340" cy="415882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1B8F437-D5C2-54BB-80F2-1777C69B0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5824" y="2115922"/>
            <a:ext cx="2339340" cy="415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454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75B2D-D717-8A21-3933-06203CE19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7C909-FFAA-0E6A-518E-CB208B5A5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</a:t>
            </a:r>
            <a:r>
              <a:rPr lang="zh-TW" altLang="en-US" dirty="0"/>
              <a:t>加入首頁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F11F3E2-4CFA-9FA1-2F47-C4E66CEA8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933778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為遊戲加入首頁，即進入遊戲後的第一版</a:t>
            </a:r>
            <a:endParaRPr lang="en-US" altLang="zh-TW" sz="22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這里介紹一種遊戲中更換頁面的方法</a:t>
            </a:r>
            <a:r>
              <a:rPr lang="en-US" altLang="zh-TW" sz="2200" dirty="0"/>
              <a:t>: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在循環中，通過一個變量判斷進入哪個頁面</a:t>
            </a:r>
            <a:endParaRPr lang="en-US" altLang="zh-TW" sz="22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F3932BE-8195-5E1D-7702-1ACE3C1519D9}"/>
              </a:ext>
            </a:extLst>
          </p:cNvPr>
          <p:cNvSpPr txBox="1"/>
          <p:nvPr/>
        </p:nvSpPr>
        <p:spPr>
          <a:xfrm>
            <a:off x="1303020" y="4913114"/>
            <a:ext cx="61036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 err="1"/>
              <a:t>Self.page</a:t>
            </a:r>
            <a:r>
              <a:rPr lang="en-US" altLang="zh-TW" sz="2200" dirty="0"/>
              <a:t> =</a:t>
            </a:r>
            <a:endParaRPr lang="zh-HK" altLang="en-US" sz="2200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58319AF8-E135-9A67-8180-7EB344A15142}"/>
              </a:ext>
            </a:extLst>
          </p:cNvPr>
          <p:cNvCxnSpPr>
            <a:cxnSpLocks/>
          </p:cNvCxnSpPr>
          <p:nvPr/>
        </p:nvCxnSpPr>
        <p:spPr>
          <a:xfrm flipV="1">
            <a:off x="3021330" y="4286250"/>
            <a:ext cx="2960370" cy="651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1CCC5D65-43B2-B197-2CCE-35A16AEC4B7B}"/>
              </a:ext>
            </a:extLst>
          </p:cNvPr>
          <p:cNvCxnSpPr>
            <a:cxnSpLocks/>
          </p:cNvCxnSpPr>
          <p:nvPr/>
        </p:nvCxnSpPr>
        <p:spPr>
          <a:xfrm flipV="1">
            <a:off x="3021330" y="4937760"/>
            <a:ext cx="2960370" cy="142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DFCACAF7-5C9A-958A-3EAE-37890433CF29}"/>
              </a:ext>
            </a:extLst>
          </p:cNvPr>
          <p:cNvCxnSpPr>
            <a:cxnSpLocks/>
          </p:cNvCxnSpPr>
          <p:nvPr/>
        </p:nvCxnSpPr>
        <p:spPr>
          <a:xfrm>
            <a:off x="3021330" y="5322867"/>
            <a:ext cx="2960370" cy="254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3E3E65E9-D242-B8FE-0C94-F1C78557DD04}"/>
              </a:ext>
            </a:extLst>
          </p:cNvPr>
          <p:cNvSpPr txBox="1"/>
          <p:nvPr/>
        </p:nvSpPr>
        <p:spPr>
          <a:xfrm>
            <a:off x="5981700" y="4067293"/>
            <a:ext cx="910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首頁</a:t>
            </a:r>
            <a:endParaRPr lang="zh-HK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68651EF-0DA5-40B6-5F2D-901770050E6B}"/>
              </a:ext>
            </a:extLst>
          </p:cNvPr>
          <p:cNvSpPr txBox="1"/>
          <p:nvPr/>
        </p:nvSpPr>
        <p:spPr>
          <a:xfrm>
            <a:off x="5981700" y="4791788"/>
            <a:ext cx="910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主頁</a:t>
            </a:r>
            <a:endParaRPr lang="zh-HK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BA14E42-C00D-7A1F-806D-3515630F76CC}"/>
              </a:ext>
            </a:extLst>
          </p:cNvPr>
          <p:cNvSpPr txBox="1"/>
          <p:nvPr/>
        </p:nvSpPr>
        <p:spPr>
          <a:xfrm>
            <a:off x="5981700" y="5452943"/>
            <a:ext cx="910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尾頁</a:t>
            </a:r>
            <a:endParaRPr lang="zh-HK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7E0F65B-566F-D9D2-4A02-29BDDA6F9F25}"/>
              </a:ext>
            </a:extLst>
          </p:cNvPr>
          <p:cNvSpPr txBox="1"/>
          <p:nvPr/>
        </p:nvSpPr>
        <p:spPr>
          <a:xfrm>
            <a:off x="4204335" y="429369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</a:t>
            </a:r>
            <a:endParaRPr lang="zh-HK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FEF0DAF1-E564-BF65-3923-51A7E6C8E7AA}"/>
              </a:ext>
            </a:extLst>
          </p:cNvPr>
          <p:cNvSpPr txBox="1"/>
          <p:nvPr/>
        </p:nvSpPr>
        <p:spPr>
          <a:xfrm>
            <a:off x="4648200" y="4663022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2</a:t>
            </a:r>
            <a:endParaRPr lang="zh-HK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7D408A1-CEB6-F985-F72C-13EE0FDF5815}"/>
              </a:ext>
            </a:extLst>
          </p:cNvPr>
          <p:cNvSpPr txBox="1"/>
          <p:nvPr/>
        </p:nvSpPr>
        <p:spPr>
          <a:xfrm>
            <a:off x="4810125" y="5186807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3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234182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4857-1C9B-756E-2D81-CDB22C6D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1A381-6291-4D87-25EA-E258A1D32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</a:t>
            </a:r>
            <a:r>
              <a:rPr lang="zh-TW" altLang="en-US" dirty="0"/>
              <a:t>加入首頁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87469D-2D1F-445C-E36D-356B72293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984070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如何定義「頁」。「頁」其實就是顯示不同的內容，一個最簡單的「頁」就是只</a:t>
            </a:r>
            <a:r>
              <a:rPr lang="en-US" altLang="zh-TW" sz="2200" dirty="0"/>
              <a:t>render</a:t>
            </a:r>
            <a:r>
              <a:rPr lang="zh-TW" altLang="en-US" sz="2200" dirty="0"/>
              <a:t>出其要顯示的元素，不進行任務碰撞檢測、</a:t>
            </a:r>
            <a:r>
              <a:rPr lang="en-US" altLang="zh-TW" sz="2200" dirty="0"/>
              <a:t>update()</a:t>
            </a:r>
            <a:r>
              <a:rPr lang="zh-TW" altLang="en-US" sz="2200" dirty="0"/>
              <a:t>等方法。</a:t>
            </a:r>
            <a:endParaRPr lang="en-US" altLang="zh-TW" sz="2200" dirty="0"/>
          </a:p>
          <a:p>
            <a:pPr algn="just">
              <a:spcBef>
                <a:spcPts val="1800"/>
              </a:spcBef>
            </a:pPr>
            <a:r>
              <a:rPr lang="zh-TW" altLang="en-US" sz="2200" dirty="0"/>
              <a:t>對於</a:t>
            </a:r>
            <a:r>
              <a:rPr lang="en-US" altLang="zh-TW" sz="2200" dirty="0"/>
              <a:t>Flappy bird</a:t>
            </a:r>
            <a:r>
              <a:rPr lang="zh-TW" altLang="en-US" sz="2200" dirty="0"/>
              <a:t>主頁</a:t>
            </a:r>
            <a:r>
              <a:rPr lang="en-US" altLang="zh-TW" sz="2200" dirty="0"/>
              <a:t>(</a:t>
            </a:r>
            <a:r>
              <a:rPr lang="zh-TW" altLang="en-US" sz="2200" dirty="0"/>
              <a:t>遊戲</a:t>
            </a:r>
            <a:r>
              <a:rPr lang="en-US" altLang="zh-TW" sz="2200" dirty="0"/>
              <a:t>)</a:t>
            </a:r>
            <a:r>
              <a:rPr lang="zh-TW" altLang="en-US" sz="2200" dirty="0"/>
              <a:t>來說，它包含了</a:t>
            </a:r>
            <a:r>
              <a:rPr lang="en-US" altLang="zh-TW" sz="2200" dirty="0"/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altLang="zh-TW" sz="2000" dirty="0"/>
              <a:t>1. FPS</a:t>
            </a:r>
            <a:r>
              <a:rPr lang="zh-TW" altLang="en-US" sz="2000" dirty="0"/>
              <a:t>管理</a:t>
            </a:r>
            <a:endParaRPr lang="en-US" altLang="zh-TW" sz="2000" dirty="0"/>
          </a:p>
          <a:p>
            <a:pPr lvl="1" algn="just">
              <a:spcBef>
                <a:spcPts val="1800"/>
              </a:spcBef>
            </a:pPr>
            <a:r>
              <a:rPr lang="en-US" altLang="zh-TW" sz="2000" dirty="0"/>
              <a:t>2. </a:t>
            </a:r>
            <a:r>
              <a:rPr lang="zh-TW" altLang="en-US" sz="2000" dirty="0"/>
              <a:t>事件處理</a:t>
            </a:r>
            <a:endParaRPr lang="en-US" altLang="zh-TW" sz="2000" dirty="0"/>
          </a:p>
          <a:p>
            <a:pPr lvl="1" algn="just">
              <a:spcBef>
                <a:spcPts val="1800"/>
              </a:spcBef>
            </a:pPr>
            <a:r>
              <a:rPr lang="en-US" altLang="zh-TW" sz="2000" dirty="0"/>
              <a:t>3. </a:t>
            </a:r>
            <a:r>
              <a:rPr lang="zh-TW" altLang="en-US" sz="2000" dirty="0"/>
              <a:t>對像位置更新</a:t>
            </a:r>
            <a:endParaRPr lang="en-US" altLang="zh-TW" sz="2000" dirty="0"/>
          </a:p>
          <a:p>
            <a:pPr lvl="1" algn="just">
              <a:spcBef>
                <a:spcPts val="1800"/>
              </a:spcBef>
            </a:pPr>
            <a:r>
              <a:rPr lang="en-US" altLang="zh-TW" sz="2000" dirty="0"/>
              <a:t>4. </a:t>
            </a:r>
            <a:r>
              <a:rPr lang="zh-TW" altLang="en-US" sz="2000" dirty="0"/>
              <a:t>分數更新</a:t>
            </a:r>
            <a:endParaRPr lang="en-US" altLang="zh-TW" sz="2000" dirty="0"/>
          </a:p>
          <a:p>
            <a:pPr lvl="1" algn="just">
              <a:spcBef>
                <a:spcPts val="1800"/>
              </a:spcBef>
            </a:pPr>
            <a:r>
              <a:rPr lang="en-US" altLang="zh-TW" sz="2000" dirty="0"/>
              <a:t>5. </a:t>
            </a:r>
            <a:r>
              <a:rPr lang="zh-TW" altLang="en-US" sz="2000" dirty="0"/>
              <a:t>碰撞檢測</a:t>
            </a:r>
            <a:endParaRPr lang="en-US" altLang="zh-TW" sz="2000" dirty="0"/>
          </a:p>
          <a:p>
            <a:pPr lvl="1" algn="just">
              <a:spcBef>
                <a:spcPts val="1800"/>
              </a:spcBef>
            </a:pPr>
            <a:r>
              <a:rPr lang="en-US" altLang="zh-TW" sz="2000" dirty="0"/>
              <a:t>6. </a:t>
            </a:r>
            <a:r>
              <a:rPr lang="zh-TW" altLang="en-US" sz="2000" dirty="0"/>
              <a:t>顯示圖像</a:t>
            </a:r>
            <a:endParaRPr lang="en-US" altLang="zh-TW" sz="2000" dirty="0"/>
          </a:p>
          <a:p>
            <a:pPr marL="0" indent="0" algn="just">
              <a:spcBef>
                <a:spcPts val="1800"/>
              </a:spcBef>
              <a:buNone/>
            </a:pPr>
            <a:endParaRPr lang="en-US" altLang="zh-TW" sz="2200" dirty="0"/>
          </a:p>
          <a:p>
            <a:pPr algn="just">
              <a:spcBef>
                <a:spcPts val="1800"/>
              </a:spcBef>
            </a:pPr>
            <a:endParaRPr lang="en-US" altLang="zh-TW" sz="2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F92CF19-B013-D039-9AFB-36993EA80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603" y="3444240"/>
            <a:ext cx="612457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38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27EF5-3308-997B-3A96-5264B49A6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E5E81-8591-9DB3-235C-DB9BBAA6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</a:t>
            </a:r>
            <a:r>
              <a:rPr lang="zh-TW" altLang="en-US" dirty="0"/>
              <a:t>加入首頁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A1A4405-953C-598F-C3DC-CDA7E5D85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747469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對於首頁來說，主要功能就是顯示，不需要碰撞檢測、計分等內容</a:t>
            </a:r>
            <a:endParaRPr lang="en-US" altLang="zh-TW" sz="22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分幾步創建主頁，首先創建主頁的背景圖像</a:t>
            </a:r>
            <a:endParaRPr lang="en-US" altLang="zh-TW" sz="22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假設現在沒有遊戲的主要內容。如果只想創建右圖這一個畫面，是不是會先創建三個</a:t>
            </a:r>
            <a:r>
              <a:rPr lang="en-US" altLang="zh-TW" sz="2200" dirty="0"/>
              <a:t>surface</a:t>
            </a:r>
            <a:r>
              <a:rPr lang="zh-TW" altLang="en-US" sz="2200" dirty="0"/>
              <a:t>對象，然後</a:t>
            </a:r>
            <a:r>
              <a:rPr lang="en-US" altLang="zh-TW" sz="2200" dirty="0" err="1"/>
              <a:t>main_surface.blit</a:t>
            </a:r>
            <a:r>
              <a:rPr lang="en-US" altLang="zh-TW" sz="2200" dirty="0"/>
              <a:t>(</a:t>
            </a:r>
            <a:r>
              <a:rPr lang="zh-TW" altLang="en-US" sz="2200" dirty="0"/>
              <a:t>這三個對象</a:t>
            </a:r>
            <a:r>
              <a:rPr lang="en-US" altLang="zh-TW" sz="2200" dirty="0"/>
              <a:t>, </a:t>
            </a:r>
            <a:r>
              <a:rPr lang="zh-TW" altLang="en-US" sz="2200" dirty="0"/>
              <a:t>對應的位置</a:t>
            </a:r>
            <a:r>
              <a:rPr lang="en-US" altLang="zh-TW" sz="2200" dirty="0"/>
              <a:t>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這里也是一樣，創建一個函數用於繪制這三個對象</a:t>
            </a:r>
            <a:endParaRPr lang="en-US" altLang="zh-TW" sz="2200" dirty="0"/>
          </a:p>
          <a:p>
            <a:pPr marL="914400" lvl="2" indent="0" algn="just">
              <a:lnSpc>
                <a:spcPct val="150000"/>
              </a:lnSpc>
              <a:spcBef>
                <a:spcPts val="1800"/>
              </a:spcBef>
              <a:buNone/>
            </a:pPr>
            <a:endParaRPr lang="zh-TW" altLang="en-US" sz="20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DF18AB7-C48D-2021-CD2F-AD0C3910B5A9}"/>
              </a:ext>
            </a:extLst>
          </p:cNvPr>
          <p:cNvSpPr txBox="1"/>
          <p:nvPr/>
        </p:nvSpPr>
        <p:spPr>
          <a:xfrm>
            <a:off x="800100" y="624840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sz="1800" dirty="0">
                <a:solidFill>
                  <a:srgbClr val="FF0000"/>
                </a:solidFill>
              </a:rPr>
              <a:t>10_2_</a:t>
            </a:r>
            <a:r>
              <a:rPr lang="zh-TW" altLang="en-US" sz="1800" dirty="0">
                <a:solidFill>
                  <a:srgbClr val="FF0000"/>
                </a:solidFill>
              </a:rPr>
              <a:t>加入開始頁面</a:t>
            </a:r>
            <a:r>
              <a:rPr lang="en-US" altLang="zh-TW" dirty="0">
                <a:solidFill>
                  <a:srgbClr val="FF0000"/>
                </a:solidFill>
              </a:rPr>
              <a:t>.</a:t>
            </a:r>
            <a:r>
              <a:rPr lang="en-US" altLang="zh-TW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F8C69898-1AA3-5E23-D78E-4C763AF19755}"/>
              </a:ext>
            </a:extLst>
          </p:cNvPr>
          <p:cNvGrpSpPr/>
          <p:nvPr/>
        </p:nvGrpSpPr>
        <p:grpSpPr>
          <a:xfrm>
            <a:off x="8320984" y="609600"/>
            <a:ext cx="3451915" cy="5624678"/>
            <a:chOff x="8549585" y="1805940"/>
            <a:chExt cx="3100494" cy="5052060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6F96265D-F9E1-7D7A-8E0A-3207563E0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49585" y="1805940"/>
              <a:ext cx="3100494" cy="4903470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6BF62DB-A805-754F-3ECA-461A6A6D68EB}"/>
                </a:ext>
              </a:extLst>
            </p:cNvPr>
            <p:cNvSpPr/>
            <p:nvPr/>
          </p:nvSpPr>
          <p:spPr>
            <a:xfrm>
              <a:off x="9406890" y="3166110"/>
              <a:ext cx="1428750" cy="4686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54F137D-DB0D-CC96-CD4E-812834406B80}"/>
                </a:ext>
              </a:extLst>
            </p:cNvPr>
            <p:cNvSpPr/>
            <p:nvPr/>
          </p:nvSpPr>
          <p:spPr>
            <a:xfrm>
              <a:off x="8585835" y="5829418"/>
              <a:ext cx="3064244" cy="879991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B927003-ACC6-AE1B-12B0-36B055FE1BE8}"/>
                </a:ext>
              </a:extLst>
            </p:cNvPr>
            <p:cNvSpPr/>
            <p:nvPr/>
          </p:nvSpPr>
          <p:spPr>
            <a:xfrm>
              <a:off x="8585835" y="2115922"/>
              <a:ext cx="2976985" cy="4742078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28610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C7EE-5216-82AE-36AF-A6713ADB0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85A5-3AD9-170B-895A-967205AB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</a:t>
            </a:r>
            <a:r>
              <a:rPr lang="zh-TW" altLang="en-US" dirty="0"/>
              <a:t>首頁加入移動的地面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3C42649-FF6D-BFA3-C78B-A96A2E4A9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987499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為了幫首頁增加一些動感的元素，對</a:t>
            </a:r>
            <a:r>
              <a:rPr lang="en-US" altLang="zh-TW" sz="2200" dirty="0"/>
              <a:t>Base</a:t>
            </a:r>
            <a:r>
              <a:rPr lang="zh-TW" altLang="en-US" sz="2200" dirty="0"/>
              <a:t>類補充一個</a:t>
            </a:r>
            <a:r>
              <a:rPr lang="en-US" altLang="zh-TW" sz="2200" dirty="0"/>
              <a:t>update()</a:t>
            </a:r>
            <a:r>
              <a:rPr lang="zh-TW" altLang="en-US" sz="2200" dirty="0"/>
              <a:t>函數，使其不斷向左移動，</a:t>
            </a:r>
            <a:endParaRPr lang="en-US" altLang="zh-TW" sz="22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為了達到這一目的，需要</a:t>
            </a:r>
            <a:r>
              <a:rPr lang="en-US" altLang="zh-TW" sz="2200" dirty="0"/>
              <a:t>: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1. </a:t>
            </a:r>
            <a:r>
              <a:rPr lang="zh-TW" altLang="en-US" sz="2000" dirty="0"/>
              <a:t>先把地面</a:t>
            </a:r>
            <a:r>
              <a:rPr lang="en-US" altLang="zh-TW" sz="2000" dirty="0"/>
              <a:t>scale</a:t>
            </a:r>
            <a:r>
              <a:rPr lang="zh-TW" altLang="en-US" sz="2000" dirty="0"/>
              <a:t>成原來</a:t>
            </a:r>
            <a:r>
              <a:rPr lang="en-US" altLang="zh-TW" sz="2000" dirty="0"/>
              <a:t>2</a:t>
            </a:r>
            <a:r>
              <a:rPr lang="zh-TW" altLang="en-US" sz="2000" dirty="0"/>
              <a:t>倍的寬度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2. </a:t>
            </a:r>
            <a:r>
              <a:rPr lang="zh-TW" altLang="en-US" sz="2000" dirty="0"/>
              <a:t>重寫</a:t>
            </a:r>
            <a:r>
              <a:rPr lang="en-US" altLang="zh-TW" sz="2000" dirty="0"/>
              <a:t>update()</a:t>
            </a:r>
            <a:r>
              <a:rPr lang="zh-TW" altLang="en-US" sz="2000" dirty="0"/>
              <a:t>，使其</a:t>
            </a:r>
            <a:r>
              <a:rPr lang="en-US" altLang="zh-TW" sz="2000" dirty="0" err="1"/>
              <a:t>self.rect.x</a:t>
            </a:r>
            <a:r>
              <a:rPr lang="en-US" altLang="zh-TW" sz="2000" dirty="0"/>
              <a:t> -= MOVING_SPEED</a:t>
            </a:r>
            <a:r>
              <a:rPr lang="zh-TW" altLang="en-US" sz="2000" dirty="0"/>
              <a:t>，然後判斷出界复位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DC99BBC-7675-123D-BC28-9FF1185D41DF}"/>
              </a:ext>
            </a:extLst>
          </p:cNvPr>
          <p:cNvSpPr txBox="1"/>
          <p:nvPr/>
        </p:nvSpPr>
        <p:spPr>
          <a:xfrm>
            <a:off x="800100" y="624840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sz="1800" dirty="0">
                <a:solidFill>
                  <a:srgbClr val="FF0000"/>
                </a:solidFill>
              </a:rPr>
              <a:t>10_3_</a:t>
            </a:r>
            <a:r>
              <a:rPr lang="zh-TW" altLang="en-US" sz="1800" dirty="0">
                <a:solidFill>
                  <a:srgbClr val="FF0000"/>
                </a:solidFill>
              </a:rPr>
              <a:t>加入移動的</a:t>
            </a:r>
            <a:r>
              <a:rPr lang="en-US" altLang="zh-TW" sz="1800" dirty="0">
                <a:solidFill>
                  <a:srgbClr val="FF0000"/>
                </a:solidFill>
              </a:rPr>
              <a:t>Base</a:t>
            </a:r>
            <a:r>
              <a:rPr lang="en-US" altLang="zh-TW" dirty="0">
                <a:solidFill>
                  <a:srgbClr val="FF0000"/>
                </a:solidFill>
              </a:rPr>
              <a:t>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8631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0835D-FDF4-819A-EC89-A51B1888D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D9615-2DD3-C91A-C522-B2FEB264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</a:t>
            </a:r>
            <a:r>
              <a:rPr lang="zh-TW" altLang="en-US" dirty="0"/>
              <a:t>使用按鈕進行頁面跳轉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5C4A9DD-DC4D-BE36-C321-62CEC69E4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1011502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如何進行頁面的跳轉</a:t>
            </a:r>
            <a:r>
              <a:rPr lang="en-US" altLang="zh-TW" sz="2200" dirty="0"/>
              <a:t>? 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需要創建一個</a:t>
            </a:r>
            <a:r>
              <a:rPr lang="en-US" altLang="zh-TW" sz="2200" dirty="0"/>
              <a:t>Button</a:t>
            </a:r>
            <a:r>
              <a:rPr lang="zh-TW" altLang="en-US" sz="2200" dirty="0"/>
              <a:t>，其主要的功能是識別到鼠標按下，然後告知給程序是否有被點擊的結果</a:t>
            </a:r>
            <a:r>
              <a:rPr lang="en-US" altLang="zh-TW" sz="2200" dirty="0"/>
              <a:t>! 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當識別到按下時，把</a:t>
            </a:r>
            <a:r>
              <a:rPr lang="en-US" altLang="zh-TW" sz="2200" dirty="0"/>
              <a:t>page</a:t>
            </a:r>
            <a:r>
              <a:rPr lang="zh-TW" altLang="en-US" sz="2200" dirty="0"/>
              <a:t>屬性</a:t>
            </a:r>
            <a:r>
              <a:rPr lang="en-US" altLang="zh-TW" sz="2200" dirty="0"/>
              <a:t>(</a:t>
            </a:r>
            <a:r>
              <a:rPr lang="en-US" altLang="zh-TW" sz="2200" dirty="0" err="1"/>
              <a:t>self.page</a:t>
            </a:r>
            <a:r>
              <a:rPr lang="en-US" altLang="zh-TW" sz="2200" dirty="0"/>
              <a:t>)</a:t>
            </a:r>
            <a:r>
              <a:rPr lang="zh-TW" altLang="en-US" sz="2200" dirty="0"/>
              <a:t>修改為對應的頁面，例如主頁是</a:t>
            </a:r>
            <a:r>
              <a:rPr lang="en-US" altLang="zh-TW" sz="2200" dirty="0"/>
              <a:t>2</a:t>
            </a:r>
            <a:r>
              <a:rPr lang="zh-TW" altLang="en-US" sz="2200" dirty="0"/>
              <a:t>。從而就實現了頁面的跳轉</a:t>
            </a:r>
            <a:endParaRPr lang="en-US" altLang="zh-TW" sz="2200" dirty="0"/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因此，這里的難點在於要實現一個</a:t>
            </a:r>
            <a:r>
              <a:rPr lang="en-US" altLang="zh-TW" sz="2200" dirty="0"/>
              <a:t>Button</a:t>
            </a:r>
            <a:r>
              <a:rPr lang="zh-TW" altLang="en-US" sz="2200" dirty="0"/>
              <a:t>類並返回鼠標是否有按下的結果</a:t>
            </a:r>
          </a:p>
        </p:txBody>
      </p:sp>
    </p:spTree>
    <p:extLst>
      <p:ext uri="{BB962C8B-B14F-4D97-AF65-F5344CB8AC3E}">
        <p14:creationId xmlns:p14="http://schemas.microsoft.com/office/powerpoint/2010/main" val="42043059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4FEF-9A15-1EBE-C284-32E8C95E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EDFAD-80A4-BF80-7C93-38AFEFEDC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Button</a:t>
            </a:r>
            <a:r>
              <a:rPr lang="zh-TW" altLang="en-US" dirty="0"/>
              <a:t>類的實現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A47D433-196B-E01D-F988-A506F2543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1011502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/>
              <a:t>Button</a:t>
            </a:r>
            <a:r>
              <a:rPr lang="zh-TW" altLang="en-US" sz="2200" dirty="0"/>
              <a:t>類的實現思路如下</a:t>
            </a:r>
            <a:r>
              <a:rPr lang="en-US" altLang="zh-TW" sz="2200" dirty="0"/>
              <a:t>: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/>
              <a:t>1</a:t>
            </a:r>
            <a:r>
              <a:rPr lang="en-US" altLang="zh-TW" sz="2000" dirty="0"/>
              <a:t>. </a:t>
            </a:r>
            <a:r>
              <a:rPr lang="zh-TW" altLang="en-US" sz="2000" dirty="0"/>
              <a:t>按鈕需要有顯示的圖像，因此初始化時要傳入圖像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2. </a:t>
            </a:r>
            <a:r>
              <a:rPr lang="zh-TW" altLang="en-US" sz="2000" dirty="0"/>
              <a:t>按鈕的主要功能是判斷鼠標是否有按到按鈕上，因此按鈕類需要有座標這一概念，因此初始化時需要傳入按鈕的位置</a:t>
            </a:r>
            <a:r>
              <a:rPr lang="en-US" altLang="zh-TW" sz="2000" dirty="0"/>
              <a:t>x</a:t>
            </a:r>
            <a:r>
              <a:rPr lang="zh-TW" altLang="en-US" sz="2000" dirty="0"/>
              <a:t>和</a:t>
            </a:r>
            <a:r>
              <a:rPr lang="en-US" altLang="zh-TW" sz="2000" dirty="0"/>
              <a:t>y</a:t>
            </a:r>
            <a:r>
              <a:rPr lang="zh-TW" altLang="en-US" sz="2000" dirty="0"/>
              <a:t>位置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3. </a:t>
            </a:r>
            <a:r>
              <a:rPr lang="zh-TW" altLang="en-US" sz="2000" dirty="0"/>
              <a:t>創建一個方法</a:t>
            </a:r>
            <a:r>
              <a:rPr lang="en-US" altLang="zh-TW" sz="2000" dirty="0" err="1"/>
              <a:t>checkifclick</a:t>
            </a:r>
            <a:r>
              <a:rPr lang="en-US" altLang="zh-TW" sz="2000" dirty="0"/>
              <a:t>()</a:t>
            </a:r>
            <a:r>
              <a:rPr lang="zh-TW" altLang="en-US" sz="2000" dirty="0"/>
              <a:t>用於判斷</a:t>
            </a:r>
            <a:endParaRPr lang="en-US" altLang="zh-TW" sz="2000" dirty="0"/>
          </a:p>
          <a:p>
            <a:pPr lvl="2" algn="just">
              <a:spcBef>
                <a:spcPts val="1800"/>
              </a:spcBef>
            </a:pPr>
            <a:r>
              <a:rPr lang="zh-TW" altLang="en-US" sz="2000" dirty="0"/>
              <a:t>鼠標座標是否在</a:t>
            </a:r>
            <a:r>
              <a:rPr lang="en-US" altLang="zh-TW" sz="2000" dirty="0"/>
              <a:t>Button</a:t>
            </a:r>
            <a:r>
              <a:rPr lang="zh-TW" altLang="en-US" sz="2000" dirty="0"/>
              <a:t>的</a:t>
            </a:r>
            <a:r>
              <a:rPr lang="en-US" altLang="zh-TW" sz="2000" dirty="0" err="1"/>
              <a:t>Rect</a:t>
            </a:r>
            <a:r>
              <a:rPr lang="zh-TW" altLang="en-US" sz="2000" dirty="0"/>
              <a:t>上</a:t>
            </a:r>
            <a:endParaRPr lang="en-US" altLang="zh-TW" sz="2000" dirty="0"/>
          </a:p>
          <a:p>
            <a:pPr lvl="2" algn="just">
              <a:spcBef>
                <a:spcPts val="1800"/>
              </a:spcBef>
            </a:pPr>
            <a:r>
              <a:rPr lang="zh-TW" altLang="en-US" sz="2000" dirty="0"/>
              <a:t>而且左鍵是否有被按下</a:t>
            </a:r>
            <a:r>
              <a:rPr lang="en-US" altLang="zh-TW" sz="2000" dirty="0"/>
              <a:t>?</a:t>
            </a:r>
          </a:p>
          <a:p>
            <a:pPr lvl="2" algn="just">
              <a:spcBef>
                <a:spcPts val="1800"/>
              </a:spcBef>
            </a:pPr>
            <a:r>
              <a:rPr lang="zh-TW" altLang="en-US" sz="2000" dirty="0"/>
              <a:t>若都滿足，返回結果「有被按下」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A479E3E-AE37-FDB7-CB40-7061C2820F54}"/>
              </a:ext>
            </a:extLst>
          </p:cNvPr>
          <p:cNvSpPr txBox="1"/>
          <p:nvPr/>
        </p:nvSpPr>
        <p:spPr>
          <a:xfrm>
            <a:off x="800100" y="624840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sz="1800" dirty="0">
                <a:solidFill>
                  <a:srgbClr val="FF0000"/>
                </a:solidFill>
              </a:rPr>
              <a:t>FlappyButton</a:t>
            </a:r>
            <a:r>
              <a:rPr lang="en-US" altLang="zh-TW" dirty="0">
                <a:solidFill>
                  <a:srgbClr val="FF0000"/>
                </a:solidFill>
              </a:rPr>
              <a:t>.py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08FA7D8-14CE-ED2B-543B-BF74C5FA6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807" y="4271426"/>
            <a:ext cx="2017925" cy="74370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1626275-2130-E548-A06D-962FBD9554C7}"/>
              </a:ext>
            </a:extLst>
          </p:cNvPr>
          <p:cNvSpPr/>
          <p:nvPr/>
        </p:nvSpPr>
        <p:spPr>
          <a:xfrm>
            <a:off x="8172450" y="3429000"/>
            <a:ext cx="2834640" cy="31722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EB21B6F-0743-FE59-36D0-3D1EA74F6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758" y="1779686"/>
            <a:ext cx="2017925" cy="74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03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8160D-C759-04A3-C74B-5F1B85685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ACB15-5C17-9044-5389-F9D5740EC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內容 </a:t>
            </a:r>
            <a:r>
              <a:rPr lang="en-US" altLang="zh-TW" dirty="0"/>
              <a:t>– </a:t>
            </a:r>
            <a:r>
              <a:rPr lang="zh-TW" altLang="en-US" dirty="0"/>
              <a:t>使用</a:t>
            </a:r>
            <a:r>
              <a:rPr lang="en-US" altLang="zh-TW" dirty="0"/>
              <a:t>Button</a:t>
            </a:r>
            <a:r>
              <a:rPr lang="zh-TW" altLang="en-US" dirty="0"/>
              <a:t>跳轉頁面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4156391-A338-1041-F62E-9F3A5822A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80" y="1290127"/>
            <a:ext cx="10115020" cy="463061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/>
              <a:t>有了</a:t>
            </a:r>
            <a:r>
              <a:rPr lang="en-US" altLang="zh-TW" sz="2200" dirty="0"/>
              <a:t>Button</a:t>
            </a:r>
            <a:r>
              <a:rPr lang="zh-TW" altLang="en-US" sz="2200" dirty="0"/>
              <a:t>類後，實現跳轉就十分簡單</a:t>
            </a:r>
            <a:endParaRPr lang="en-US" altLang="zh-TW" sz="22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1. </a:t>
            </a:r>
            <a:r>
              <a:rPr lang="zh-TW" altLang="en-US" sz="2000" dirty="0"/>
              <a:t>先把</a:t>
            </a:r>
            <a:r>
              <a:rPr lang="en-US" altLang="zh-TW" sz="2000" dirty="0"/>
              <a:t>Button </a:t>
            </a:r>
            <a:r>
              <a:rPr lang="zh-TW" altLang="en-US" sz="2000" dirty="0"/>
              <a:t>繪畫在首頁中</a:t>
            </a:r>
            <a:endParaRPr lang="en-US" altLang="zh-TW" sz="2000" dirty="0"/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000" dirty="0"/>
              <a:t>2. </a:t>
            </a:r>
            <a:r>
              <a:rPr lang="zh-TW" altLang="en-US" sz="2000" dirty="0"/>
              <a:t>然後每個循環都檢測一下</a:t>
            </a:r>
            <a:r>
              <a:rPr lang="en-US" altLang="zh-TW" sz="2000" dirty="0"/>
              <a:t>Button</a:t>
            </a:r>
            <a:r>
              <a:rPr lang="zh-TW" altLang="en-US" sz="2000" dirty="0"/>
              <a:t>有沒有被按下。若有，使</a:t>
            </a:r>
            <a:r>
              <a:rPr lang="en-US" altLang="zh-TW" sz="2000" dirty="0" err="1"/>
              <a:t>self.page</a:t>
            </a:r>
            <a:r>
              <a:rPr lang="en-US" altLang="zh-TW" sz="2000" dirty="0"/>
              <a:t> = 2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483F221-6818-4D56-79D9-EF135F2D6E68}"/>
              </a:ext>
            </a:extLst>
          </p:cNvPr>
          <p:cNvSpPr txBox="1"/>
          <p:nvPr/>
        </p:nvSpPr>
        <p:spPr>
          <a:xfrm>
            <a:off x="800100" y="6248400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/>
              <a:t>詳看 </a:t>
            </a:r>
            <a:r>
              <a:rPr lang="en-US" altLang="zh-TW" sz="1800" dirty="0">
                <a:solidFill>
                  <a:srgbClr val="FF0000"/>
                </a:solidFill>
              </a:rPr>
              <a:t>10_4_</a:t>
            </a:r>
            <a:r>
              <a:rPr lang="zh-TW" altLang="en-US" sz="1800" dirty="0">
                <a:solidFill>
                  <a:srgbClr val="FF0000"/>
                </a:solidFill>
              </a:rPr>
              <a:t>加入開始按鈕</a:t>
            </a:r>
            <a:r>
              <a:rPr lang="en-US" altLang="zh-TW" dirty="0">
                <a:solidFill>
                  <a:srgbClr val="FF0000"/>
                </a:solidFill>
              </a:rPr>
              <a:t>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707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2026.05.12</a:t>
            </a:r>
          </a:p>
        </p:txBody>
      </p:sp>
    </p:spTree>
    <p:extLst>
      <p:ext uri="{BB962C8B-B14F-4D97-AF65-F5344CB8AC3E}">
        <p14:creationId xmlns:p14="http://schemas.microsoft.com/office/powerpoint/2010/main" val="388904428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">
  <a:themeElements>
    <a:clrScheme name="PGO-JIGSAW PUZZLE">
      <a:dk1>
        <a:sysClr val="windowText" lastClr="000000"/>
      </a:dk1>
      <a:lt1>
        <a:sysClr val="window" lastClr="FFFFFF"/>
      </a:lt1>
      <a:dk2>
        <a:srgbClr val="20D38F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多面向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4303</TotalTime>
  <Words>2334</Words>
  <Application>Microsoft Office PowerPoint</Application>
  <PresentationFormat>寬螢幕</PresentationFormat>
  <Paragraphs>233</Paragraphs>
  <Slides>31</Slides>
  <Notes>31</Notes>
  <HiddenSlides>0</HiddenSlides>
  <MMClips>1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31</vt:i4>
      </vt:variant>
    </vt:vector>
  </HeadingPairs>
  <TitlesOfParts>
    <vt:vector size="40" baseType="lpstr">
      <vt:lpstr>Arial</vt:lpstr>
      <vt:lpstr>Calibri</vt:lpstr>
      <vt:lpstr>Open Sans Semibold</vt:lpstr>
      <vt:lpstr>Times New Roman</vt:lpstr>
      <vt:lpstr>Trebuchet MS</vt:lpstr>
      <vt:lpstr>Wingdings</vt:lpstr>
      <vt:lpstr>Wingdings 3</vt:lpstr>
      <vt:lpstr>Light</vt:lpstr>
      <vt:lpstr>多面向</vt:lpstr>
      <vt:lpstr>綜合練習 flappy-bird</vt:lpstr>
      <vt:lpstr>簡介</vt:lpstr>
      <vt:lpstr>內容</vt:lpstr>
      <vt:lpstr>內容 – Bird類</vt:lpstr>
      <vt:lpstr>內容 – Base類</vt:lpstr>
      <vt:lpstr>內容 – Pipe類</vt:lpstr>
      <vt:lpstr>內容 – Pipe類</vt:lpstr>
      <vt:lpstr>內容 – Pipe類</vt:lpstr>
      <vt:lpstr>內容 – Pipe類</vt:lpstr>
      <vt:lpstr>內容 – Pipe類</vt:lpstr>
      <vt:lpstr>內容 – Pipe類</vt:lpstr>
      <vt:lpstr>內容 – Pipe類</vt:lpstr>
      <vt:lpstr>內容 – 碰撞檢測</vt:lpstr>
      <vt:lpstr>內容 – 碰撞檢測</vt:lpstr>
      <vt:lpstr>內容 - 分數計算</vt:lpstr>
      <vt:lpstr>內容 - 分數計算</vt:lpstr>
      <vt:lpstr>內容 - 文字分數顯示</vt:lpstr>
      <vt:lpstr>內容 – 圖像分數顯示</vt:lpstr>
      <vt:lpstr>內容 - 設計FlappyMark</vt:lpstr>
      <vt:lpstr>內容 – 使用圖像顯示分數</vt:lpstr>
      <vt:lpstr>內容 – 音效</vt:lpstr>
      <vt:lpstr>內容 – 音效</vt:lpstr>
      <vt:lpstr>內容 – 加入背景</vt:lpstr>
      <vt:lpstr>內容 – 加入首頁</vt:lpstr>
      <vt:lpstr>內容 – 加入首頁</vt:lpstr>
      <vt:lpstr>內容 – 加入首頁</vt:lpstr>
      <vt:lpstr>內容 – 首頁加入移動的地面</vt:lpstr>
      <vt:lpstr>內容 – 使用按鈕進行頁面跳轉</vt:lpstr>
      <vt:lpstr>內容 – Button類的實現</vt:lpstr>
      <vt:lpstr>內容 – 使用Button跳轉頁面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microsome presentation</dc:title>
  <dc:creator/>
  <dc:description/>
  <cp:lastModifiedBy>勇 趙</cp:lastModifiedBy>
  <cp:revision>1314</cp:revision>
  <dcterms:created xsi:type="dcterms:W3CDTF">2021-09-29T10:33:58Z</dcterms:created>
  <dcterms:modified xsi:type="dcterms:W3CDTF">2026-05-11T17:19:28Z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DAEE3358A3B04398A7E2A29EEAFCE4E9</vt:lpwstr>
  </property>
  <property fmtid="{D5CDD505-2E9C-101B-9397-08002B2CF9AE}" pid="3" name="KSOProductBuildVer">
    <vt:lpwstr>2052-11.1.0.10938</vt:lpwstr>
  </property>
</Properties>
</file>