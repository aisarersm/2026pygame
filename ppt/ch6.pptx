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59" r:id="rId2"/>
  </p:sldMasterIdLst>
  <p:notesMasterIdLst>
    <p:notesMasterId r:id="rId19"/>
  </p:notesMasterIdLst>
  <p:sldIdLst>
    <p:sldId id="335" r:id="rId3"/>
    <p:sldId id="405" r:id="rId4"/>
    <p:sldId id="351" r:id="rId5"/>
    <p:sldId id="398" r:id="rId6"/>
    <p:sldId id="439" r:id="rId7"/>
    <p:sldId id="451" r:id="rId8"/>
    <p:sldId id="441" r:id="rId9"/>
    <p:sldId id="442" r:id="rId10"/>
    <p:sldId id="443" r:id="rId11"/>
    <p:sldId id="445" r:id="rId12"/>
    <p:sldId id="444" r:id="rId13"/>
    <p:sldId id="446" r:id="rId14"/>
    <p:sldId id="447" r:id="rId15"/>
    <p:sldId id="448" r:id="rId16"/>
    <p:sldId id="449" r:id="rId17"/>
    <p:sldId id="33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C0A0"/>
    <a:srgbClr val="013D9A"/>
    <a:srgbClr val="F8F87B"/>
    <a:srgbClr val="EE3F53"/>
    <a:srgbClr val="B9BFCA"/>
    <a:srgbClr val="66C2CD"/>
    <a:srgbClr val="D290E4"/>
    <a:srgbClr val="71BEF2"/>
    <a:srgbClr val="DBAB79"/>
    <a:srgbClr val="A8C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41" autoAdjust="0"/>
    <p:restoredTop sz="93557" autoAdjust="0"/>
  </p:normalViewPr>
  <p:slideViewPr>
    <p:cSldViewPr snapToGrid="0" showGuides="1">
      <p:cViewPr varScale="1">
        <p:scale>
          <a:sx n="60" d="100"/>
          <a:sy n="60" d="100"/>
        </p:scale>
        <p:origin x="8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815E-4634-B0BC-1E06-6B8F8A47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E288B-1729-69D0-5254-F24407CC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C9D51-017C-50BE-FB83-72168A0A5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8EF91-F1D3-CECD-98FD-C9868D663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9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489E0-D38C-3A6A-1F75-7161368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5932F-5262-7AD0-AA01-5D20C5B04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CF1F5A-4404-889E-A3E8-2457DFEFD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4D8E-31C6-5041-736A-C13A80DD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22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7936-0C12-4750-0196-1AF32021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D8BC9-AA7E-9EB9-D397-FEE8FC83E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C6EAA-6404-A286-B1AB-811043DF2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20BE8-800C-FACD-E1C1-088F008F5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61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EDF8-1AC9-BA41-C793-E52F87A8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73D26-9B07-4445-3672-0B0C9B08B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9201E-E3C6-01D4-3FFB-A9FAB61F5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74064-ABF0-4E38-F183-814C3E437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48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BCFA-8B9E-104E-22F0-BD651B59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3F560-5359-B871-B315-D8019A8C8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46A9A-682D-4161-58DC-CE5B1E46E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64D3E-D6E0-5ED0-FEB7-DC2CC44216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78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8BF7-098E-5242-EE43-0E44D102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E3D9E-B3DD-EC69-D66E-4724813C6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FCC73-112F-70A2-1E30-4BC096933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1E7C2-7E90-6948-DB7C-F4B8AA37E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4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098C-2B11-911F-C43B-5C84C3318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98ED1-2FD1-E4C7-F449-38B09370C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ADAA6-5A1F-B189-9340-12656004D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4A44A-6393-A360-9D75-54448BBE8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95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01DF7-3DA3-275C-C8B1-26B70FDA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7E2B7F-9D4C-275D-DEBB-333AE5E30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1C6D9-AE04-8C60-8060-F1EABB049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0DC80-9E65-3302-E0A2-03120A046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96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32D4-8B62-F3A2-6B0A-91DE86FA7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B8418-BA2F-3AF4-431F-F5D03EF2F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D0E6F-9842-A59B-ED43-3437A73E3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D9028-34F8-987B-B88D-F50E1041A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633F-FBE6-BCF5-2F3C-ACFAA4A0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1D169-FCC7-3328-5025-A1ADF6B46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92A61-B5B4-BDBA-FBFF-5DFDC8D47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6FE5B-32E9-BBE0-062E-A296413B2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14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CFD75-975A-E41C-8B5F-56CFFE33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9817B-14F1-C68F-AEFC-5203C6BF2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7F42A-5D93-C382-A363-8FAAAF259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6CD2C-B5BC-6310-8ACD-C2C066434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18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F3E1-B758-CC2B-64CE-738ED5690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BDC53-1F58-22C6-0D6A-9F96E5FE1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AF502-7C83-3590-2FE3-1E35F1D8A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93A3E-48E6-6167-46BF-0CAEF7DF7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720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E3A7-039A-4A3F-2E0F-806A1137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89391-F9CC-53DB-7DB8-DE5B3B943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88D11-6D14-2BBC-6EC5-492E94F7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DB501-87EF-7D58-BDA8-98CE5E4A3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51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AA10A-61FC-7CB6-625F-DDBDE65D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6ED2A-0732-AE29-6FF0-854BBD8DA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E764F-4CB0-B670-59F3-EAC3ACB48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4B33-6600-7301-710D-DD529020FC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28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7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388"/>
            <a:ext cx="9144000" cy="2387600"/>
          </a:xfrm>
        </p:spPr>
        <p:txBody>
          <a:bodyPr anchor="b">
            <a:normAutofit/>
          </a:bodyPr>
          <a:lstStyle>
            <a:lvl1pPr algn="ctr">
              <a:defRPr sz="80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1063"/>
            <a:ext cx="9144000" cy="8651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3200">
                <a:solidFill>
                  <a:schemeClr val="tx2">
                    <a:lumMod val="75000"/>
                  </a:schemeClr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1200"/>
              </a:spcBef>
              <a:defRPr/>
            </a:lvl2pPr>
            <a:lvl3pPr>
              <a:spcBef>
                <a:spcPts val="1200"/>
              </a:spcBef>
              <a:defRPr/>
            </a:lvl3pPr>
            <a:lvl4pPr>
              <a:spcBef>
                <a:spcPts val="1200"/>
              </a:spcBef>
              <a:defRPr/>
            </a:lvl4pPr>
            <a:lvl5pPr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8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7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0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6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9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71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2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27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8172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51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5124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5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697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HK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5FBB-F964-468E-9A4F-55CD259FA20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64B602-2675-49B5-8E63-07B7F1F2A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97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microsoft.com/office/2007/relationships/media" Target="../media/media2.mp4"/><Relationship Id="rId1" Type="http://schemas.openxmlformats.org/officeDocument/2006/relationships/video" Target="NULL" TargetMode="Externa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8189826" cy="1646302"/>
          </a:xfrm>
        </p:spPr>
        <p:txBody>
          <a:bodyPr/>
          <a:lstStyle/>
          <a:p>
            <a:r>
              <a:rPr lang="en-US" altLang="zh-CN" sz="4400" dirty="0"/>
              <a:t>Chapter6-</a:t>
            </a:r>
            <a:r>
              <a:rPr lang="zh-TW" altLang="en-US" sz="4400" dirty="0"/>
              <a:t>模塊講解與綜合練習</a:t>
            </a:r>
            <a:endParaRPr lang="en-US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836676" y="4178423"/>
            <a:ext cx="7766936" cy="1096899"/>
          </a:xfrm>
        </p:spPr>
        <p:txBody>
          <a:bodyPr>
            <a:normAutofit/>
          </a:bodyPr>
          <a:lstStyle/>
          <a:p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基於</a:t>
            </a:r>
            <a:r>
              <a:rPr lang="en-US" altLang="zh-TW" sz="20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Pygame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遊戲開發</a:t>
            </a:r>
            <a:endParaRPr lang="en-US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4FB4-6AAE-3BB0-B745-2FBEDFF3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4B9B-6AFA-2CE6-C53B-8C9A89B12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回顧上堂內容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38B7BD-BEE7-895A-40C0-A4837377D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使用</a:t>
            </a:r>
            <a:r>
              <a:rPr lang="en-US" altLang="zh-TW" sz="2400" dirty="0">
                <a:solidFill>
                  <a:schemeClr val="tx1"/>
                </a:solidFill>
              </a:rPr>
              <a:t>music</a:t>
            </a:r>
            <a:r>
              <a:rPr lang="zh-TW" altLang="en-US" sz="2400" dirty="0">
                <a:solidFill>
                  <a:schemeClr val="tx1"/>
                </a:solidFill>
              </a:rPr>
              <a:t>模塊進行背景音樂的播放、暫停、恢復、續播等操作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綜合小練習的講解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彈彈球 </a:t>
            </a:r>
            <a:r>
              <a:rPr lang="en-US" altLang="zh-TW" sz="2200" dirty="0">
                <a:solidFill>
                  <a:schemeClr val="tx1"/>
                </a:solidFill>
              </a:rPr>
              <a:t>-&gt; </a:t>
            </a:r>
            <a:r>
              <a:rPr lang="zh-TW" altLang="en-US" sz="2200" dirty="0">
                <a:solidFill>
                  <a:schemeClr val="tx1"/>
                </a:solidFill>
              </a:rPr>
              <a:t>反彈的實現、分數計算、觸發遊戲開始的方法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背景移動</a:t>
            </a:r>
            <a:r>
              <a:rPr lang="en-US" altLang="zh-TW" sz="2200" dirty="0">
                <a:solidFill>
                  <a:schemeClr val="tx1"/>
                </a:solidFill>
              </a:rPr>
              <a:t> -&gt; </a:t>
            </a:r>
            <a:r>
              <a:rPr lang="zh-TW" altLang="en-US" sz="2200" dirty="0">
                <a:solidFill>
                  <a:schemeClr val="tx1"/>
                </a:solidFill>
              </a:rPr>
              <a:t>背景連續的核心思路</a:t>
            </a:r>
            <a:r>
              <a:rPr lang="en-US" altLang="zh-TW" sz="2200" dirty="0">
                <a:solidFill>
                  <a:schemeClr val="tx1"/>
                </a:solidFill>
              </a:rPr>
              <a:t>-&gt;</a:t>
            </a:r>
            <a:r>
              <a:rPr lang="zh-TW" altLang="en-US" sz="2200" dirty="0">
                <a:solidFill>
                  <a:schemeClr val="tx1"/>
                </a:solidFill>
              </a:rPr>
              <a:t>兩個或以上的畫布在同時畫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坦克射擊 </a:t>
            </a:r>
            <a:r>
              <a:rPr lang="en-US" altLang="zh-TW" sz="2200" dirty="0">
                <a:solidFill>
                  <a:schemeClr val="tx1"/>
                </a:solidFill>
              </a:rPr>
              <a:t>-&gt; </a:t>
            </a:r>
            <a:r>
              <a:rPr lang="zh-TW" altLang="en-US" sz="2200" dirty="0">
                <a:solidFill>
                  <a:schemeClr val="tx1"/>
                </a:solidFill>
              </a:rPr>
              <a:t>子彈的觸發和刪除、控制子彈的數量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障礙物跳躍</a:t>
            </a:r>
            <a:r>
              <a:rPr lang="en-US" altLang="zh-TW" sz="2200" dirty="0">
                <a:solidFill>
                  <a:schemeClr val="tx1"/>
                </a:solidFill>
              </a:rPr>
              <a:t> -&gt; </a:t>
            </a:r>
            <a:r>
              <a:rPr lang="zh-TW" altLang="en-US" sz="2200" dirty="0">
                <a:solidFill>
                  <a:schemeClr val="tx1"/>
                </a:solidFill>
              </a:rPr>
              <a:t>簡單矩形碰撞檢測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40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3002-3F4F-F065-F7DE-780095A8A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B0E2-FF48-32F6-8C2A-C70FD9C77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本篇包括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16193E-3215-3D49-E1F1-632D43154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02" y="1570443"/>
            <a:ext cx="10910777" cy="5032376"/>
          </a:xfrm>
        </p:spPr>
        <p:txBody>
          <a:bodyPr>
            <a:noAutofit/>
          </a:bodyPr>
          <a:lstStyle/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面向對象講解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補充</a:t>
            </a:r>
            <a:r>
              <a:rPr lang="en-US" altLang="zh-TW" sz="2200" dirty="0">
                <a:solidFill>
                  <a:schemeClr val="tx1"/>
                </a:solidFill>
              </a:rPr>
              <a:t>PPT)</a:t>
            </a:r>
          </a:p>
          <a:p>
            <a:pPr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模塊講解</a:t>
            </a:r>
            <a:r>
              <a:rPr lang="en-US" altLang="zh-TW" sz="220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Sprite</a:t>
            </a:r>
            <a:r>
              <a:rPr lang="zh-TW" altLang="en-US" sz="2000" dirty="0">
                <a:solidFill>
                  <a:schemeClr val="tx1"/>
                </a:solidFill>
              </a:rPr>
              <a:t>模塊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09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0B4B9-F320-C898-35B3-FCC56A57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25AD-D571-E496-5264-572BCE950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前提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4BC0CC7-72C6-BC20-3C29-963475508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84" y="1435395"/>
            <a:ext cx="10910777" cy="50323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前提</a:t>
            </a:r>
            <a:r>
              <a:rPr lang="en-US" altLang="zh-TW" sz="2400" dirty="0">
                <a:solidFill>
                  <a:schemeClr val="tx1"/>
                </a:solidFill>
              </a:rPr>
              <a:t>: </a:t>
            </a:r>
            <a:r>
              <a:rPr lang="zh-TW" altLang="en-US" sz="2400" dirty="0">
                <a:solidFill>
                  <a:schemeClr val="tx1"/>
                </a:solidFill>
              </a:rPr>
              <a:t>在前幾章中，繪畫小鳥或坦克在畫面時，角色的圖案和位置是各自定義的，然後利用第三方工具如函數</a:t>
            </a:r>
            <a:r>
              <a:rPr lang="en-US" altLang="zh-TW" sz="2400" dirty="0" err="1">
                <a:solidFill>
                  <a:schemeClr val="tx1"/>
                </a:solidFill>
              </a:rPr>
              <a:t>surafce.blit</a:t>
            </a:r>
            <a:r>
              <a:rPr lang="en-US" altLang="zh-TW" sz="2400" dirty="0">
                <a:solidFill>
                  <a:schemeClr val="tx1"/>
                </a:solidFill>
              </a:rPr>
              <a:t>()</a:t>
            </a:r>
            <a:r>
              <a:rPr lang="zh-TW" altLang="en-US" sz="2400" dirty="0">
                <a:solidFill>
                  <a:schemeClr val="tx1"/>
                </a:solidFill>
              </a:rPr>
              <a:t>把一個圖像放到對應的位置上，而不是一個角色它本身就具備圖案和位置兩個特性。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 err="1">
                <a:solidFill>
                  <a:schemeClr val="tx1"/>
                </a:solidFill>
              </a:rPr>
              <a:t>sprilte</a:t>
            </a:r>
            <a:r>
              <a:rPr lang="zh-TW" altLang="en-US" sz="2400" dirty="0">
                <a:solidFill>
                  <a:schemeClr val="tx1"/>
                </a:solidFill>
              </a:rPr>
              <a:t>模塊就是為了解決了這個問題而設計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395C6EE-1508-DA31-0C48-2CFD587E3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270" y="3429000"/>
            <a:ext cx="4229591" cy="308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2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4886-0252-21B7-6DB5-F9B0B0BC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2395-A4F3-2C34-FEB0-3B07C9C0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sprite 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7B65609-C388-F82C-EAC3-5661575AD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084" y="1435395"/>
            <a:ext cx="10910777" cy="154783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Sprite(</a:t>
            </a:r>
            <a:r>
              <a:rPr lang="zh-TW" altLang="en-US" sz="2400" dirty="0">
                <a:solidFill>
                  <a:schemeClr val="tx1"/>
                </a:solidFill>
              </a:rPr>
              <a:t>精靈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r>
              <a:rPr lang="zh-TW" altLang="en-US" sz="2400" dirty="0">
                <a:solidFill>
                  <a:schemeClr val="tx1"/>
                </a:solidFill>
              </a:rPr>
              <a:t>模塊是遊戲開發的核心模塊，用於管理遊戲對象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使用時需要先定義一個子類繼承</a:t>
            </a:r>
            <a:r>
              <a:rPr lang="en-US" altLang="zh-TW" sz="2400" dirty="0" err="1">
                <a:solidFill>
                  <a:schemeClr val="tx1"/>
                </a:solidFill>
              </a:rPr>
              <a:t>sprite.Sprite</a:t>
            </a:r>
            <a:r>
              <a:rPr lang="zh-TW" altLang="en-US" sz="2400" dirty="0">
                <a:solidFill>
                  <a:schemeClr val="tx1"/>
                </a:solidFill>
              </a:rPr>
              <a:t>父類，具體格式如下</a:t>
            </a:r>
            <a:r>
              <a:rPr lang="en-US" altLang="zh-TW" sz="2400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37E6FAF-0154-2FD1-42B2-541C87442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7" y="3348990"/>
            <a:ext cx="10712963" cy="241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8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CCD20-13DB-FE14-239A-14D40EDB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623D-648F-C365-B44C-2E11B6DC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en-US" dirty="0"/>
              <a:t>sprite </a:t>
            </a:r>
            <a:r>
              <a:rPr lang="zh-TW" altLang="en-US" dirty="0"/>
              <a:t>模塊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67B055-98AC-E3C1-9A72-9F190F2CD427}"/>
              </a:ext>
            </a:extLst>
          </p:cNvPr>
          <p:cNvSpPr txBox="1">
            <a:spLocks/>
          </p:cNvSpPr>
          <p:nvPr/>
        </p:nvSpPr>
        <p:spPr>
          <a:xfrm>
            <a:off x="677334" y="1547835"/>
            <a:ext cx="10204026" cy="2292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子類必須要定義</a:t>
            </a:r>
            <a:r>
              <a:rPr lang="en-US" altLang="zh-TW" sz="2400" dirty="0" err="1">
                <a:solidFill>
                  <a:schemeClr val="tx1"/>
                </a:solidFill>
              </a:rPr>
              <a:t>self.image</a:t>
            </a:r>
            <a:r>
              <a:rPr lang="zh-TW" altLang="en-US" sz="2400" dirty="0">
                <a:solidFill>
                  <a:schemeClr val="tx1"/>
                </a:solidFill>
              </a:rPr>
              <a:t>和</a:t>
            </a:r>
            <a:r>
              <a:rPr lang="en-US" altLang="zh-TW" sz="2400" dirty="0" err="1">
                <a:solidFill>
                  <a:schemeClr val="tx1"/>
                </a:solidFill>
              </a:rPr>
              <a:t>self.rect</a:t>
            </a:r>
            <a:r>
              <a:rPr lang="zh-TW" altLang="en-US" sz="2400" dirty="0">
                <a:solidFill>
                  <a:schemeClr val="tx1"/>
                </a:solidFill>
              </a:rPr>
              <a:t>兩個屬性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用於定形、定位、定圖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而且對需要移動</a:t>
            </a:r>
            <a:r>
              <a:rPr lang="en-US" altLang="zh-TW" sz="2400" dirty="0">
                <a:solidFill>
                  <a:schemeClr val="tx1"/>
                </a:solidFill>
              </a:rPr>
              <a:t>/</a:t>
            </a:r>
            <a:r>
              <a:rPr lang="zh-TW" altLang="en-US" sz="2400" dirty="0">
                <a:solidFill>
                  <a:schemeClr val="tx1"/>
                </a:solidFill>
              </a:rPr>
              <a:t>圖像變更的對象，還需要重寫</a:t>
            </a:r>
            <a:r>
              <a:rPr lang="en-US" altLang="zh-TW" sz="2400" dirty="0">
                <a:solidFill>
                  <a:schemeClr val="tx1"/>
                </a:solidFill>
              </a:rPr>
              <a:t>update(self)</a:t>
            </a:r>
            <a:r>
              <a:rPr lang="zh-TW" altLang="en-US" sz="2400" dirty="0">
                <a:solidFill>
                  <a:schemeClr val="tx1"/>
                </a:solidFill>
              </a:rPr>
              <a:t>函數，用於實現每次的更新邏輯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64B25E2-7702-0B79-85A3-5727601E8B46}"/>
              </a:ext>
            </a:extLst>
          </p:cNvPr>
          <p:cNvSpPr txBox="1"/>
          <p:nvPr/>
        </p:nvSpPr>
        <p:spPr>
          <a:xfrm>
            <a:off x="800100" y="606373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例子請看</a:t>
            </a:r>
            <a:r>
              <a:rPr lang="en-US" altLang="zh-TW" sz="1800" dirty="0">
                <a:solidFill>
                  <a:srgbClr val="FF0000"/>
                </a:solidFill>
              </a:rPr>
              <a:t>sprite-</a:t>
            </a:r>
            <a:r>
              <a:rPr lang="zh-TW" altLang="en-US" sz="1800" dirty="0">
                <a:solidFill>
                  <a:srgbClr val="FF0000"/>
                </a:solidFill>
              </a:rPr>
              <a:t>遊戲角色基類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r>
              <a:rPr lang="zh-TW" altLang="en-US" sz="1800" dirty="0">
                <a:solidFill>
                  <a:srgbClr val="FF0000"/>
                </a:solidFill>
              </a:rPr>
              <a:t>中的</a:t>
            </a:r>
            <a:r>
              <a:rPr lang="en-US" altLang="zh-TW" sz="1800" dirty="0">
                <a:solidFill>
                  <a:srgbClr val="FF0000"/>
                </a:solidFill>
              </a:rPr>
              <a:t>class </a:t>
            </a:r>
            <a:r>
              <a:rPr lang="zh-TW" altLang="en-US" sz="1800" dirty="0">
                <a:solidFill>
                  <a:srgbClr val="FF0000"/>
                </a:solidFill>
              </a:rPr>
              <a:t>定義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02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AC099-BDA6-65CD-2F82-C32D157C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2B6A-A21D-B554-2624-A20DFC85E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F8F7C3A-EC17-B7B1-BB10-BE0125917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154783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把「坦克上下移」的動畫完全改寫成面向對象的方法實現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1. </a:t>
            </a: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>
                <a:solidFill>
                  <a:schemeClr val="tx1"/>
                </a:solidFill>
              </a:rPr>
              <a:t>Tank</a:t>
            </a:r>
            <a:r>
              <a:rPr lang="zh-TW" altLang="en-US" sz="2400" dirty="0">
                <a:solidFill>
                  <a:schemeClr val="tx1"/>
                </a:solidFill>
              </a:rPr>
              <a:t>子類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2. </a:t>
            </a:r>
            <a:r>
              <a:rPr lang="zh-TW" altLang="en-US" sz="2400" dirty="0">
                <a:solidFill>
                  <a:schemeClr val="tx1"/>
                </a:solidFill>
              </a:rPr>
              <a:t>實現滾動背景子類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400" dirty="0">
                <a:solidFill>
                  <a:schemeClr val="tx1"/>
                </a:solidFill>
              </a:rPr>
              <a:t>3. </a:t>
            </a:r>
            <a:r>
              <a:rPr lang="zh-TW" altLang="en-US" sz="2400" dirty="0">
                <a:solidFill>
                  <a:schemeClr val="tx1"/>
                </a:solidFill>
              </a:rPr>
              <a:t>創建</a:t>
            </a:r>
            <a:r>
              <a:rPr lang="en-US" altLang="zh-TW" sz="2400" dirty="0">
                <a:solidFill>
                  <a:schemeClr val="tx1"/>
                </a:solidFill>
              </a:rPr>
              <a:t>Game</a:t>
            </a:r>
            <a:r>
              <a:rPr lang="zh-TW" altLang="en-US" sz="2400" dirty="0">
                <a:solidFill>
                  <a:schemeClr val="tx1"/>
                </a:solidFill>
              </a:rPr>
              <a:t>類</a:t>
            </a:r>
            <a:endParaRPr lang="en-US" altLang="zh-TW" sz="2400" dirty="0">
              <a:solidFill>
                <a:schemeClr val="tx1"/>
              </a:solidFill>
            </a:endParaRPr>
          </a:p>
        </p:txBody>
      </p:sp>
      <p:pic>
        <p:nvPicPr>
          <p:cNvPr id="5" name="pygame window 2025-05-22 21-31-56">
            <a:hlinkClick r:id="" action="ppaction://media"/>
            <a:extLst>
              <a:ext uri="{FF2B5EF4-FFF2-40B4-BE49-F238E27FC236}">
                <a16:creationId xmlns:a16="http://schemas.microsoft.com/office/drawing/2014/main" id="{CE460B06-25CA-5D6E-1FD1-05228AC42A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r="33213" b="33720"/>
          <a:stretch/>
        </p:blipFill>
        <p:spPr>
          <a:xfrm>
            <a:off x="5249013" y="2115922"/>
            <a:ext cx="5895237" cy="390032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6A63EE0-607C-D391-ED05-A902A110F0A0}"/>
              </a:ext>
            </a:extLst>
          </p:cNvPr>
          <p:cNvSpPr txBox="1"/>
          <p:nvPr/>
        </p:nvSpPr>
        <p:spPr>
          <a:xfrm>
            <a:off x="677334" y="6248400"/>
            <a:ext cx="7255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46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1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9C27-D9F9-13FD-6B0D-F263E7F5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8C0F-9D87-FFDF-E5FC-2EC5ED90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D8C75A1-E490-DF63-C731-246B92FEE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484778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>
                <a:solidFill>
                  <a:schemeClr val="tx1"/>
                </a:solidFill>
              </a:rPr>
              <a:t>Tank</a:t>
            </a:r>
            <a:r>
              <a:rPr lang="zh-TW" altLang="en-US" sz="2400" dirty="0">
                <a:solidFill>
                  <a:schemeClr val="tx1"/>
                </a:solidFill>
              </a:rPr>
              <a:t>子類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定義</a:t>
            </a:r>
            <a:r>
              <a:rPr lang="en-US" altLang="zh-TW" sz="2200" dirty="0" err="1">
                <a:solidFill>
                  <a:schemeClr val="tx1"/>
                </a:solidFill>
              </a:rPr>
              <a:t>self.image</a:t>
            </a:r>
            <a:r>
              <a:rPr lang="zh-TW" altLang="en-US" sz="2200" dirty="0">
                <a:solidFill>
                  <a:schemeClr val="tx1"/>
                </a:solidFill>
              </a:rPr>
              <a:t>名稱的</a:t>
            </a:r>
            <a:r>
              <a:rPr lang="en-US" altLang="zh-TW" sz="2200" dirty="0">
                <a:solidFill>
                  <a:schemeClr val="tx1"/>
                </a:solidFill>
              </a:rPr>
              <a:t>surface</a:t>
            </a:r>
            <a:r>
              <a:rPr lang="zh-TW" altLang="en-US" sz="2200" dirty="0">
                <a:solidFill>
                  <a:schemeClr val="tx1"/>
                </a:solidFill>
              </a:rPr>
              <a:t>對象 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定義顯示的圖案</a:t>
            </a:r>
            <a:r>
              <a:rPr lang="en-US" altLang="zh-TW" sz="2200" dirty="0">
                <a:solidFill>
                  <a:schemeClr val="tx1"/>
                </a:solidFill>
              </a:rPr>
              <a:t>/</a:t>
            </a:r>
            <a:r>
              <a:rPr lang="zh-TW" altLang="en-US" sz="2200" dirty="0">
                <a:solidFill>
                  <a:schemeClr val="tx1"/>
                </a:solidFill>
              </a:rPr>
              <a:t>畫面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定義其圖像對應的</a:t>
            </a:r>
            <a:r>
              <a:rPr lang="en-US" altLang="zh-TW" sz="2200" dirty="0" err="1">
                <a:solidFill>
                  <a:schemeClr val="tx1"/>
                </a:solidFill>
              </a:rPr>
              <a:t>rect</a:t>
            </a:r>
            <a:r>
              <a:rPr lang="zh-TW" altLang="en-US" sz="2200" dirty="0">
                <a:solidFill>
                  <a:schemeClr val="tx1"/>
                </a:solidFill>
              </a:rPr>
              <a:t>對象 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定義其對象的坐標和大小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149D1AA-B161-9B7B-BD44-218376175871}"/>
              </a:ext>
            </a:extLst>
          </p:cNvPr>
          <p:cNvSpPr txBox="1"/>
          <p:nvPr/>
        </p:nvSpPr>
        <p:spPr>
          <a:xfrm>
            <a:off x="2990196" y="837831"/>
            <a:ext cx="7388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E0F61BB-2B2A-6624-AC88-40DB2A570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097"/>
          <a:stretch/>
        </p:blipFill>
        <p:spPr>
          <a:xfrm>
            <a:off x="1163003" y="2730440"/>
            <a:ext cx="8596668" cy="21124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D8883AC-489F-FC36-800D-FCF0E7557F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4" r="4797" b="-8286"/>
          <a:stretch/>
        </p:blipFill>
        <p:spPr>
          <a:xfrm>
            <a:off x="1163003" y="5607271"/>
            <a:ext cx="9487244" cy="82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39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E32FB-4E8E-AF73-09A0-B33F4EBE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C5F2-4ADE-D02C-0DDB-39815FCB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881EBA4-DD0A-8C02-566E-BF3A12322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484778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>
                <a:solidFill>
                  <a:schemeClr val="tx1"/>
                </a:solidFill>
              </a:rPr>
              <a:t>Tank</a:t>
            </a:r>
            <a:r>
              <a:rPr lang="zh-TW" altLang="en-US" sz="2400" dirty="0">
                <a:solidFill>
                  <a:schemeClr val="tx1"/>
                </a:solidFill>
              </a:rPr>
              <a:t>子類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Tank</a:t>
            </a:r>
            <a:r>
              <a:rPr lang="zh-TW" altLang="en-US" sz="2200" dirty="0">
                <a:solidFill>
                  <a:schemeClr val="tx1"/>
                </a:solidFill>
              </a:rPr>
              <a:t>需要實現上下移動，因此需要重寫</a:t>
            </a:r>
            <a:r>
              <a:rPr lang="en-US" altLang="zh-TW" sz="2200" dirty="0">
                <a:solidFill>
                  <a:schemeClr val="tx1"/>
                </a:solidFill>
              </a:rPr>
              <a:t>update()</a:t>
            </a:r>
            <a:r>
              <a:rPr lang="zh-TW" altLang="en-US" sz="2200" dirty="0">
                <a:solidFill>
                  <a:schemeClr val="tx1"/>
                </a:solidFill>
              </a:rPr>
              <a:t>函收，實現移動的邏輯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Tank</a:t>
            </a:r>
            <a:r>
              <a:rPr lang="zh-TW" altLang="en-US" sz="2200" dirty="0">
                <a:solidFill>
                  <a:schemeClr val="tx1"/>
                </a:solidFill>
              </a:rPr>
              <a:t>對象的坐標由</a:t>
            </a:r>
            <a:r>
              <a:rPr lang="en-US" altLang="zh-TW" sz="2200" dirty="0" err="1">
                <a:solidFill>
                  <a:schemeClr val="tx1"/>
                </a:solidFill>
              </a:rPr>
              <a:t>self.rect</a:t>
            </a:r>
            <a:r>
              <a:rPr lang="zh-TW" altLang="en-US" sz="2200" dirty="0">
                <a:solidFill>
                  <a:schemeClr val="tx1"/>
                </a:solidFill>
              </a:rPr>
              <a:t>控制，通過</a:t>
            </a:r>
            <a:r>
              <a:rPr lang="en-US" altLang="zh-TW" sz="2200" dirty="0" err="1">
                <a:solidFill>
                  <a:schemeClr val="tx1"/>
                </a:solidFill>
              </a:rPr>
              <a:t>ket.get_pressed</a:t>
            </a:r>
            <a:r>
              <a:rPr lang="en-US" altLang="zh-TW" sz="2200" dirty="0">
                <a:solidFill>
                  <a:schemeClr val="tx1"/>
                </a:solidFill>
              </a:rPr>
              <a:t>()</a:t>
            </a:r>
            <a:r>
              <a:rPr lang="zh-TW" altLang="en-US" sz="2200" dirty="0">
                <a:solidFill>
                  <a:schemeClr val="tx1"/>
                </a:solidFill>
              </a:rPr>
              <a:t>可以對</a:t>
            </a:r>
            <a:r>
              <a:rPr lang="en-US" altLang="zh-TW" sz="2200" dirty="0" err="1">
                <a:solidFill>
                  <a:schemeClr val="tx1"/>
                </a:solidFill>
              </a:rPr>
              <a:t>rect.y</a:t>
            </a:r>
            <a:r>
              <a:rPr lang="zh-TW" altLang="en-US" sz="2200" dirty="0">
                <a:solidFill>
                  <a:schemeClr val="tx1"/>
                </a:solidFill>
              </a:rPr>
              <a:t>進行加減，從而實現上下移動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CE93375-30C3-4CCE-FD2C-1B52D8927EAF}"/>
              </a:ext>
            </a:extLst>
          </p:cNvPr>
          <p:cNvSpPr txBox="1"/>
          <p:nvPr/>
        </p:nvSpPr>
        <p:spPr>
          <a:xfrm>
            <a:off x="2990196" y="837831"/>
            <a:ext cx="7742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7694F71-B6F4-416B-BA92-659DFEF3D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150" y="3983758"/>
            <a:ext cx="7505700" cy="26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58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4BDEF-44D0-6365-BCE1-35996B2AF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18E5F-FAD1-8A5A-9A11-5A742FB2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C47D3F4-090C-D9E6-B6C0-F94574730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37036"/>
            <a:ext cx="10910777" cy="484778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 err="1">
                <a:solidFill>
                  <a:schemeClr val="tx1"/>
                </a:solidFill>
              </a:rPr>
              <a:t>ScrollingTree</a:t>
            </a:r>
            <a:r>
              <a:rPr lang="zh-TW" altLang="en-US" sz="2400" dirty="0">
                <a:solidFill>
                  <a:schemeClr val="tx1"/>
                </a:solidFill>
              </a:rPr>
              <a:t>子類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定義</a:t>
            </a:r>
            <a:r>
              <a:rPr lang="en-US" altLang="zh-TW" sz="2200" dirty="0" err="1">
                <a:solidFill>
                  <a:schemeClr val="tx1"/>
                </a:solidFill>
              </a:rPr>
              <a:t>self.image</a:t>
            </a:r>
            <a:r>
              <a:rPr lang="zh-TW" altLang="en-US" sz="2200" dirty="0">
                <a:solidFill>
                  <a:schemeClr val="tx1"/>
                </a:solidFill>
              </a:rPr>
              <a:t>名稱的</a:t>
            </a:r>
            <a:r>
              <a:rPr lang="en-US" altLang="zh-TW" sz="2200" dirty="0">
                <a:solidFill>
                  <a:schemeClr val="tx1"/>
                </a:solidFill>
              </a:rPr>
              <a:t>surface</a:t>
            </a:r>
            <a:r>
              <a:rPr lang="zh-TW" altLang="en-US" sz="2200" dirty="0">
                <a:solidFill>
                  <a:schemeClr val="tx1"/>
                </a:solidFill>
              </a:rPr>
              <a:t>對象 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定義顯示的圖案</a:t>
            </a:r>
            <a:r>
              <a:rPr lang="en-US" altLang="zh-TW" sz="2200" dirty="0">
                <a:solidFill>
                  <a:schemeClr val="tx1"/>
                </a:solidFill>
              </a:rPr>
              <a:t>/</a:t>
            </a:r>
            <a:r>
              <a:rPr lang="zh-TW" altLang="en-US" sz="2200" dirty="0">
                <a:solidFill>
                  <a:schemeClr val="tx1"/>
                </a:solidFill>
              </a:rPr>
              <a:t>畫面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7BC0979-072E-31CF-43D4-39643108F2EF}"/>
              </a:ext>
            </a:extLst>
          </p:cNvPr>
          <p:cNvSpPr txBox="1"/>
          <p:nvPr/>
        </p:nvSpPr>
        <p:spPr>
          <a:xfrm>
            <a:off x="2990196" y="837831"/>
            <a:ext cx="7011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728B146-B06D-E91C-83C6-C4C217A3B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32" y="2658784"/>
            <a:ext cx="10019298" cy="376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05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8059-F15A-9987-9799-534FED1FA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3921-7D5E-0420-8D0B-C19FDBC4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54B3A1B-E792-D67B-755E-A5CF86C4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132734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 err="1">
                <a:solidFill>
                  <a:schemeClr val="tx1"/>
                </a:solidFill>
              </a:rPr>
              <a:t>ScrollingTree</a:t>
            </a:r>
            <a:r>
              <a:rPr lang="zh-TW" altLang="en-US" sz="2400" dirty="0">
                <a:solidFill>
                  <a:schemeClr val="tx1"/>
                </a:solidFill>
              </a:rPr>
              <a:t>子類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定義其圖像對應的</a:t>
            </a:r>
            <a:r>
              <a:rPr lang="en-US" altLang="zh-TW" sz="2200" dirty="0" err="1">
                <a:solidFill>
                  <a:schemeClr val="tx1"/>
                </a:solidFill>
              </a:rPr>
              <a:t>rect</a:t>
            </a:r>
            <a:r>
              <a:rPr lang="zh-TW" altLang="en-US" sz="2200" dirty="0">
                <a:solidFill>
                  <a:schemeClr val="tx1"/>
                </a:solidFill>
              </a:rPr>
              <a:t>對象 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zh-TW" altLang="en-US" sz="2200" dirty="0">
                <a:solidFill>
                  <a:schemeClr val="tx1"/>
                </a:solidFill>
              </a:rPr>
              <a:t>定義其對象的坐標和大小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0FD797D-72FF-815E-42DD-CC116B2B4989}"/>
              </a:ext>
            </a:extLst>
          </p:cNvPr>
          <p:cNvSpPr txBox="1"/>
          <p:nvPr/>
        </p:nvSpPr>
        <p:spPr>
          <a:xfrm>
            <a:off x="2990196" y="837831"/>
            <a:ext cx="7148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0ED5160-1BBE-899C-9719-615935712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700337"/>
            <a:ext cx="10124085" cy="1734503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00EAE6-5849-0A7A-0DF4-F4BB8C41C3F9}"/>
              </a:ext>
            </a:extLst>
          </p:cNvPr>
          <p:cNvSpPr txBox="1">
            <a:spLocks/>
          </p:cNvSpPr>
          <p:nvPr/>
        </p:nvSpPr>
        <p:spPr>
          <a:xfrm>
            <a:off x="730020" y="4692826"/>
            <a:ext cx="10910777" cy="13273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同樣，畫面會移動，需要重寫</a:t>
            </a:r>
            <a:r>
              <a:rPr lang="en-US" altLang="zh-TW" sz="2200" dirty="0">
                <a:solidFill>
                  <a:schemeClr val="tx1"/>
                </a:solidFill>
              </a:rPr>
              <a:t>update()</a:t>
            </a:r>
            <a:r>
              <a:rPr lang="zh-TW" altLang="en-US" sz="2200" dirty="0">
                <a:solidFill>
                  <a:schemeClr val="tx1"/>
                </a:solidFill>
              </a:rPr>
              <a:t>函數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1AE0F4AF-9AA5-8790-8E92-2ACAC03B3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196" y="5191459"/>
            <a:ext cx="51530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22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B7491-297C-7E77-4191-087E0DDF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4480-DA22-08BC-8792-D155DE0D5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1162EA7-E87F-ACE4-F602-B9E195DA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556787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>
                <a:solidFill>
                  <a:schemeClr val="tx1"/>
                </a:solidFill>
              </a:rPr>
              <a:t>Game</a:t>
            </a:r>
            <a:r>
              <a:rPr lang="zh-TW" altLang="en-US" sz="2400" dirty="0">
                <a:solidFill>
                  <a:schemeClr val="tx1"/>
                </a:solidFill>
              </a:rPr>
              <a:t>類 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不用繼承，不是子類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主要用於統一管理遊戲的變量、常量、對象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en-US" altLang="zh-TW" sz="2200" dirty="0" err="1">
                <a:solidFill>
                  <a:schemeClr val="tx1"/>
                </a:solidFill>
              </a:rPr>
              <a:t>pygame</a:t>
            </a:r>
            <a:r>
              <a:rPr lang="zh-TW" altLang="en-US" sz="2200" dirty="0">
                <a:solidFill>
                  <a:schemeClr val="tx1"/>
                </a:solidFill>
              </a:rPr>
              <a:t>對象和</a:t>
            </a:r>
            <a:r>
              <a:rPr lang="en-US" altLang="zh-TW" sz="2200" dirty="0">
                <a:solidFill>
                  <a:schemeClr val="tx1"/>
                </a:solidFill>
              </a:rPr>
              <a:t>sprite</a:t>
            </a:r>
            <a:r>
              <a:rPr lang="zh-TW" altLang="en-US" sz="2200" dirty="0">
                <a:solidFill>
                  <a:schemeClr val="tx1"/>
                </a:solidFill>
              </a:rPr>
              <a:t>子類對象</a:t>
            </a:r>
            <a:r>
              <a:rPr lang="en-US" altLang="zh-TW" sz="2200" dirty="0">
                <a:solidFill>
                  <a:schemeClr val="tx1"/>
                </a:solidFill>
              </a:rPr>
              <a:t>)</a:t>
            </a: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其屬性一般都會包含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en-US" altLang="zh-TW" sz="2000" dirty="0" err="1">
                <a:solidFill>
                  <a:schemeClr val="tx1"/>
                </a:solidFill>
              </a:rPr>
              <a:t>Pygame</a:t>
            </a:r>
            <a:r>
              <a:rPr lang="zh-TW" altLang="en-US" sz="2000" dirty="0">
                <a:solidFill>
                  <a:schemeClr val="tx1"/>
                </a:solidFill>
              </a:rPr>
              <a:t>模塊生成的對象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3" algn="just">
              <a:spcBef>
                <a:spcPts val="1800"/>
              </a:spcBef>
            </a:pPr>
            <a:r>
              <a:rPr lang="en-US" altLang="zh-TW" sz="1800" dirty="0" err="1">
                <a:solidFill>
                  <a:schemeClr val="tx1"/>
                </a:solidFill>
              </a:rPr>
              <a:t>set_mode</a:t>
            </a:r>
            <a:r>
              <a:rPr lang="en-US" altLang="zh-TW" sz="1800" dirty="0">
                <a:solidFill>
                  <a:schemeClr val="tx1"/>
                </a:solidFill>
              </a:rPr>
              <a:t>()</a:t>
            </a:r>
            <a:r>
              <a:rPr lang="zh-TW" altLang="en-US" sz="1800" dirty="0">
                <a:solidFill>
                  <a:schemeClr val="tx1"/>
                </a:solidFill>
              </a:rPr>
              <a:t>生成的主</a:t>
            </a:r>
            <a:r>
              <a:rPr lang="en-US" altLang="zh-TW" sz="1800" dirty="0">
                <a:solidFill>
                  <a:schemeClr val="tx1"/>
                </a:solidFill>
              </a:rPr>
              <a:t>surface</a:t>
            </a:r>
            <a:r>
              <a:rPr lang="zh-TW" altLang="en-US" sz="1800" dirty="0">
                <a:solidFill>
                  <a:schemeClr val="tx1"/>
                </a:solidFill>
              </a:rPr>
              <a:t>對象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3" algn="just">
              <a:spcBef>
                <a:spcPts val="1800"/>
              </a:spcBef>
            </a:pPr>
            <a:r>
              <a:rPr lang="zh-TW" altLang="en-US" sz="1800" dirty="0">
                <a:solidFill>
                  <a:schemeClr val="tx1"/>
                </a:solidFill>
              </a:rPr>
              <a:t>時鐘</a:t>
            </a:r>
            <a:r>
              <a:rPr lang="en-US" altLang="zh-TW" sz="1800" dirty="0">
                <a:solidFill>
                  <a:schemeClr val="tx1"/>
                </a:solidFill>
              </a:rPr>
              <a:t>clock FPS</a:t>
            </a:r>
            <a:r>
              <a:rPr lang="zh-TW" altLang="en-US" sz="1800" dirty="0">
                <a:solidFill>
                  <a:schemeClr val="tx1"/>
                </a:solidFill>
              </a:rPr>
              <a:t>對象</a:t>
            </a:r>
            <a:endParaRPr lang="en-US" altLang="zh-TW" sz="18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子類對象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</a:p>
          <a:p>
            <a:pPr lvl="3" algn="just">
              <a:spcBef>
                <a:spcPts val="1800"/>
              </a:spcBef>
            </a:pPr>
            <a:r>
              <a:rPr lang="en-US" altLang="zh-TW" sz="2000" dirty="0">
                <a:solidFill>
                  <a:schemeClr val="tx1"/>
                </a:solidFill>
              </a:rPr>
              <a:t>Tank</a:t>
            </a:r>
            <a:r>
              <a:rPr lang="zh-TW" altLang="en-US" sz="2000" dirty="0">
                <a:solidFill>
                  <a:schemeClr val="tx1"/>
                </a:solidFill>
              </a:rPr>
              <a:t>對象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3" algn="just">
              <a:spcBef>
                <a:spcPts val="1800"/>
              </a:spcBef>
            </a:pPr>
            <a:r>
              <a:rPr lang="en-US" altLang="zh-TW" sz="2000" dirty="0" err="1">
                <a:solidFill>
                  <a:schemeClr val="tx1"/>
                </a:solidFill>
              </a:rPr>
              <a:t>ScrollingTree</a:t>
            </a:r>
            <a:r>
              <a:rPr lang="zh-TW" altLang="en-US" sz="2000" dirty="0">
                <a:solidFill>
                  <a:schemeClr val="tx1"/>
                </a:solidFill>
              </a:rPr>
              <a:t>對象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lvl="2" algn="just">
              <a:spcBef>
                <a:spcPts val="1800"/>
              </a:spcBef>
            </a:pPr>
            <a:r>
              <a:rPr lang="zh-TW" altLang="en-US" sz="2000" dirty="0">
                <a:solidFill>
                  <a:schemeClr val="tx1"/>
                </a:solidFill>
              </a:rPr>
              <a:t>常量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如</a:t>
            </a:r>
            <a:r>
              <a:rPr lang="en-US" altLang="zh-TW" sz="2000" dirty="0">
                <a:solidFill>
                  <a:schemeClr val="tx1"/>
                </a:solidFill>
              </a:rPr>
              <a:t>FPS)</a:t>
            </a:r>
          </a:p>
          <a:p>
            <a:pPr lvl="2" algn="just">
              <a:spcBef>
                <a:spcPts val="1800"/>
              </a:spcBef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718E803-DA91-D22A-6AA9-6C1A52CC0ED9}"/>
              </a:ext>
            </a:extLst>
          </p:cNvPr>
          <p:cNvSpPr txBox="1"/>
          <p:nvPr/>
        </p:nvSpPr>
        <p:spPr>
          <a:xfrm>
            <a:off x="2990196" y="837831"/>
            <a:ext cx="8051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0E2D986-B554-AF0F-1511-47CB479665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009"/>
          <a:stretch/>
        </p:blipFill>
        <p:spPr>
          <a:xfrm>
            <a:off x="5833450" y="2914650"/>
            <a:ext cx="6100445" cy="35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70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D8EED-A9E2-E04E-17B0-637204CC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A886F-978C-FE3B-500A-2655E1F3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83D1B4-1A3C-2D0E-FDF5-AA483FCA3122}"/>
              </a:ext>
            </a:extLst>
          </p:cNvPr>
          <p:cNvSpPr txBox="1"/>
          <p:nvPr/>
        </p:nvSpPr>
        <p:spPr>
          <a:xfrm>
            <a:off x="2990196" y="837831"/>
            <a:ext cx="7548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/1_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非模組方式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1F2DA9-46E2-E03C-A074-9E335BB45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556787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>
                <a:solidFill>
                  <a:schemeClr val="tx1"/>
                </a:solidFill>
              </a:rPr>
              <a:t>Game</a:t>
            </a:r>
            <a:r>
              <a:rPr lang="zh-TW" altLang="en-US" sz="2400" dirty="0">
                <a:solidFill>
                  <a:schemeClr val="tx1"/>
                </a:solidFill>
              </a:rPr>
              <a:t>類 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不用繼承，不是子類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en-US" altLang="zh-TW" sz="2200" dirty="0">
                <a:solidFill>
                  <a:schemeClr val="tx1"/>
                </a:solidFill>
              </a:rPr>
              <a:t>Game</a:t>
            </a:r>
            <a:r>
              <a:rPr lang="zh-TW" altLang="en-US" sz="2200" dirty="0">
                <a:solidFill>
                  <a:schemeClr val="tx1"/>
                </a:solidFill>
              </a:rPr>
              <a:t>當然要實現主邏輯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C619FC6-E131-2347-D21B-7FD3C3EB8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975" y="2674620"/>
            <a:ext cx="8717330" cy="4072725"/>
          </a:xfrm>
          <a:prstGeom prst="rect">
            <a:avLst/>
          </a:prstGeom>
        </p:spPr>
      </p:pic>
      <p:sp>
        <p:nvSpPr>
          <p:cNvPr id="10" name="右大括弧 9">
            <a:extLst>
              <a:ext uri="{FF2B5EF4-FFF2-40B4-BE49-F238E27FC236}">
                <a16:creationId xmlns:a16="http://schemas.microsoft.com/office/drawing/2014/main" id="{5191BAC1-6AC4-19D3-F578-86866C9A4B89}"/>
              </a:ext>
            </a:extLst>
          </p:cNvPr>
          <p:cNvSpPr/>
          <p:nvPr/>
        </p:nvSpPr>
        <p:spPr>
          <a:xfrm>
            <a:off x="5863590" y="3428999"/>
            <a:ext cx="371215" cy="815175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右大括弧 10">
            <a:extLst>
              <a:ext uri="{FF2B5EF4-FFF2-40B4-BE49-F238E27FC236}">
                <a16:creationId xmlns:a16="http://schemas.microsoft.com/office/drawing/2014/main" id="{F3706058-B02D-C8F1-80DC-1630DA4AF545}"/>
              </a:ext>
            </a:extLst>
          </p:cNvPr>
          <p:cNvSpPr/>
          <p:nvPr/>
        </p:nvSpPr>
        <p:spPr>
          <a:xfrm>
            <a:off x="5863590" y="3154680"/>
            <a:ext cx="371215" cy="163949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2" name="右大括弧 11">
            <a:extLst>
              <a:ext uri="{FF2B5EF4-FFF2-40B4-BE49-F238E27FC236}">
                <a16:creationId xmlns:a16="http://schemas.microsoft.com/office/drawing/2014/main" id="{C619A4B2-3F67-0427-B518-4F325024C31A}"/>
              </a:ext>
            </a:extLst>
          </p:cNvPr>
          <p:cNvSpPr/>
          <p:nvPr/>
        </p:nvSpPr>
        <p:spPr>
          <a:xfrm>
            <a:off x="9088394" y="5398862"/>
            <a:ext cx="409936" cy="1150528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3" name="右大括弧 12">
            <a:extLst>
              <a:ext uri="{FF2B5EF4-FFF2-40B4-BE49-F238E27FC236}">
                <a16:creationId xmlns:a16="http://schemas.microsoft.com/office/drawing/2014/main" id="{C6582611-8D3F-C1FB-712D-8375F51C44ED}"/>
              </a:ext>
            </a:extLst>
          </p:cNvPr>
          <p:cNvSpPr/>
          <p:nvPr/>
        </p:nvSpPr>
        <p:spPr>
          <a:xfrm>
            <a:off x="6015989" y="4455794"/>
            <a:ext cx="371215" cy="621307"/>
          </a:xfrm>
          <a:prstGeom prst="rightBrac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635B4CA-AA39-884D-4097-9F364B9E4E9B}"/>
              </a:ext>
            </a:extLst>
          </p:cNvPr>
          <p:cNvSpPr txBox="1"/>
          <p:nvPr/>
        </p:nvSpPr>
        <p:spPr>
          <a:xfrm>
            <a:off x="6595110" y="3051810"/>
            <a:ext cx="18059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rgbClr val="FF0000"/>
                </a:solidFill>
              </a:rPr>
              <a:t>FPS</a:t>
            </a:r>
            <a:r>
              <a:rPr lang="zh-TW" altLang="en-US" dirty="0">
                <a:solidFill>
                  <a:srgbClr val="FF0000"/>
                </a:solidFill>
              </a:rPr>
              <a:t>控制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7800C68-6DC1-6914-DA56-61847D82A24E}"/>
              </a:ext>
            </a:extLst>
          </p:cNvPr>
          <p:cNvSpPr txBox="1"/>
          <p:nvPr/>
        </p:nvSpPr>
        <p:spPr>
          <a:xfrm>
            <a:off x="6595110" y="3618168"/>
            <a:ext cx="18059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事件處理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37FFFE9-BCBD-47BF-0535-A6BE76619515}"/>
              </a:ext>
            </a:extLst>
          </p:cNvPr>
          <p:cNvSpPr txBox="1"/>
          <p:nvPr/>
        </p:nvSpPr>
        <p:spPr>
          <a:xfrm>
            <a:off x="6595110" y="4581781"/>
            <a:ext cx="18059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對象位置更新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15D3247-61C4-8203-1157-F4B783427BB3}"/>
              </a:ext>
            </a:extLst>
          </p:cNvPr>
          <p:cNvSpPr txBox="1"/>
          <p:nvPr/>
        </p:nvSpPr>
        <p:spPr>
          <a:xfrm>
            <a:off x="9498330" y="5789460"/>
            <a:ext cx="180594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渲染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462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A283-16B9-14E9-F776-380F6499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AD94-E01F-A2E7-D3E4-A4CC68451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課堂練習</a:t>
            </a:r>
            <a:r>
              <a:rPr lang="en-US" altLang="zh-TW" dirty="0"/>
              <a:t>1</a:t>
            </a:r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70DF378-5AC9-8697-37BA-4861391B321F}"/>
              </a:ext>
            </a:extLst>
          </p:cNvPr>
          <p:cNvSpPr txBox="1"/>
          <p:nvPr/>
        </p:nvSpPr>
        <p:spPr>
          <a:xfrm>
            <a:off x="2990196" y="837831"/>
            <a:ext cx="7548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practices/sprite-</a:t>
            </a:r>
            <a:r>
              <a:rPr lang="zh-TW" altLang="en-US" sz="1800" dirty="0">
                <a:solidFill>
                  <a:srgbClr val="FF0000"/>
                </a:solidFill>
              </a:rPr>
              <a:t>精靈</a:t>
            </a:r>
            <a:r>
              <a:rPr lang="en-US" altLang="zh-TW" sz="1800" dirty="0">
                <a:solidFill>
                  <a:srgbClr val="FF0000"/>
                </a:solidFill>
              </a:rPr>
              <a:t>/2_</a:t>
            </a:r>
            <a:r>
              <a:rPr lang="zh-TW" altLang="en-US" sz="1800" dirty="0">
                <a:solidFill>
                  <a:srgbClr val="FF0000"/>
                </a:solidFill>
              </a:rPr>
              <a:t>坦克上下移動</a:t>
            </a:r>
            <a:r>
              <a:rPr lang="en-US" altLang="zh-TW" sz="1800" dirty="0">
                <a:solidFill>
                  <a:srgbClr val="FF0000"/>
                </a:solidFill>
              </a:rPr>
              <a:t>_</a:t>
            </a:r>
            <a:r>
              <a:rPr lang="zh-TW" altLang="en-US" sz="1800" dirty="0">
                <a:solidFill>
                  <a:srgbClr val="FF0000"/>
                </a:solidFill>
              </a:rPr>
              <a:t>模組方式</a:t>
            </a:r>
            <a:r>
              <a:rPr lang="en-US" altLang="zh-TW" sz="1800" dirty="0">
                <a:solidFill>
                  <a:srgbClr val="FF0000"/>
                </a:solidFill>
              </a:rPr>
              <a:t>.</a:t>
            </a:r>
            <a:r>
              <a:rPr lang="en-US" altLang="zh-TW" sz="1800" dirty="0" err="1">
                <a:solidFill>
                  <a:srgbClr val="FF0000"/>
                </a:solidFill>
              </a:rPr>
              <a:t>py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06568B-4257-F605-9129-F87DF107E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556787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實現</a:t>
            </a:r>
            <a:r>
              <a:rPr lang="en-US" altLang="zh-TW" sz="2400" dirty="0">
                <a:solidFill>
                  <a:schemeClr val="tx1"/>
                </a:solidFill>
              </a:rPr>
              <a:t>Game</a:t>
            </a:r>
            <a:r>
              <a:rPr lang="zh-TW" altLang="en-US" sz="2400" dirty="0">
                <a:solidFill>
                  <a:schemeClr val="tx1"/>
                </a:solidFill>
              </a:rPr>
              <a:t>類 </a:t>
            </a:r>
            <a:r>
              <a:rPr lang="en-US" altLang="zh-TW" sz="2400" dirty="0">
                <a:solidFill>
                  <a:schemeClr val="tx1"/>
                </a:solidFill>
              </a:rPr>
              <a:t>(</a:t>
            </a:r>
            <a:r>
              <a:rPr lang="zh-TW" altLang="en-US" sz="2400" dirty="0">
                <a:solidFill>
                  <a:schemeClr val="tx1"/>
                </a:solidFill>
              </a:rPr>
              <a:t>不用繼承，不是子類</a:t>
            </a:r>
            <a:r>
              <a:rPr lang="en-US" altLang="zh-TW" sz="2400" dirty="0">
                <a:solidFill>
                  <a:schemeClr val="tx1"/>
                </a:solidFill>
              </a:rPr>
              <a:t>)</a:t>
            </a:r>
            <a:endParaRPr lang="en-US" altLang="zh-TW" sz="2200" dirty="0">
              <a:solidFill>
                <a:schemeClr val="tx1"/>
              </a:solidFill>
            </a:endParaRPr>
          </a:p>
          <a:p>
            <a:pPr lvl="1" algn="just">
              <a:spcBef>
                <a:spcPts val="1800"/>
              </a:spcBef>
            </a:pPr>
            <a:r>
              <a:rPr lang="zh-TW" altLang="en-US" sz="2200" dirty="0">
                <a:solidFill>
                  <a:schemeClr val="tx1"/>
                </a:solidFill>
              </a:rPr>
              <a:t>模組化，把</a:t>
            </a:r>
            <a:r>
              <a:rPr lang="en-US" altLang="zh-TW" sz="2200" dirty="0">
                <a:solidFill>
                  <a:schemeClr val="tx1"/>
                </a:solidFill>
              </a:rPr>
              <a:t>event</a:t>
            </a:r>
            <a:r>
              <a:rPr lang="zh-TW" altLang="en-US" sz="2200" dirty="0">
                <a:solidFill>
                  <a:schemeClr val="tx1"/>
                </a:solidFill>
              </a:rPr>
              <a:t>處理、更新、渲染分為三個類內方法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275637B-13B2-4B7C-41E3-57DB0D65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34" y="2612090"/>
            <a:ext cx="7146607" cy="400588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8BCF85B-E92E-0F28-5855-AB53F31E2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883" y="3545397"/>
            <a:ext cx="4137238" cy="175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07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777DA-FA32-34A9-9A23-16DC27775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D02D1-1DAA-4712-487A-A268402F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5795"/>
          </a:xfrm>
        </p:spPr>
        <p:txBody>
          <a:bodyPr/>
          <a:lstStyle/>
          <a:p>
            <a:r>
              <a:rPr lang="zh-TW" altLang="en-US" dirty="0"/>
              <a:t>課後作業</a:t>
            </a:r>
            <a:r>
              <a:rPr lang="en-US" altLang="zh-TW" dirty="0"/>
              <a:t>6-1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9270D7-B66C-BC8B-2406-A10F9CB2B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1" y="1290127"/>
            <a:ext cx="10910777" cy="556787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參考課堂的例子，用面向對象的方法寫出以下動畫</a:t>
            </a:r>
            <a:endParaRPr lang="en-US" altLang="zh-TW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1800"/>
              </a:spcBef>
            </a:pPr>
            <a:r>
              <a:rPr lang="zh-TW" altLang="en-US" sz="2400" dirty="0">
                <a:solidFill>
                  <a:schemeClr val="tx1"/>
                </a:solidFill>
              </a:rPr>
              <a:t>這功課有框架，只需要按提示補全即可</a:t>
            </a:r>
            <a:endParaRPr lang="en-US" altLang="zh-TW" sz="2200" dirty="0">
              <a:solidFill>
                <a:schemeClr val="tx1"/>
              </a:solidFill>
            </a:endParaRPr>
          </a:p>
        </p:txBody>
      </p:sp>
      <p:pic>
        <p:nvPicPr>
          <p:cNvPr id="9" name="pygame window 2025-05-22 23-45-09">
            <a:hlinkClick r:id="" action="ppaction://media"/>
            <a:extLst>
              <a:ext uri="{FF2B5EF4-FFF2-40B4-BE49-F238E27FC236}">
                <a16:creationId xmlns:a16="http://schemas.microsoft.com/office/drawing/2014/main" id="{29281DAD-0092-62FB-CB1A-3CD0E3245BB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704"/>
                </p14:media>
              </p:ext>
            </p:extLst>
          </p:nvPr>
        </p:nvPicPr>
        <p:blipFill>
          <a:blip r:embed="rId5"/>
          <a:srcRect r="33227" b="33927"/>
          <a:stretch>
            <a:fillRect/>
          </a:stretch>
        </p:blipFill>
        <p:spPr>
          <a:xfrm>
            <a:off x="7975436" y="685570"/>
            <a:ext cx="3696687" cy="548685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308C383-6A04-9DC0-1AE6-AD4C14E5CD0F}"/>
              </a:ext>
            </a:extLst>
          </p:cNvPr>
          <p:cNvSpPr txBox="1"/>
          <p:nvPr/>
        </p:nvSpPr>
        <p:spPr>
          <a:xfrm>
            <a:off x="761346" y="5727127"/>
            <a:ext cx="7548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solidFill>
                  <a:schemeClr val="tx1"/>
                </a:solidFill>
              </a:rPr>
              <a:t>詳見</a:t>
            </a:r>
            <a:r>
              <a:rPr lang="en-US" altLang="zh-TW" sz="1800" dirty="0">
                <a:solidFill>
                  <a:srgbClr val="FF0000"/>
                </a:solidFill>
              </a:rPr>
              <a:t>homework/lesson5_exercise/exercise_6_1_del_ans.py</a:t>
            </a:r>
            <a:endParaRPr lang="zh-HK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97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4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2026.05.05</a:t>
            </a:r>
          </a:p>
        </p:txBody>
      </p:sp>
    </p:spTree>
    <p:extLst>
      <p:ext uri="{BB962C8B-B14F-4D97-AF65-F5344CB8AC3E}">
        <p14:creationId xmlns:p14="http://schemas.microsoft.com/office/powerpoint/2010/main" val="388904428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">
  <a:themeElements>
    <a:clrScheme name="PGO-JIGSAW PUZZLE">
      <a:dk1>
        <a:sysClr val="windowText" lastClr="000000"/>
      </a:dk1>
      <a:lt1>
        <a:sysClr val="window" lastClr="FFFFFF"/>
      </a:lt1>
      <a:dk2>
        <a:srgbClr val="20D38F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多面向">
  <a:themeElements>
    <a:clrScheme name="藍綠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3632</TotalTime>
  <Words>814</Words>
  <Application>Microsoft Office PowerPoint</Application>
  <PresentationFormat>寬螢幕</PresentationFormat>
  <Paragraphs>100</Paragraphs>
  <Slides>16</Slides>
  <Notes>16</Notes>
  <HiddenSlides>0</HiddenSlides>
  <MMClips>2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Arial</vt:lpstr>
      <vt:lpstr>Calibri</vt:lpstr>
      <vt:lpstr>Open Sans Semibold</vt:lpstr>
      <vt:lpstr>Times New Roman</vt:lpstr>
      <vt:lpstr>Trebuchet MS</vt:lpstr>
      <vt:lpstr>Wingdings 3</vt:lpstr>
      <vt:lpstr>Light</vt:lpstr>
      <vt:lpstr>多面向</vt:lpstr>
      <vt:lpstr>Chapter6-模塊講解與綜合練習</vt:lpstr>
      <vt:lpstr>回顧上堂內容</vt:lpstr>
      <vt:lpstr>本篇包括</vt:lpstr>
      <vt:lpstr>前提</vt:lpstr>
      <vt:lpstr>sprite 模塊</vt:lpstr>
      <vt:lpstr>sprite 模塊</vt:lpstr>
      <vt:lpstr>課堂練習1</vt:lpstr>
      <vt:lpstr>課堂練習1</vt:lpstr>
      <vt:lpstr>課堂練習1</vt:lpstr>
      <vt:lpstr>課堂練習1</vt:lpstr>
      <vt:lpstr>課堂練習1</vt:lpstr>
      <vt:lpstr>課堂練習1</vt:lpstr>
      <vt:lpstr>課堂練習1</vt:lpstr>
      <vt:lpstr>課堂練習1</vt:lpstr>
      <vt:lpstr>課後作業6-1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microsome presentation</dc:title>
  <dc:creator/>
  <dc:description/>
  <cp:lastModifiedBy>勇 趙</cp:lastModifiedBy>
  <cp:revision>956</cp:revision>
  <dcterms:created xsi:type="dcterms:W3CDTF">2021-09-29T10:33:58Z</dcterms:created>
  <dcterms:modified xsi:type="dcterms:W3CDTF">2026-05-04T15:34:35Z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DAEE3358A3B04398A7E2A29EEAFCE4E9</vt:lpwstr>
  </property>
  <property fmtid="{D5CDD505-2E9C-101B-9397-08002B2CF9AE}" pid="3" name="KSOProductBuildVer">
    <vt:lpwstr>2052-11.1.0.10938</vt:lpwstr>
  </property>
</Properties>
</file>