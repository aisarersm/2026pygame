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32"/>
  </p:notesMasterIdLst>
  <p:sldIdLst>
    <p:sldId id="335" r:id="rId3"/>
    <p:sldId id="351" r:id="rId4"/>
    <p:sldId id="347" r:id="rId5"/>
    <p:sldId id="334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5" r:id="rId20"/>
    <p:sldId id="377" r:id="rId21"/>
    <p:sldId id="372" r:id="rId22"/>
    <p:sldId id="373" r:id="rId23"/>
    <p:sldId id="380" r:id="rId24"/>
    <p:sldId id="374" r:id="rId25"/>
    <p:sldId id="376" r:id="rId26"/>
    <p:sldId id="378" r:id="rId27"/>
    <p:sldId id="379" r:id="rId28"/>
    <p:sldId id="381" r:id="rId29"/>
    <p:sldId id="384" r:id="rId30"/>
    <p:sldId id="3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7B"/>
    <a:srgbClr val="013D9A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557" autoAdjust="0"/>
  </p:normalViewPr>
  <p:slideViewPr>
    <p:cSldViewPr snapToGrid="0" showGuides="1">
      <p:cViewPr varScale="1">
        <p:scale>
          <a:sx n="56" d="100"/>
          <a:sy n="56" d="100"/>
        </p:scale>
        <p:origin x="9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01CA-A9AB-D354-C332-6F382667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A1DF5-ADE1-C469-56A8-EFE381096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E764E-301C-8045-39B7-9F2BAF753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2F33A-446E-856F-99C4-CE4DDBA6F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85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F6F5-15F5-E467-3E0E-E82AA06E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6DCB0-0E95-D4A1-BF4D-1C1DC3D44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F4D1-416E-FEFE-8F9F-2056BE6DE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60415-EF4F-C968-F67C-4C8450B21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8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A263-20E7-332B-F756-665AB9EC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FE72F-3FA8-FD3A-7C72-F5CF3DFB7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76FD3-5172-ED4F-13E9-69320C943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B46F0-3D33-E342-8C5B-01C9B62C9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88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5399-B6C9-11E6-A59D-CC7E53F0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0B738-5068-3E85-0761-DFD982CFF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28E8E-0B93-D07B-AB0D-AADE1B19D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6AE7-4423-371C-077A-7CEA2EE89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88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B9D4-E34F-B1F9-2BC3-8744B646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DA9D0-A793-54D3-A0F8-3A236533F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EEB58-E7B2-83A2-2AF9-A3BC1DD05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00BFC-5B0F-B20E-2958-5B6A54FEE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54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3027-ED48-8F55-CBED-CE8CD0C5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C0B7E-E143-F816-4843-4BA1B9CEA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83A24-9D51-6077-760E-E815C5A59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74612-C42D-19CD-71F1-3EC12F311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19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4779-A1CB-0BE5-B4EA-E497BC26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DF0A6-A2BB-5D70-92E2-4FF5A14CE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E2670-D3A1-6706-6C4B-D390D2340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07819-5563-8CA4-2093-E540D192C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53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9B13-3217-CA35-BA50-C7F10B53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79255-AF13-1C8E-B483-0F56FED45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9F782-8A86-7B64-0C48-1F0FA2124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77F36-FDDC-6172-BD15-B36C245EC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32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06B7-0C5D-9ED1-333E-6B5E8226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33207-3AD8-0177-2C5E-03B35BF42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5C906-7A17-1C85-522D-A5585AB67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CC96D-6101-22C0-8915-785E7A1CB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46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32608-F201-E7E2-79C8-0B2B7175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2AB7-778C-1B4B-5BE1-58B2FA1D8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9FE5F-17EE-B4E5-172B-BE9CCBAF2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F8A7-0AF2-271E-E610-5EBA1A146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10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D794-58D9-7DB2-7C97-A328E38A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D16B9-55D1-1F96-6751-3562EA708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DE2D3-C5D0-2CED-74B9-5695EA872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D8FD-D898-758B-DC03-BB7D7399F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22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F5BB-5A3B-C9B2-2251-8810FB51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0C436-202D-0808-0F55-22DE78BE3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94B5A-B549-D069-8AED-BF25CC29F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C780F-48F3-8663-60EF-B334BFC00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60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BC07-1BCB-7256-451B-DF787C7B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F1133-5282-F19F-3436-55E075DC8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C0F8F-B180-EE55-3B0A-53AECBF7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1CA80-9646-2404-2AAB-135083EB0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85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AE12-6B4F-CECE-7FA0-7ADFD119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85062-594E-706E-7910-E7F5B157F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4BA43-E512-371A-5BA6-B4739C63A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3E573-1BB6-B5B5-4CE0-E6423AD7F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63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F78D-E8C5-B285-B08D-DE0AEC21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451FE-0FFF-4382-91BB-831ADCEEF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295E3-0A43-903E-51CE-57833076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F884-E744-8BAC-F44E-F32FFD1BE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05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3A126-046A-A88D-26B7-F9BABD24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B0F6B-E1C5-C2CE-63BE-452F0F335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8A074-B170-1788-D185-DE37AD3CB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F5A0F-C550-D6FC-167F-374124B64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90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C830-6880-8088-91D5-63DBF995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87924-D975-4062-4897-27EB67DB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3F3FC-B30D-1066-E726-A4B6C7F3E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9BADC-EB24-C40A-DB37-EE17A3F1D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5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26B4-7014-F38A-8F98-33874526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7D919-70F4-C49F-8593-37D21F7B1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3E847-00DB-2C89-084B-45D314414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19988-8DE8-9369-75B9-823D93BD7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195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C7FF-CF06-38FD-5797-FE10F543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A13B6-F232-6668-1B8E-87E2143AA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CE385-F305-C294-D0D9-50A8B9A79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0E3D9-AC2D-6FE6-0340-374D13728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72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50A1-1738-E781-FFFC-C3153316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A5F85-5BAC-EBEE-7697-90F284CEA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CB74C-ACAF-7D2C-4F15-88841E8D0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F5661-8130-F17B-1EBF-E0E0DAB45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887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9070-58BF-1EE1-9825-08FDDD00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0AAE9-B3BE-E508-A377-FBD4909CE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203DC-89D8-D7C3-EABC-89C6DC77D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FD178-F23D-D24F-D599-24F8701AE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41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7FFF-88D7-B517-0E23-6CA553FD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DBCCF-2E86-D0D0-B22D-250A02DC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BC595-21DE-620A-6718-F5F098B7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1A83B-E7F6-EBBE-4948-B57F06CA8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761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C3C9-20F2-1D71-4585-92E4E1DE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A7DF4-7F95-5242-F4DC-C0BB00053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4417-E3DB-48AE-320E-DAC08C10A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FAC23-3E32-B05F-BB0B-DC90EAB87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220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B727F-EE26-F1FF-A147-98FB27FC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46D50-863F-561F-A451-9F06B82C6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F6951-3EEB-C884-7FAC-BBAD8FA3C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6F147-4C5C-0571-6906-DCCC1BED6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896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3CAA-B392-BE20-8384-DD915C7B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3251A-4491-AD9C-E614-2219A1A33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39880-73CC-9278-DD8F-DD8CAB4C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25D6C-8060-F732-8C9B-818797776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767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draw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draw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font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font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font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event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key.html#key-constants-labe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ygame.org/docs/ref/event.html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Chapter3-</a:t>
            </a:r>
            <a:r>
              <a:rPr lang="zh-TW" altLang="en-US" dirty="0"/>
              <a:t>模塊講解</a:t>
            </a:r>
            <a:r>
              <a:rPr lang="en-US" altLang="zh-TW" dirty="0"/>
              <a:t>2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本篇包括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draw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事件模塊 </a:t>
            </a:r>
            <a:r>
              <a:rPr lang="en-US" altLang="zh-TW" sz="2400" dirty="0">
                <a:solidFill>
                  <a:srgbClr val="FF0000"/>
                </a:solidFill>
              </a:rPr>
              <a:t>[</a:t>
            </a:r>
            <a:r>
              <a:rPr lang="zh-TW" altLang="en-US" sz="2400" dirty="0">
                <a:solidFill>
                  <a:srgbClr val="FF0000"/>
                </a:solidFill>
              </a:rPr>
              <a:t>重點</a:t>
            </a:r>
            <a:r>
              <a:rPr lang="en-US" altLang="zh-TW" sz="2400" dirty="0">
                <a:solidFill>
                  <a:srgbClr val="FF0000"/>
                </a:solidFill>
              </a:rPr>
              <a:t>]</a:t>
            </a: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外設</a:t>
            </a:r>
            <a:r>
              <a:rPr lang="en-US" altLang="zh-TW" sz="2400" dirty="0">
                <a:solidFill>
                  <a:schemeClr val="tx1"/>
                </a:solidFill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</a:rPr>
              <a:t>[</a:t>
            </a:r>
            <a:r>
              <a:rPr lang="zh-TW" altLang="en-US" sz="2400" dirty="0">
                <a:solidFill>
                  <a:srgbClr val="FF0000"/>
                </a:solidFill>
              </a:rPr>
              <a:t>重點</a:t>
            </a:r>
            <a:r>
              <a:rPr lang="en-US" altLang="zh-TW" sz="2400" dirty="0">
                <a:solidFill>
                  <a:srgbClr val="FF0000"/>
                </a:solidFill>
              </a:rPr>
              <a:t>]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Key </a:t>
            </a:r>
            <a:r>
              <a:rPr lang="zh-TW" altLang="en-US" sz="2200" dirty="0">
                <a:solidFill>
                  <a:schemeClr val="tx1"/>
                </a:solidFill>
              </a:rPr>
              <a:t>模塊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5589-A166-0DE5-9C4B-EA0321E2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F2EF-2148-DD96-2F4D-063AFC39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zh-TW" altLang="en-US" dirty="0"/>
              <a:t>回顧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B54C0F-03E1-D498-B309-7E9E908F5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display</a:t>
            </a:r>
            <a:r>
              <a:rPr lang="zh-TW" altLang="en-US" sz="2400" dirty="0">
                <a:solidFill>
                  <a:schemeClr val="tx1"/>
                </a:solidFill>
              </a:rPr>
              <a:t>模塊用</a:t>
            </a:r>
            <a:r>
              <a:rPr lang="en-US" altLang="zh-TW" sz="2400" dirty="0" err="1">
                <a:solidFill>
                  <a:schemeClr val="tx1"/>
                </a:solidFill>
              </a:rPr>
              <a:t>set_mode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創建主視窗</a:t>
            </a:r>
            <a:r>
              <a:rPr lang="en-US" altLang="zh-TW" sz="2400" dirty="0">
                <a:solidFill>
                  <a:schemeClr val="tx1"/>
                </a:solidFill>
              </a:rPr>
              <a:t>(surface</a:t>
            </a:r>
            <a:r>
              <a:rPr lang="zh-TW" altLang="en-US" sz="2400" dirty="0">
                <a:solidFill>
                  <a:schemeClr val="tx1"/>
                </a:solidFill>
              </a:rPr>
              <a:t>對象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，通過</a:t>
            </a:r>
            <a:r>
              <a:rPr lang="en-US" altLang="zh-TW" sz="2400" dirty="0">
                <a:solidFill>
                  <a:schemeClr val="tx1"/>
                </a:solidFill>
              </a:rPr>
              <a:t>update()</a:t>
            </a:r>
            <a:r>
              <a:rPr lang="zh-TW" altLang="en-US" sz="2400" dirty="0">
                <a:solidFill>
                  <a:schemeClr val="tx1"/>
                </a:solidFill>
              </a:rPr>
              <a:t>更新畫面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 err="1">
                <a:solidFill>
                  <a:schemeClr val="tx1"/>
                </a:solidFill>
              </a:rPr>
              <a:t>Rect</a:t>
            </a:r>
            <a:r>
              <a:rPr lang="zh-TW" altLang="en-US" sz="2400" dirty="0">
                <a:solidFill>
                  <a:schemeClr val="tx1"/>
                </a:solidFill>
              </a:rPr>
              <a:t>模塊通過指定左上角坐標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en-US" altLang="zh-TW" sz="2400" dirty="0" err="1">
                <a:solidFill>
                  <a:schemeClr val="tx1"/>
                </a:solidFill>
              </a:rPr>
              <a:t>x,y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和寬高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en-US" altLang="zh-TW" sz="2400" dirty="0" err="1">
                <a:solidFill>
                  <a:schemeClr val="tx1"/>
                </a:solidFill>
              </a:rPr>
              <a:t>w,h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創建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image</a:t>
            </a:r>
            <a:r>
              <a:rPr lang="zh-TW" altLang="en-US" sz="2400" dirty="0">
                <a:solidFill>
                  <a:schemeClr val="tx1"/>
                </a:solidFill>
              </a:rPr>
              <a:t>模塊用於加載圖像並返回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對象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模塊用於把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對象</a:t>
            </a:r>
            <a:r>
              <a:rPr lang="en-US" altLang="zh-TW" sz="2400" dirty="0" err="1">
                <a:solidFill>
                  <a:schemeClr val="tx1"/>
                </a:solidFill>
              </a:rPr>
              <a:t>blit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在另一個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對象上，從而進行畫面的組合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9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用於圖形繪畫，可繪畫矩形、多邊形、圓形、橢圓形和線段等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marL="0" indent="0" algn="just">
              <a:spcBef>
                <a:spcPts val="1800"/>
              </a:spcBef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3E295D-3614-640A-470E-95D5B91F1543}"/>
              </a:ext>
            </a:extLst>
          </p:cNvPr>
          <p:cNvSpPr txBox="1"/>
          <p:nvPr/>
        </p:nvSpPr>
        <p:spPr>
          <a:xfrm>
            <a:off x="3170914" y="614805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>
                <a:hlinkClick r:id="rId3"/>
              </a:rPr>
              <a:t>https://www.pygame.org/docs/ref/draw.html</a:t>
            </a:r>
            <a:endParaRPr lang="en-US" altLang="zh-HK" dirty="0"/>
          </a:p>
          <a:p>
            <a:endParaRPr lang="zh-HK" altLang="en-US" dirty="0"/>
          </a:p>
        </p:txBody>
      </p:sp>
      <p:pic>
        <p:nvPicPr>
          <p:cNvPr id="1026" name="Picture 2" descr="How to Draw Different Shapes in Pygame. Lines, Rectangles, Circles,  Ellipses, Arcs, Polygons etc">
            <a:extLst>
              <a:ext uri="{FF2B5EF4-FFF2-40B4-BE49-F238E27FC236}">
                <a16:creationId xmlns:a16="http://schemas.microsoft.com/office/drawing/2014/main" id="{A6CA369F-D595-850C-8723-87B25F13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34" y="2086931"/>
            <a:ext cx="7984026" cy="449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1C5D2-65BD-6E7D-CCD5-D18DA728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44CA-71AF-1F43-991A-2D3203C5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7" y="269358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5D7AA0-E656-0890-6795-775BF78412F2}"/>
              </a:ext>
            </a:extLst>
          </p:cNvPr>
          <p:cNvSpPr txBox="1"/>
          <p:nvPr/>
        </p:nvSpPr>
        <p:spPr>
          <a:xfrm>
            <a:off x="2931381" y="448822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>
                <a:hlinkClick r:id="rId3"/>
              </a:rPr>
              <a:t>https://www.pygame.org/docs/ref/draw.html</a:t>
            </a:r>
            <a:endParaRPr lang="en-US" altLang="zh-HK" dirty="0"/>
          </a:p>
          <a:p>
            <a:endParaRPr lang="zh-HK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37B7978-966F-CAAE-A0A1-6189864C1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43460"/>
              </p:ext>
            </p:extLst>
          </p:nvPr>
        </p:nvGraphicFramePr>
        <p:xfrm>
          <a:off x="690717" y="940967"/>
          <a:ext cx="110582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820">
                  <a:extLst>
                    <a:ext uri="{9D8B030D-6E8A-4147-A177-3AD203B41FA5}">
                      <a16:colId xmlns:a16="http://schemas.microsoft.com/office/drawing/2014/main" val="2588293857"/>
                    </a:ext>
                  </a:extLst>
                </a:gridCol>
                <a:gridCol w="3280543">
                  <a:extLst>
                    <a:ext uri="{9D8B030D-6E8A-4147-A177-3AD203B41FA5}">
                      <a16:colId xmlns:a16="http://schemas.microsoft.com/office/drawing/2014/main" val="3302551788"/>
                    </a:ext>
                  </a:extLst>
                </a:gridCol>
                <a:gridCol w="1683723">
                  <a:extLst>
                    <a:ext uri="{9D8B030D-6E8A-4147-A177-3AD203B41FA5}">
                      <a16:colId xmlns:a16="http://schemas.microsoft.com/office/drawing/2014/main" val="3566564496"/>
                    </a:ext>
                  </a:extLst>
                </a:gridCol>
                <a:gridCol w="2973174">
                  <a:extLst>
                    <a:ext uri="{9D8B030D-6E8A-4147-A177-3AD203B41FA5}">
                      <a16:colId xmlns:a16="http://schemas.microsoft.com/office/drawing/2014/main" val="2296433823"/>
                    </a:ext>
                  </a:extLst>
                </a:gridCol>
              </a:tblGrid>
              <a:tr h="324378"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函數參數類型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函數返回類型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函數作用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3966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(surface, color, </a:t>
                      </a: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width)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color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RGA[A]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tuple,</a:t>
                      </a:r>
                    </a:p>
                    <a:p>
                      <a:r>
                        <a:rPr lang="en-US" altLang="zh-TW" dirty="0" err="1"/>
                        <a:t>rect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 err="1"/>
                        <a:t>Rect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 width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int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Rect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上繪畫矩形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67552"/>
                  </a:ext>
                </a:extLst>
              </a:tr>
              <a:tr h="1054230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polygon(surface, color, points, width)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color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RGA[A]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tuple,</a:t>
                      </a:r>
                    </a:p>
                    <a:p>
                      <a:r>
                        <a:rPr lang="en-US" altLang="zh-TW" dirty="0"/>
                        <a:t>points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[(</a:t>
                      </a:r>
                      <a:r>
                        <a:rPr lang="en-US" altLang="zh-TW" dirty="0" err="1"/>
                        <a:t>int,int</a:t>
                      </a:r>
                      <a:r>
                        <a:rPr lang="en-US" altLang="zh-TW" dirty="0"/>
                        <a:t>),(</a:t>
                      </a:r>
                      <a:r>
                        <a:rPr lang="en-US" altLang="zh-TW" dirty="0" err="1"/>
                        <a:t>int,int</a:t>
                      </a:r>
                      <a:r>
                        <a:rPr lang="en-US" altLang="zh-TW" dirty="0"/>
                        <a:t>)…], width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int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Rect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surface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上繪畫由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points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圍成的多邊形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734375"/>
                  </a:ext>
                </a:extLst>
              </a:tr>
              <a:tr h="1054230"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circle(surface, color, center, radius, width)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color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RGA[A]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tuple,</a:t>
                      </a:r>
                    </a:p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center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int,int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),radius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int, width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Rect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surface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上繪畫圓形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279017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ellipse(surface, color, </a:t>
                      </a: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width) 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color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RGA[A]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tuple,</a:t>
                      </a:r>
                    </a:p>
                    <a:p>
                      <a:r>
                        <a:rPr lang="en-US" altLang="zh-TW" dirty="0" err="1"/>
                        <a:t>rect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 err="1"/>
                        <a:t>Rect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 width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int</a:t>
                      </a:r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Rect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surface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上繪畫橢圓形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041350"/>
                  </a:ext>
                </a:extLst>
              </a:tr>
              <a:tr h="10542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line(surface, color, </a:t>
                      </a: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start_pos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end_pos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color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RGA[A]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tuple,</a:t>
                      </a:r>
                    </a:p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start_pos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int,int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end_pos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(int, int)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Rect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surface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上繪畫線段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95947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74AA405-499B-584B-2DCC-746E3F035E84}"/>
              </a:ext>
            </a:extLst>
          </p:cNvPr>
          <p:cNvSpPr txBox="1"/>
          <p:nvPr/>
        </p:nvSpPr>
        <p:spPr>
          <a:xfrm>
            <a:off x="8012430" y="420496"/>
            <a:ext cx="4069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詳細請看「</a:t>
            </a:r>
            <a:r>
              <a:rPr lang="en-US" altLang="zh-TW" sz="1800" dirty="0">
                <a:solidFill>
                  <a:srgbClr val="FF0000"/>
                </a:solidFill>
              </a:rPr>
              <a:t>draw-</a:t>
            </a:r>
            <a:r>
              <a:rPr lang="zh-TW" altLang="en-US" sz="1800" dirty="0">
                <a:solidFill>
                  <a:srgbClr val="FF0000"/>
                </a:solidFill>
              </a:rPr>
              <a:t>繪製簡單圖形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r>
              <a:rPr lang="zh-TW" altLang="en-US" sz="1800" dirty="0">
                <a:solidFill>
                  <a:schemeClr val="tx1"/>
                </a:solidFill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333499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9307-6393-99C5-A65E-59E18F53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5A7E-DE36-AFDB-EE0D-972BECB6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r>
              <a:rPr lang="en-US" altLang="zh-TW" dirty="0"/>
              <a:t>-</a:t>
            </a:r>
            <a:r>
              <a:rPr lang="zh-TW" altLang="en-US" dirty="0"/>
              <a:t>繪畫矩形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9843D5F-1E76-3BE2-D261-FB6F2E957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282371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pygame.draw.rect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suf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, color, 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rect_a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, width)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意思是在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suf</a:t>
            </a:r>
            <a:r>
              <a:rPr lang="zh-TW" alt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</a:t>
            </a:r>
            <a:r>
              <a:rPr lang="zh-TW" altLang="en-US" sz="2400" dirty="0">
                <a:solidFill>
                  <a:schemeClr val="tx1"/>
                </a:solidFill>
              </a:rPr>
              <a:t>個界面上畫上顏色為</a:t>
            </a:r>
            <a:r>
              <a:rPr lang="en-US" altLang="zh-TW" sz="2400" dirty="0">
                <a:solidFill>
                  <a:schemeClr val="tx1"/>
                </a:solidFill>
              </a:rPr>
              <a:t>color</a:t>
            </a:r>
            <a:r>
              <a:rPr lang="zh-TW" altLang="en-US" sz="2400" dirty="0">
                <a:solidFill>
                  <a:schemeClr val="tx1"/>
                </a:solidFill>
              </a:rPr>
              <a:t>的矩形</a:t>
            </a:r>
            <a:r>
              <a:rPr lang="en-US" altLang="zh-TW" sz="2400" dirty="0" err="1">
                <a:solidFill>
                  <a:schemeClr val="tx1"/>
                </a:solidFill>
              </a:rPr>
              <a:t>rect_a</a:t>
            </a:r>
            <a:r>
              <a:rPr lang="zh-TW" altLang="en-US" sz="2400" dirty="0">
                <a:solidFill>
                  <a:schemeClr val="tx1"/>
                </a:solidFill>
              </a:rPr>
              <a:t>，其中</a:t>
            </a:r>
            <a:r>
              <a:rPr lang="en-US" altLang="zh-TW" sz="2400" dirty="0">
                <a:solidFill>
                  <a:schemeClr val="tx1"/>
                </a:solidFill>
              </a:rPr>
              <a:t>width</a:t>
            </a:r>
            <a:r>
              <a:rPr lang="zh-TW" altLang="en-US" sz="2400" dirty="0">
                <a:solidFill>
                  <a:schemeClr val="tx1"/>
                </a:solidFill>
              </a:rPr>
              <a:t>代表線的粗度，如果</a:t>
            </a:r>
            <a:r>
              <a:rPr lang="en-US" altLang="zh-TW" sz="2400" dirty="0">
                <a:solidFill>
                  <a:schemeClr val="tx1"/>
                </a:solidFill>
              </a:rPr>
              <a:t>width=0</a:t>
            </a:r>
            <a:r>
              <a:rPr lang="zh-TW" altLang="en-US" sz="2400" dirty="0">
                <a:solidFill>
                  <a:schemeClr val="tx1"/>
                </a:solidFill>
              </a:rPr>
              <a:t>代表填滿，</a:t>
            </a:r>
            <a:r>
              <a:rPr lang="en-US" altLang="zh-TW" sz="2400" dirty="0">
                <a:solidFill>
                  <a:schemeClr val="tx1"/>
                </a:solidFill>
              </a:rPr>
              <a:t>width &gt;0</a:t>
            </a:r>
            <a:r>
              <a:rPr lang="zh-TW" altLang="en-US" sz="2400" dirty="0">
                <a:solidFill>
                  <a:schemeClr val="tx1"/>
                </a:solidFill>
              </a:rPr>
              <a:t>代表以該粗度</a:t>
            </a:r>
            <a:r>
              <a:rPr lang="en-US" altLang="zh-TW" sz="2400" dirty="0">
                <a:solidFill>
                  <a:schemeClr val="tx1"/>
                </a:solidFill>
              </a:rPr>
              <a:t>(pixel)</a:t>
            </a:r>
            <a:r>
              <a:rPr lang="zh-TW" altLang="en-US" sz="2400" dirty="0">
                <a:solidFill>
                  <a:schemeClr val="tx1"/>
                </a:solidFill>
              </a:rPr>
              <a:t>繪畫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93376D6-F90A-1993-99CA-DFD22073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44" y="3812252"/>
            <a:ext cx="10282284" cy="25885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CAAAEA7-1537-DC62-D364-BEC0E58A6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49" y="385711"/>
            <a:ext cx="1794511" cy="118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9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3EB6-2105-0099-7DE8-B67A3CC2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1FDE-9854-4B2F-89D6-3DBBF847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r>
              <a:rPr lang="en-US" altLang="zh-TW" dirty="0"/>
              <a:t>-</a:t>
            </a:r>
            <a:r>
              <a:rPr lang="zh-TW" altLang="en-US" dirty="0"/>
              <a:t>繪畫多邊形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4EA0A17-7A21-9A96-5E64-C221C3BFF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polygon(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suf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, color, 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points,width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意思是在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suf</a:t>
            </a:r>
            <a:r>
              <a:rPr lang="zh-TW" alt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</a:t>
            </a:r>
            <a:r>
              <a:rPr lang="zh-TW" altLang="en-US" sz="2400" dirty="0">
                <a:solidFill>
                  <a:schemeClr val="tx1"/>
                </a:solidFill>
              </a:rPr>
              <a:t>個界面上畫上顏色為</a:t>
            </a:r>
            <a:r>
              <a:rPr lang="en-US" altLang="zh-TW" sz="2400" dirty="0">
                <a:solidFill>
                  <a:schemeClr val="tx1"/>
                </a:solidFill>
              </a:rPr>
              <a:t>color</a:t>
            </a:r>
            <a:r>
              <a:rPr lang="zh-TW" altLang="en-US" sz="2400" dirty="0">
                <a:solidFill>
                  <a:schemeClr val="tx1"/>
                </a:solidFill>
              </a:rPr>
              <a:t>的多邊形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由</a:t>
            </a:r>
            <a:r>
              <a:rPr lang="en-US" altLang="zh-TW" sz="2400" dirty="0">
                <a:solidFill>
                  <a:schemeClr val="tx1"/>
                </a:solidFill>
              </a:rPr>
              <a:t>points</a:t>
            </a:r>
            <a:r>
              <a:rPr lang="zh-TW" altLang="en-US" sz="2400" dirty="0">
                <a:solidFill>
                  <a:schemeClr val="tx1"/>
                </a:solidFill>
              </a:rPr>
              <a:t>圍成的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points</a:t>
            </a:r>
            <a:r>
              <a:rPr lang="zh-TW" altLang="en-US" sz="2400" dirty="0">
                <a:solidFill>
                  <a:schemeClr val="tx1"/>
                </a:solidFill>
              </a:rPr>
              <a:t>是由</a:t>
            </a:r>
            <a:r>
              <a:rPr lang="en-US" altLang="zh-TW" sz="2400" dirty="0">
                <a:solidFill>
                  <a:schemeClr val="tx1"/>
                </a:solidFill>
              </a:rPr>
              <a:t>tuple</a:t>
            </a:r>
            <a:r>
              <a:rPr lang="zh-TW" altLang="en-US" sz="2400" dirty="0">
                <a:solidFill>
                  <a:schemeClr val="tx1"/>
                </a:solidFill>
              </a:rPr>
              <a:t>組成的</a:t>
            </a:r>
            <a:r>
              <a:rPr lang="en-US" altLang="zh-TW" sz="2400" dirty="0">
                <a:solidFill>
                  <a:schemeClr val="tx1"/>
                </a:solidFill>
              </a:rPr>
              <a:t>list</a:t>
            </a:r>
            <a:r>
              <a:rPr lang="zh-TW" altLang="en-US" sz="2400" dirty="0">
                <a:solidFill>
                  <a:schemeClr val="tx1"/>
                </a:solidFill>
              </a:rPr>
              <a:t>，如</a:t>
            </a:r>
            <a:r>
              <a:rPr lang="en-US" altLang="zh-TW" sz="2400" dirty="0">
                <a:solidFill>
                  <a:schemeClr val="tx1"/>
                </a:solidFill>
              </a:rPr>
              <a:t>[(1,2), (2,3),(3,1)]</a:t>
            </a:r>
            <a:r>
              <a:rPr lang="zh-TW" altLang="en-US" sz="2400" dirty="0">
                <a:solidFill>
                  <a:schemeClr val="tx1"/>
                </a:solidFill>
              </a:rPr>
              <a:t>，</a:t>
            </a:r>
            <a:r>
              <a:rPr lang="en-US" altLang="zh-TW" sz="2400" dirty="0">
                <a:solidFill>
                  <a:schemeClr val="tx1"/>
                </a:solidFill>
              </a:rPr>
              <a:t>width</a:t>
            </a:r>
            <a:r>
              <a:rPr lang="zh-TW" altLang="en-US" sz="2400" dirty="0">
                <a:solidFill>
                  <a:schemeClr val="tx1"/>
                </a:solidFill>
              </a:rPr>
              <a:t>意思同上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7D5FDF2-9244-4547-A41A-1C7C1629E778}"/>
              </a:ext>
            </a:extLst>
          </p:cNvPr>
          <p:cNvGrpSpPr/>
          <p:nvPr/>
        </p:nvGrpSpPr>
        <p:grpSpPr>
          <a:xfrm>
            <a:off x="6771746" y="302403"/>
            <a:ext cx="1723668" cy="1748151"/>
            <a:chOff x="6771746" y="302403"/>
            <a:chExt cx="1723668" cy="1748151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26F6903-AEED-FB5F-6260-FE32605D94B1}"/>
                </a:ext>
              </a:extLst>
            </p:cNvPr>
            <p:cNvGrpSpPr/>
            <p:nvPr/>
          </p:nvGrpSpPr>
          <p:grpSpPr>
            <a:xfrm>
              <a:off x="6771746" y="302403"/>
              <a:ext cx="1723668" cy="1748151"/>
              <a:chOff x="6771746" y="302403"/>
              <a:chExt cx="1723668" cy="1748151"/>
            </a:xfrm>
          </p:grpSpPr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E001E49B-2F06-72C9-F53C-4FB244BDD89C}"/>
                  </a:ext>
                </a:extLst>
              </p:cNvPr>
              <p:cNvGrpSpPr/>
              <p:nvPr/>
            </p:nvGrpSpPr>
            <p:grpSpPr>
              <a:xfrm>
                <a:off x="6858000" y="302403"/>
                <a:ext cx="1637414" cy="172509"/>
                <a:chOff x="6858000" y="396942"/>
                <a:chExt cx="2052084" cy="216196"/>
              </a:xfrm>
            </p:grpSpPr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9449381C-8E78-7E8D-D9E5-DA1817615C6A}"/>
                    </a:ext>
                  </a:extLst>
                </p:cNvPr>
                <p:cNvCxnSpPr/>
                <p:nvPr/>
              </p:nvCxnSpPr>
              <p:spPr>
                <a:xfrm>
                  <a:off x="6858000" y="513907"/>
                  <a:ext cx="2052084" cy="0"/>
                </a:xfrm>
                <a:prstGeom prst="straightConnector1">
                  <a:avLst/>
                </a:prstGeom>
                <a:ln w="571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線接點 12">
                  <a:extLst>
                    <a:ext uri="{FF2B5EF4-FFF2-40B4-BE49-F238E27FC236}">
                      <a16:creationId xmlns:a16="http://schemas.microsoft.com/office/drawing/2014/main" id="{1E681E5C-0F33-A43C-E1A0-468CB074D660}"/>
                    </a:ext>
                  </a:extLst>
                </p:cNvPr>
                <p:cNvCxnSpPr/>
                <p:nvPr/>
              </p:nvCxnSpPr>
              <p:spPr>
                <a:xfrm>
                  <a:off x="7272670" y="404037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接點 13">
                  <a:extLst>
                    <a:ext uri="{FF2B5EF4-FFF2-40B4-BE49-F238E27FC236}">
                      <a16:creationId xmlns:a16="http://schemas.microsoft.com/office/drawing/2014/main" id="{B57F393F-16B7-0713-5FA1-CB01D8609E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9618" y="407575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接點 15">
                  <a:extLst>
                    <a:ext uri="{FF2B5EF4-FFF2-40B4-BE49-F238E27FC236}">
                      <a16:creationId xmlns:a16="http://schemas.microsoft.com/office/drawing/2014/main" id="{208B9E38-54A3-5AFD-D2D3-050D11F2D32F}"/>
                    </a:ext>
                  </a:extLst>
                </p:cNvPr>
                <p:cNvCxnSpPr/>
                <p:nvPr/>
              </p:nvCxnSpPr>
              <p:spPr>
                <a:xfrm>
                  <a:off x="8063026" y="396942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接點 16">
                  <a:extLst>
                    <a:ext uri="{FF2B5EF4-FFF2-40B4-BE49-F238E27FC236}">
                      <a16:creationId xmlns:a16="http://schemas.microsoft.com/office/drawing/2014/main" id="{578D3108-7124-1EDF-35FA-75D4B67A9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59974" y="400480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群組 28">
                <a:extLst>
                  <a:ext uri="{FF2B5EF4-FFF2-40B4-BE49-F238E27FC236}">
                    <a16:creationId xmlns:a16="http://schemas.microsoft.com/office/drawing/2014/main" id="{DC7702BB-193C-1CF5-2EB3-7BB29AF0E251}"/>
                  </a:ext>
                </a:extLst>
              </p:cNvPr>
              <p:cNvGrpSpPr/>
              <p:nvPr/>
            </p:nvGrpSpPr>
            <p:grpSpPr>
              <a:xfrm rot="5400000">
                <a:off x="6039292" y="1145591"/>
                <a:ext cx="1637417" cy="172509"/>
                <a:chOff x="6858000" y="396942"/>
                <a:chExt cx="2052084" cy="216196"/>
              </a:xfrm>
            </p:grpSpPr>
            <p:cxnSp>
              <p:nvCxnSpPr>
                <p:cNvPr id="30" name="直線單箭頭接點 29">
                  <a:extLst>
                    <a:ext uri="{FF2B5EF4-FFF2-40B4-BE49-F238E27FC236}">
                      <a16:creationId xmlns:a16="http://schemas.microsoft.com/office/drawing/2014/main" id="{7129BA53-5795-3A0B-DA1B-C5D927B90D0D}"/>
                    </a:ext>
                  </a:extLst>
                </p:cNvPr>
                <p:cNvCxnSpPr/>
                <p:nvPr/>
              </p:nvCxnSpPr>
              <p:spPr>
                <a:xfrm>
                  <a:off x="6858000" y="513907"/>
                  <a:ext cx="2052084" cy="0"/>
                </a:xfrm>
                <a:prstGeom prst="straightConnector1">
                  <a:avLst/>
                </a:prstGeom>
                <a:ln w="571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線接點 30">
                  <a:extLst>
                    <a:ext uri="{FF2B5EF4-FFF2-40B4-BE49-F238E27FC236}">
                      <a16:creationId xmlns:a16="http://schemas.microsoft.com/office/drawing/2014/main" id="{3791FF9A-F12E-E7A7-2395-07CCDF86CF53}"/>
                    </a:ext>
                  </a:extLst>
                </p:cNvPr>
                <p:cNvCxnSpPr/>
                <p:nvPr/>
              </p:nvCxnSpPr>
              <p:spPr>
                <a:xfrm>
                  <a:off x="7272670" y="404037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接點 31">
                  <a:extLst>
                    <a:ext uri="{FF2B5EF4-FFF2-40B4-BE49-F238E27FC236}">
                      <a16:creationId xmlns:a16="http://schemas.microsoft.com/office/drawing/2014/main" id="{32BAC707-70B5-8709-B679-115CB9FCA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9618" y="407575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9041101D-A505-721D-5A2E-690CD8167917}"/>
                    </a:ext>
                  </a:extLst>
                </p:cNvPr>
                <p:cNvCxnSpPr/>
                <p:nvPr/>
              </p:nvCxnSpPr>
              <p:spPr>
                <a:xfrm>
                  <a:off x="8063026" y="396942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接點 33">
                  <a:extLst>
                    <a:ext uri="{FF2B5EF4-FFF2-40B4-BE49-F238E27FC236}">
                      <a16:creationId xmlns:a16="http://schemas.microsoft.com/office/drawing/2014/main" id="{A7098A74-44D1-DCED-E66D-C6AD0C276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59974" y="400480"/>
                  <a:ext cx="0" cy="20556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4E19C8CF-ECBB-9020-C415-94D14715B803}"/>
                  </a:ext>
                </a:extLst>
              </p:cNvPr>
              <p:cNvCxnSpPr/>
              <p:nvPr/>
            </p:nvCxnSpPr>
            <p:spPr>
              <a:xfrm>
                <a:off x="7188877" y="1060750"/>
                <a:ext cx="316735" cy="3139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DE7EE71A-5BF3-9D11-035E-0D08061320F6}"/>
                  </a:ext>
                </a:extLst>
              </p:cNvPr>
              <p:cNvCxnSpPr/>
              <p:nvPr/>
            </p:nvCxnSpPr>
            <p:spPr>
              <a:xfrm flipV="1">
                <a:off x="7505612" y="744014"/>
                <a:ext cx="313911" cy="630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B6468F48-ADD4-D751-95BD-6C5A4AC9BBCF}"/>
                </a:ext>
              </a:extLst>
            </p:cNvPr>
            <p:cNvCxnSpPr/>
            <p:nvPr/>
          </p:nvCxnSpPr>
          <p:spPr>
            <a:xfrm flipV="1">
              <a:off x="7188877" y="744014"/>
              <a:ext cx="630646" cy="315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圖片 50">
            <a:extLst>
              <a:ext uri="{FF2B5EF4-FFF2-40B4-BE49-F238E27FC236}">
                <a16:creationId xmlns:a16="http://schemas.microsoft.com/office/drawing/2014/main" id="{D3D431DE-A1E5-ECF7-783F-1D617AA84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72" y="3937877"/>
            <a:ext cx="113157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8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ECD0-171A-4F83-55F3-06FE9F1B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D671-E0E9-91B0-D204-AD6CF337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r>
              <a:rPr lang="en-US" altLang="zh-TW" dirty="0"/>
              <a:t>-</a:t>
            </a:r>
            <a:r>
              <a:rPr lang="zh-TW" altLang="en-US" dirty="0"/>
              <a:t>繪畫圓形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AF3408B-8CCC-FD61-7535-A915DD3A1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circle(surface, color, center, radius, width)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意思是在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</a:t>
            </a:r>
            <a:r>
              <a:rPr lang="zh-TW" altLang="en-US" sz="2400" dirty="0">
                <a:solidFill>
                  <a:schemeClr val="tx1"/>
                </a:solidFill>
              </a:rPr>
              <a:t>個界面上畫上顏色為</a:t>
            </a:r>
            <a:r>
              <a:rPr lang="en-US" altLang="zh-TW" sz="2400" dirty="0">
                <a:solidFill>
                  <a:schemeClr val="tx1"/>
                </a:solidFill>
              </a:rPr>
              <a:t>color</a:t>
            </a:r>
            <a:r>
              <a:rPr lang="zh-TW" altLang="en-US" sz="2400" dirty="0">
                <a:solidFill>
                  <a:schemeClr val="tx1"/>
                </a:solidFill>
              </a:rPr>
              <a:t>的圓形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圓的中心坐標為</a:t>
            </a:r>
            <a:r>
              <a:rPr lang="en-US" altLang="zh-TW" sz="2400" dirty="0">
                <a:solidFill>
                  <a:schemeClr val="tx1"/>
                </a:solidFill>
              </a:rPr>
              <a:t>center=(</a:t>
            </a:r>
            <a:r>
              <a:rPr lang="en-US" altLang="zh-TW" sz="2400" dirty="0" err="1">
                <a:solidFill>
                  <a:schemeClr val="tx1"/>
                </a:solidFill>
              </a:rPr>
              <a:t>x,y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，半徑為</a:t>
            </a:r>
            <a:r>
              <a:rPr lang="en-US" altLang="zh-TW" sz="2400" dirty="0">
                <a:solidFill>
                  <a:schemeClr val="tx1"/>
                </a:solidFill>
              </a:rPr>
              <a:t>radius)</a:t>
            </a:r>
            <a:r>
              <a:rPr lang="zh-TW" altLang="en-US" sz="2400" dirty="0">
                <a:solidFill>
                  <a:schemeClr val="tx1"/>
                </a:solidFill>
              </a:rPr>
              <a:t>，</a:t>
            </a:r>
            <a:r>
              <a:rPr lang="en-US" altLang="zh-TW" sz="2400" dirty="0">
                <a:solidFill>
                  <a:schemeClr val="tx1"/>
                </a:solidFill>
              </a:rPr>
              <a:t>width</a:t>
            </a:r>
            <a:r>
              <a:rPr lang="zh-TW" altLang="en-US" sz="2400" dirty="0">
                <a:solidFill>
                  <a:schemeClr val="tx1"/>
                </a:solidFill>
              </a:rPr>
              <a:t>意思同上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F750DCF-3B63-370A-30A8-8D23CFA52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00" y="4339725"/>
            <a:ext cx="10315295" cy="166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0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BB74-CB5E-AA8B-2292-2C0947D4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1DB0-5406-5C94-DDE2-A0C714DA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r>
              <a:rPr lang="en-US" altLang="zh-TW" dirty="0"/>
              <a:t>-</a:t>
            </a:r>
            <a:r>
              <a:rPr lang="zh-TW" altLang="en-US" dirty="0"/>
              <a:t>繪畫橢圓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2A86B82-8647-B6CF-7BA9-CD2B90524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ellipse(surface, color, </a:t>
            </a:r>
            <a:r>
              <a:rPr lang="en-US" altLang="zh-TW" sz="2400" dirty="0" err="1">
                <a:solidFill>
                  <a:schemeClr val="tx1"/>
                </a:solidFill>
              </a:rPr>
              <a:t>rect</a:t>
            </a:r>
            <a:r>
              <a:rPr lang="en-US" altLang="zh-TW" sz="2400" dirty="0">
                <a:solidFill>
                  <a:schemeClr val="tx1"/>
                </a:solidFill>
              </a:rPr>
              <a:t>, width) 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意思是在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</a:t>
            </a:r>
            <a:r>
              <a:rPr lang="zh-TW" altLang="en-US" sz="2400" dirty="0">
                <a:solidFill>
                  <a:schemeClr val="tx1"/>
                </a:solidFill>
              </a:rPr>
              <a:t>個界面上畫上顏色為</a:t>
            </a:r>
            <a:r>
              <a:rPr lang="en-US" altLang="zh-TW" sz="2400" dirty="0">
                <a:solidFill>
                  <a:schemeClr val="tx1"/>
                </a:solidFill>
              </a:rPr>
              <a:t>color</a:t>
            </a:r>
            <a:r>
              <a:rPr lang="zh-TW" altLang="en-US" sz="2400" dirty="0">
                <a:solidFill>
                  <a:schemeClr val="tx1"/>
                </a:solidFill>
              </a:rPr>
              <a:t>的橢圓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橢圓被</a:t>
            </a:r>
            <a:r>
              <a:rPr lang="en-US" altLang="zh-TW" sz="2400" dirty="0" err="1">
                <a:solidFill>
                  <a:schemeClr val="tx1"/>
                </a:solidFill>
              </a:rPr>
              <a:t>rect</a:t>
            </a:r>
            <a:r>
              <a:rPr lang="zh-TW" altLang="en-US" sz="2400" dirty="0">
                <a:solidFill>
                  <a:schemeClr val="tx1"/>
                </a:solidFill>
              </a:rPr>
              <a:t>所包圍，通過</a:t>
            </a:r>
            <a:r>
              <a:rPr lang="en-US" altLang="zh-TW" sz="2400" dirty="0" err="1">
                <a:solidFill>
                  <a:schemeClr val="tx1"/>
                </a:solidFill>
              </a:rPr>
              <a:t>rect</a:t>
            </a:r>
            <a:r>
              <a:rPr lang="zh-TW" altLang="en-US" sz="2400" dirty="0">
                <a:solidFill>
                  <a:schemeClr val="tx1"/>
                </a:solidFill>
              </a:rPr>
              <a:t>決定橢圓的形狀大小。</a:t>
            </a:r>
            <a:r>
              <a:rPr lang="en-US" altLang="zh-TW" sz="2400" dirty="0">
                <a:solidFill>
                  <a:schemeClr val="tx1"/>
                </a:solidFill>
              </a:rPr>
              <a:t>width</a:t>
            </a:r>
            <a:r>
              <a:rPr lang="zh-TW" altLang="en-US" sz="2400" dirty="0">
                <a:solidFill>
                  <a:schemeClr val="tx1"/>
                </a:solidFill>
              </a:rPr>
              <a:t>意思同上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5F15A4-2A03-2466-9AF3-58E976EA575A}"/>
              </a:ext>
            </a:extLst>
          </p:cNvPr>
          <p:cNvSpPr/>
          <p:nvPr/>
        </p:nvSpPr>
        <p:spPr>
          <a:xfrm>
            <a:off x="6751674" y="430618"/>
            <a:ext cx="3168503" cy="1576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C01D573-BE24-5606-BFDF-1621F8AAAF33}"/>
              </a:ext>
            </a:extLst>
          </p:cNvPr>
          <p:cNvSpPr/>
          <p:nvPr/>
        </p:nvSpPr>
        <p:spPr>
          <a:xfrm>
            <a:off x="6751674" y="425484"/>
            <a:ext cx="3168503" cy="157679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6228DD-58CE-3D98-B25B-A875F820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9" y="3702950"/>
            <a:ext cx="10910777" cy="254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3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920-9968-B47E-DDE5-84C04B47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1340-EF00-AF08-F28D-80DCBE38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draw</a:t>
            </a:r>
            <a:r>
              <a:rPr lang="zh-TW" altLang="en-US" dirty="0"/>
              <a:t>模塊</a:t>
            </a:r>
            <a:r>
              <a:rPr lang="en-US" altLang="zh-TW" dirty="0"/>
              <a:t>-</a:t>
            </a:r>
            <a:r>
              <a:rPr lang="zh-TW" altLang="en-US" dirty="0"/>
              <a:t>繪畫線段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E1B748F-C6F8-D1EB-E1C7-E51E51E9C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line(surface, color, </a:t>
            </a:r>
            <a:r>
              <a:rPr lang="en-US" altLang="zh-TW" sz="2400" dirty="0" err="1">
                <a:solidFill>
                  <a:schemeClr val="tx1"/>
                </a:solidFill>
              </a:rPr>
              <a:t>start_pos</a:t>
            </a:r>
            <a:r>
              <a:rPr lang="en-US" altLang="zh-TW" sz="2400" dirty="0">
                <a:solidFill>
                  <a:schemeClr val="tx1"/>
                </a:solidFill>
              </a:rPr>
              <a:t>, </a:t>
            </a:r>
            <a:r>
              <a:rPr lang="en-US" altLang="zh-TW" sz="2400" dirty="0" err="1">
                <a:solidFill>
                  <a:schemeClr val="tx1"/>
                </a:solidFill>
              </a:rPr>
              <a:t>end_pos</a:t>
            </a:r>
            <a:r>
              <a:rPr lang="en-US" altLang="zh-TW" sz="2400" dirty="0">
                <a:solidFill>
                  <a:schemeClr val="tx1"/>
                </a:solidFill>
              </a:rPr>
              <a:t>) -&gt; </a:t>
            </a:r>
            <a:r>
              <a:rPr lang="en-US" altLang="zh-TW" sz="2400" dirty="0" err="1">
                <a:solidFill>
                  <a:schemeClr val="tx1"/>
                </a:solidFill>
              </a:rPr>
              <a:t>Rect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意思是在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上繪畫顏色為</a:t>
            </a:r>
            <a:r>
              <a:rPr lang="en-US" altLang="zh-TW" sz="2400" dirty="0">
                <a:solidFill>
                  <a:schemeClr val="tx1"/>
                </a:solidFill>
              </a:rPr>
              <a:t>color</a:t>
            </a:r>
            <a:r>
              <a:rPr lang="zh-TW" altLang="en-US" sz="2400" dirty="0">
                <a:solidFill>
                  <a:schemeClr val="tx1"/>
                </a:solidFill>
              </a:rPr>
              <a:t>的線段，線段的首尾坐標為</a:t>
            </a:r>
            <a:r>
              <a:rPr lang="en-US" altLang="zh-TW" sz="2400" dirty="0" err="1">
                <a:solidFill>
                  <a:schemeClr val="tx1"/>
                </a:solidFill>
              </a:rPr>
              <a:t>start_pos</a:t>
            </a:r>
            <a:r>
              <a:rPr lang="en-US" altLang="zh-TW" sz="2400" dirty="0">
                <a:solidFill>
                  <a:schemeClr val="tx1"/>
                </a:solidFill>
              </a:rPr>
              <a:t> =(x1,y1) </a:t>
            </a:r>
            <a:r>
              <a:rPr lang="zh-TW" altLang="en-US" sz="2400" dirty="0">
                <a:solidFill>
                  <a:schemeClr val="tx1"/>
                </a:solidFill>
              </a:rPr>
              <a:t>和 </a:t>
            </a:r>
            <a:r>
              <a:rPr lang="en-US" altLang="zh-TW" sz="2400" dirty="0" err="1">
                <a:solidFill>
                  <a:schemeClr val="tx1"/>
                </a:solidFill>
              </a:rPr>
              <a:t>end_pos</a:t>
            </a:r>
            <a:r>
              <a:rPr lang="en-US" altLang="zh-TW" sz="2400" dirty="0">
                <a:solidFill>
                  <a:schemeClr val="tx1"/>
                </a:solidFill>
              </a:rPr>
              <a:t>=(x2, y2)</a:t>
            </a:r>
            <a:r>
              <a:rPr lang="zh-TW" altLang="en-US" sz="2400" dirty="0">
                <a:solidFill>
                  <a:schemeClr val="tx1"/>
                </a:solidFill>
              </a:rPr>
              <a:t>組成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497DBC-F402-2631-E83A-C26D589C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02" y="3746646"/>
            <a:ext cx="10723764" cy="15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8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F5A7-AE26-3696-0683-4E4FE0A1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01EB-5950-B721-62EE-F807A590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Example3.1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CBC7F86-EE15-219B-E423-EFAEE287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繪畫樹群背景</a:t>
            </a:r>
            <a:endParaRPr lang="en-GB" altLang="zh-TW" sz="2400" dirty="0">
              <a:solidFill>
                <a:schemeClr val="tx1"/>
              </a:solidFill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C858FF2-00AA-54F6-83A4-DD0044E2A63F}"/>
              </a:ext>
            </a:extLst>
          </p:cNvPr>
          <p:cNvGrpSpPr/>
          <p:nvPr/>
        </p:nvGrpSpPr>
        <p:grpSpPr>
          <a:xfrm>
            <a:off x="4975668" y="1232351"/>
            <a:ext cx="6519743" cy="4665175"/>
            <a:chOff x="4994923" y="1583225"/>
            <a:chExt cx="6519743" cy="4665175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BEDEEFB-B256-9CAF-893D-A057A0EAE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4923" y="1583225"/>
              <a:ext cx="6519743" cy="4665175"/>
            </a:xfrm>
            <a:prstGeom prst="rect">
              <a:avLst/>
            </a:prstGeom>
          </p:spPr>
        </p:pic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A1549D7-9D68-B9B2-2262-EAD83D046187}"/>
                </a:ext>
              </a:extLst>
            </p:cNvPr>
            <p:cNvGrpSpPr/>
            <p:nvPr/>
          </p:nvGrpSpPr>
          <p:grpSpPr>
            <a:xfrm>
              <a:off x="5730944" y="4625163"/>
              <a:ext cx="1231371" cy="369332"/>
              <a:chOff x="5730944" y="4625163"/>
              <a:chExt cx="1231371" cy="369332"/>
            </a:xfrm>
          </p:grpSpPr>
          <p:cxnSp>
            <p:nvCxnSpPr>
              <p:cNvPr id="5" name="直線單箭頭接點 4">
                <a:extLst>
                  <a:ext uri="{FF2B5EF4-FFF2-40B4-BE49-F238E27FC236}">
                    <a16:creationId xmlns:a16="http://schemas.microsoft.com/office/drawing/2014/main" id="{DF02DB8B-12D0-54C3-8B1B-37363068D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0944" y="4625163"/>
                <a:ext cx="123137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444BA6-4B21-A47F-520A-B87903608981}"/>
                  </a:ext>
                </a:extLst>
              </p:cNvPr>
              <p:cNvSpPr txBox="1"/>
              <p:nvPr/>
            </p:nvSpPr>
            <p:spPr>
              <a:xfrm>
                <a:off x="6052317" y="4625163"/>
                <a:ext cx="5886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altLang="zh-HK" b="1" dirty="0">
                    <a:solidFill>
                      <a:srgbClr val="FF0000"/>
                    </a:solidFill>
                  </a:rPr>
                  <a:t>100</a:t>
                </a:r>
                <a:endParaRPr lang="zh-HK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0CEF4EE-6D38-D750-BBE3-7B75D6FA6E7C}"/>
              </a:ext>
            </a:extLst>
          </p:cNvPr>
          <p:cNvCxnSpPr>
            <a:cxnSpLocks/>
          </p:cNvCxnSpPr>
          <p:nvPr/>
        </p:nvCxnSpPr>
        <p:spPr>
          <a:xfrm>
            <a:off x="4975668" y="1662224"/>
            <a:ext cx="6519743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521E789-0808-70A3-CCE7-ADC3314DBA7C}"/>
              </a:ext>
            </a:extLst>
          </p:cNvPr>
          <p:cNvCxnSpPr>
            <a:cxnSpLocks/>
          </p:cNvCxnSpPr>
          <p:nvPr/>
        </p:nvCxnSpPr>
        <p:spPr>
          <a:xfrm>
            <a:off x="4882128" y="1517280"/>
            <a:ext cx="0" cy="446176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9D90CF-E1CB-AB9B-540B-517BFF2DB43B}"/>
              </a:ext>
            </a:extLst>
          </p:cNvPr>
          <p:cNvSpPr txBox="1"/>
          <p:nvPr/>
        </p:nvSpPr>
        <p:spPr>
          <a:xfrm>
            <a:off x="7941227" y="172032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HK" b="1" dirty="0">
                <a:solidFill>
                  <a:srgbClr val="FF0000"/>
                </a:solidFill>
              </a:rPr>
              <a:t>600</a:t>
            </a:r>
            <a:endParaRPr lang="zh-HK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D121905-AE54-8CC3-7BD6-E5CA66842336}"/>
              </a:ext>
            </a:extLst>
          </p:cNvPr>
          <p:cNvSpPr txBox="1"/>
          <p:nvPr/>
        </p:nvSpPr>
        <p:spPr>
          <a:xfrm>
            <a:off x="4983902" y="515605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HK" b="1" dirty="0">
                <a:solidFill>
                  <a:srgbClr val="FF0000"/>
                </a:solidFill>
              </a:rPr>
              <a:t>400</a:t>
            </a:r>
            <a:endParaRPr lang="zh-HK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74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DF9F-EA85-AC97-966C-1E6B3B6F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8FC4-2DE2-2B9F-86A9-A90D6845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Example3.1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1DAB528-ED76-E54F-AF87-59E30EC33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1. </a:t>
            </a:r>
            <a:r>
              <a:rPr lang="zh-TW" altLang="en-US" sz="2400" dirty="0">
                <a:solidFill>
                  <a:schemeClr val="tx1"/>
                </a:solidFill>
              </a:rPr>
              <a:t>先繪畫淺紫色的背景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2. </a:t>
            </a:r>
            <a:r>
              <a:rPr lang="zh-TW" altLang="en-US" sz="2400" dirty="0">
                <a:solidFill>
                  <a:schemeClr val="tx1"/>
                </a:solidFill>
              </a:rPr>
              <a:t>再繪畫綠色的草地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3. </a:t>
            </a:r>
            <a:r>
              <a:rPr lang="zh-TW" altLang="en-US" sz="2400" dirty="0">
                <a:solidFill>
                  <a:schemeClr val="tx1"/>
                </a:solidFill>
              </a:rPr>
              <a:t>再繪畫六棵樹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方法</a:t>
            </a:r>
            <a:r>
              <a:rPr lang="en-US" altLang="zh-TW" sz="2200" dirty="0">
                <a:solidFill>
                  <a:schemeClr val="tx1"/>
                </a:solidFill>
              </a:rPr>
              <a:t>1: </a:t>
            </a:r>
            <a:r>
              <a:rPr lang="zh-TW" altLang="en-US" sz="2200" dirty="0">
                <a:solidFill>
                  <a:schemeClr val="tx1"/>
                </a:solidFill>
              </a:rPr>
              <a:t>把每個樹的坐標畫上</a:t>
            </a:r>
            <a:r>
              <a:rPr lang="en-US" altLang="zh-TW" sz="2200" dirty="0">
                <a:solidFill>
                  <a:schemeClr val="tx1"/>
                </a:solidFill>
              </a:rPr>
              <a:t>[</a:t>
            </a:r>
            <a:r>
              <a:rPr lang="zh-TW" altLang="en-US" sz="2200" dirty="0">
                <a:solidFill>
                  <a:schemeClr val="tx1"/>
                </a:solidFill>
              </a:rPr>
              <a:t>最顯淺</a:t>
            </a:r>
            <a:r>
              <a:rPr lang="en-US" altLang="zh-TW" sz="2200" dirty="0">
                <a:solidFill>
                  <a:schemeClr val="tx1"/>
                </a:solidFill>
              </a:rPr>
              <a:t>]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方法</a:t>
            </a:r>
            <a:r>
              <a:rPr lang="en-US" altLang="zh-TW" sz="2200" dirty="0">
                <a:solidFill>
                  <a:schemeClr val="tx1"/>
                </a:solidFill>
              </a:rPr>
              <a:t>2: </a:t>
            </a:r>
            <a:r>
              <a:rPr lang="zh-TW" altLang="en-US" sz="2200" dirty="0">
                <a:solidFill>
                  <a:schemeClr val="tx1"/>
                </a:solidFill>
              </a:rPr>
              <a:t>用</a:t>
            </a:r>
            <a:r>
              <a:rPr lang="en-US" altLang="zh-TW" sz="2200" dirty="0">
                <a:solidFill>
                  <a:schemeClr val="tx1"/>
                </a:solidFill>
              </a:rPr>
              <a:t>for loop[</a:t>
            </a:r>
            <a:r>
              <a:rPr lang="zh-TW" altLang="en-US" sz="2200" dirty="0">
                <a:solidFill>
                  <a:schemeClr val="tx1"/>
                </a:solidFill>
              </a:rPr>
              <a:t>最方便</a:t>
            </a:r>
            <a:r>
              <a:rPr lang="en-US" altLang="zh-TW" sz="2200" dirty="0">
                <a:solidFill>
                  <a:schemeClr val="tx1"/>
                </a:solidFill>
              </a:rPr>
              <a:t>]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方法</a:t>
            </a:r>
            <a:r>
              <a:rPr lang="en-US" altLang="zh-TW" sz="2200" dirty="0">
                <a:solidFill>
                  <a:schemeClr val="tx1"/>
                </a:solidFill>
              </a:rPr>
              <a:t>3: </a:t>
            </a:r>
            <a:r>
              <a:rPr lang="zh-TW" altLang="en-US" sz="2200" dirty="0">
                <a:solidFill>
                  <a:schemeClr val="tx1"/>
                </a:solidFill>
              </a:rPr>
              <a:t>用</a:t>
            </a:r>
            <a:r>
              <a:rPr lang="en-US" altLang="zh-TW" sz="2200" dirty="0" err="1">
                <a:solidFill>
                  <a:schemeClr val="tx1"/>
                </a:solidFill>
              </a:rPr>
              <a:t>surface+for-loop</a:t>
            </a:r>
            <a:r>
              <a:rPr lang="zh-TW" altLang="en-US" sz="2200" dirty="0">
                <a:solidFill>
                  <a:schemeClr val="tx1"/>
                </a:solidFill>
              </a:rPr>
              <a:t>的方法</a:t>
            </a:r>
            <a:r>
              <a:rPr lang="en-US" altLang="zh-TW" sz="2200" dirty="0">
                <a:solidFill>
                  <a:schemeClr val="tx1"/>
                </a:solidFill>
              </a:rPr>
              <a:t>[</a:t>
            </a:r>
            <a:r>
              <a:rPr lang="zh-TW" altLang="en-US" sz="2200" dirty="0">
                <a:solidFill>
                  <a:schemeClr val="tx1"/>
                </a:solidFill>
              </a:rPr>
              <a:t>做法最正確，較難，但要懂</a:t>
            </a:r>
            <a:r>
              <a:rPr lang="en-US" altLang="zh-TW" sz="2200" dirty="0">
                <a:solidFill>
                  <a:schemeClr val="tx1"/>
                </a:solidFill>
              </a:rPr>
              <a:t>]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0111B92-9B15-599D-CC9A-C9F33B178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263" y="1435395"/>
            <a:ext cx="5053478" cy="361599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DF0D41F-D7B5-9AB8-C55F-604F28DED3F3}"/>
              </a:ext>
            </a:extLst>
          </p:cNvPr>
          <p:cNvSpPr txBox="1"/>
          <p:nvPr/>
        </p:nvSpPr>
        <p:spPr>
          <a:xfrm>
            <a:off x="603888" y="6180324"/>
            <a:ext cx="827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詳細請看</a:t>
            </a:r>
            <a:r>
              <a:rPr lang="en-US" altLang="zh-TW" sz="1800" dirty="0">
                <a:solidFill>
                  <a:srgbClr val="FF0000"/>
                </a:solidFill>
              </a:rPr>
              <a:t>practices </a:t>
            </a:r>
            <a:r>
              <a:rPr lang="en-US" altLang="zh-TW" dirty="0">
                <a:solidFill>
                  <a:srgbClr val="FF0000"/>
                </a:solidFill>
              </a:rPr>
              <a:t>/ draw-</a:t>
            </a:r>
            <a:r>
              <a:rPr lang="zh-TW" altLang="en-US" dirty="0">
                <a:solidFill>
                  <a:srgbClr val="FF0000"/>
                </a:solidFill>
              </a:rPr>
              <a:t>繪圖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 繪畫樹群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方法二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方法三</a:t>
            </a:r>
            <a:r>
              <a:rPr lang="en-US" altLang="zh-TW" dirty="0">
                <a:solidFill>
                  <a:srgbClr val="FF0000"/>
                </a:solidFill>
              </a:rPr>
              <a:t>).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6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8535-8FB7-7F3E-34FB-76859DD6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CB57-0B3E-B979-C08D-49A20147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課後作業</a:t>
            </a:r>
            <a:r>
              <a:rPr lang="en-US" dirty="0"/>
              <a:t>3.1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0CACA5C-9532-95F5-3496-FFE670F6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請在</a:t>
            </a:r>
            <a:r>
              <a:rPr lang="en-US" altLang="zh-TW" sz="2200" dirty="0">
                <a:solidFill>
                  <a:schemeClr val="tx1"/>
                </a:solidFill>
              </a:rPr>
              <a:t>example3.1</a:t>
            </a:r>
            <a:r>
              <a:rPr lang="zh-TW" altLang="en-US" sz="2200" dirty="0">
                <a:solidFill>
                  <a:schemeClr val="tx1"/>
                </a:solidFill>
              </a:rPr>
              <a:t>的基礎上加上炮車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顏色分別為</a:t>
            </a:r>
            <a:r>
              <a:rPr lang="en-US" altLang="zh-TW" sz="2200" dirty="0">
                <a:solidFill>
                  <a:schemeClr val="tx1"/>
                </a:solidFill>
              </a:rPr>
              <a:t>(0,96,0)</a:t>
            </a:r>
            <a:r>
              <a:rPr lang="zh-TW" altLang="en-US" sz="2200" dirty="0">
                <a:solidFill>
                  <a:schemeClr val="tx1"/>
                </a:solidFill>
              </a:rPr>
              <a:t>、</a:t>
            </a:r>
            <a:r>
              <a:rPr lang="en-US" altLang="zh-TW" sz="2200" dirty="0">
                <a:solidFill>
                  <a:schemeClr val="tx1"/>
                </a:solidFill>
              </a:rPr>
              <a:t>(0,128,0)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en-US" altLang="zh-TW" sz="2200" dirty="0">
                <a:solidFill>
                  <a:schemeClr val="tx1"/>
                </a:solidFill>
              </a:rPr>
              <a:t>(32,32,96)</a:t>
            </a:r>
            <a:r>
              <a:rPr lang="zh-TW" altLang="en-US" sz="2200" dirty="0">
                <a:solidFill>
                  <a:schemeClr val="tx1"/>
                </a:solidFill>
              </a:rPr>
              <a:t>，位置和大小自己決定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698DBE5-7D71-EC76-D67D-AEE002E90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65" y="2913455"/>
            <a:ext cx="5212270" cy="371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79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EF20-9390-924A-A9C3-2F50D02B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5C7F-267E-00A0-EDCF-75A05CDB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Font-</a:t>
            </a:r>
            <a:r>
              <a:rPr lang="zh-TW" altLang="en-US" dirty="0"/>
              <a:t>文字模塊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FE5CEA2-8EB7-D3D0-4CFD-5B141CDC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模塊主要功能是文字輸出，常用於輸出分數或標題</a:t>
            </a:r>
            <a:endParaRPr lang="en-GB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使用時必須先創建</a:t>
            </a: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對象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對象的初始化方式如圖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必須輸入的參數是</a:t>
            </a:r>
            <a:r>
              <a:rPr lang="zh-TW" altLang="en-US" sz="2400" dirty="0">
                <a:solidFill>
                  <a:srgbClr val="FF0000"/>
                </a:solidFill>
              </a:rPr>
              <a:t>字體名稱</a:t>
            </a:r>
            <a:r>
              <a:rPr lang="zh-TW" altLang="en-US" sz="2400" dirty="0">
                <a:solidFill>
                  <a:schemeClr val="tx1"/>
                </a:solidFill>
              </a:rPr>
              <a:t>和</a:t>
            </a:r>
            <a:r>
              <a:rPr lang="zh-TW" altLang="en-US" sz="2400" dirty="0">
                <a:solidFill>
                  <a:srgbClr val="FF0000"/>
                </a:solidFill>
              </a:rPr>
              <a:t>大小</a:t>
            </a:r>
            <a:r>
              <a:rPr lang="zh-TW" altLang="en-US" sz="2400" dirty="0">
                <a:solidFill>
                  <a:schemeClr val="tx1"/>
                </a:solidFill>
              </a:rPr>
              <a:t>，可選「粗幼」和「斜體」</a:t>
            </a: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968B5F0-21DB-C74D-2DCE-642E8FB94CC3}"/>
              </a:ext>
            </a:extLst>
          </p:cNvPr>
          <p:cNvSpPr txBox="1"/>
          <p:nvPr/>
        </p:nvSpPr>
        <p:spPr>
          <a:xfrm>
            <a:off x="4093663" y="870949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https://www.pygame.org/docs/ref/font.html</a:t>
            </a:r>
            <a:endParaRPr lang="en-US" altLang="zh-HK" dirty="0"/>
          </a:p>
          <a:p>
            <a:endParaRPr lang="zh-HK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D665603-CCE7-9609-DEE1-CF8EBDE59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1" y="4886648"/>
            <a:ext cx="10928601" cy="153701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55D4FDF-FA69-32FA-3851-B876C6B7D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668" y="2431477"/>
            <a:ext cx="66770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03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8226-FE48-9761-9B27-40A2BA0E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A3B3-38C8-B4B8-30D9-4A799CF0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Font-</a:t>
            </a:r>
            <a:r>
              <a:rPr lang="zh-TW" altLang="en-US" dirty="0"/>
              <a:t>文字模塊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845BA41-2EF8-846D-D012-A6E4C4B9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1812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如何查看系統中有哪些字體</a:t>
            </a:r>
            <a:r>
              <a:rPr lang="en-US" altLang="zh-TW" sz="2400" dirty="0">
                <a:solidFill>
                  <a:schemeClr val="tx1"/>
                </a:solidFill>
              </a:rPr>
              <a:t>? </a:t>
            </a:r>
            <a:r>
              <a:rPr lang="zh-TW" altLang="en-US" sz="2400" dirty="0">
                <a:solidFill>
                  <a:schemeClr val="tx1"/>
                </a:solidFill>
              </a:rPr>
              <a:t>可以通過</a:t>
            </a:r>
            <a:r>
              <a:rPr lang="en-US" altLang="zh-TW" sz="2400" dirty="0" err="1">
                <a:solidFill>
                  <a:schemeClr val="tx1"/>
                </a:solidFill>
              </a:rPr>
              <a:t>pygame.font.get_fonts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，函數會返回系統中所有可用字體組成的列表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4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輸出為</a:t>
            </a:r>
            <a:r>
              <a:rPr lang="en-US" altLang="zh-TW" sz="2400" dirty="0">
                <a:solidFill>
                  <a:schemeClr val="tx1"/>
                </a:solidFill>
              </a:rPr>
              <a:t>: </a:t>
            </a:r>
            <a:r>
              <a:rPr lang="en-US" altLang="zh-HK" sz="2400" dirty="0">
                <a:solidFill>
                  <a:schemeClr val="tx1"/>
                </a:solidFill>
              </a:rPr>
              <a:t>['</a:t>
            </a:r>
            <a:r>
              <a:rPr lang="en-US" altLang="zh-TW" sz="2400" dirty="0">
                <a:solidFill>
                  <a:schemeClr val="tx1"/>
                </a:solidFill>
              </a:rPr>
              <a:t>arial', '</a:t>
            </a:r>
            <a:r>
              <a:rPr lang="en-US" altLang="zh-TW" sz="2400" dirty="0" err="1">
                <a:solidFill>
                  <a:schemeClr val="tx1"/>
                </a:solidFill>
              </a:rPr>
              <a:t>arialblack</a:t>
            </a:r>
            <a:r>
              <a:rPr lang="en-US" altLang="zh-TW" sz="2400" dirty="0">
                <a:solidFill>
                  <a:schemeClr val="tx1"/>
                </a:solidFill>
              </a:rPr>
              <a:t>', '</a:t>
            </a:r>
            <a:r>
              <a:rPr lang="en-US" altLang="zh-TW" sz="2400" dirty="0" err="1">
                <a:solidFill>
                  <a:schemeClr val="tx1"/>
                </a:solidFill>
              </a:rPr>
              <a:t>bahnschrift</a:t>
            </a:r>
            <a:r>
              <a:rPr lang="en-US" altLang="zh-TW" sz="2400" dirty="0">
                <a:solidFill>
                  <a:schemeClr val="tx1"/>
                </a:solidFill>
              </a:rPr>
              <a:t>', '</a:t>
            </a:r>
            <a:r>
              <a:rPr lang="en-US" altLang="zh-TW" sz="2400" dirty="0" err="1">
                <a:solidFill>
                  <a:schemeClr val="tx1"/>
                </a:solidFill>
              </a:rPr>
              <a:t>calibri</a:t>
            </a:r>
            <a:r>
              <a:rPr lang="en-US" altLang="zh-TW" sz="2400" dirty="0">
                <a:solidFill>
                  <a:schemeClr val="tx1"/>
                </a:solidFill>
              </a:rPr>
              <a:t>', '</a:t>
            </a:r>
            <a:r>
              <a:rPr lang="en-US" altLang="zh-TW" sz="2400" dirty="0" err="1">
                <a:solidFill>
                  <a:schemeClr val="tx1"/>
                </a:solidFill>
              </a:rPr>
              <a:t>cambria</a:t>
            </a:r>
            <a:r>
              <a:rPr lang="en-US" altLang="zh-TW" sz="2400" dirty="0">
                <a:solidFill>
                  <a:schemeClr val="tx1"/>
                </a:solidFill>
              </a:rPr>
              <a:t>', '</a:t>
            </a:r>
            <a:r>
              <a:rPr lang="en-US" altLang="zh-TW" sz="2400" dirty="0" err="1">
                <a:solidFill>
                  <a:schemeClr val="tx1"/>
                </a:solidFill>
              </a:rPr>
              <a:t>cambriamath</a:t>
            </a:r>
            <a:r>
              <a:rPr lang="en-US" altLang="zh-TW" sz="2400" dirty="0">
                <a:solidFill>
                  <a:schemeClr val="tx1"/>
                </a:solidFill>
              </a:rPr>
              <a:t>', '</a:t>
            </a:r>
            <a:r>
              <a:rPr lang="en-US" altLang="zh-TW" sz="2400" dirty="0" err="1">
                <a:solidFill>
                  <a:schemeClr val="tx1"/>
                </a:solidFill>
              </a:rPr>
              <a:t>candara</a:t>
            </a:r>
            <a:r>
              <a:rPr lang="en-US" altLang="zh-TW" sz="2400" dirty="0">
                <a:solidFill>
                  <a:schemeClr val="tx1"/>
                </a:solidFill>
              </a:rPr>
              <a:t>’, ……]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5E30BB7-5DC1-44A6-83BB-A0D9FC92CEF4}"/>
              </a:ext>
            </a:extLst>
          </p:cNvPr>
          <p:cNvSpPr txBox="1"/>
          <p:nvPr/>
        </p:nvSpPr>
        <p:spPr>
          <a:xfrm>
            <a:off x="4093663" y="870949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https://www.pygame.org/docs/ref/font.html</a:t>
            </a:r>
            <a:endParaRPr lang="en-US" altLang="zh-HK" dirty="0"/>
          </a:p>
          <a:p>
            <a:endParaRPr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5C2987-5F9A-9AC9-0F3C-BC7E32D5E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43" y="2914096"/>
            <a:ext cx="10351879" cy="175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4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DA2D-5B30-38C7-0AC5-4A8367D9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5DB2-5E5F-AB92-4800-6677BBB8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Font-</a:t>
            </a:r>
            <a:r>
              <a:rPr lang="zh-TW" altLang="en-US" dirty="0"/>
              <a:t>文字模塊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F5B5FFF-2538-3515-24BE-9B876B99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1068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如何把文字輸出到我們的視窗中</a:t>
            </a:r>
            <a:r>
              <a:rPr lang="en-US" altLang="zh-TW" sz="2400" dirty="0">
                <a:solidFill>
                  <a:schemeClr val="tx1"/>
                </a:solidFill>
              </a:rPr>
              <a:t>? </a:t>
            </a:r>
            <a:r>
              <a:rPr lang="zh-TW" altLang="en-US" sz="2400" dirty="0">
                <a:solidFill>
                  <a:schemeClr val="tx1"/>
                </a:solidFill>
              </a:rPr>
              <a:t>需要使用</a:t>
            </a: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對象中的</a:t>
            </a:r>
            <a:r>
              <a:rPr lang="en-US" altLang="zh-TW" sz="2400" dirty="0">
                <a:solidFill>
                  <a:schemeClr val="tx1"/>
                </a:solidFill>
              </a:rPr>
              <a:t>render()</a:t>
            </a:r>
            <a:r>
              <a:rPr lang="zh-TW" altLang="en-US" sz="2400" dirty="0">
                <a:solidFill>
                  <a:schemeClr val="tx1"/>
                </a:solidFill>
              </a:rPr>
              <a:t>函數創建出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畫布，然後再使用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中的</a:t>
            </a:r>
            <a:r>
              <a:rPr lang="en-US" altLang="zh-TW" sz="2400" dirty="0" err="1">
                <a:solidFill>
                  <a:schemeClr val="tx1"/>
                </a:solidFill>
              </a:rPr>
              <a:t>blit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函數粘貼</a:t>
            </a:r>
            <a:r>
              <a:rPr lang="en-US" altLang="zh-TW" sz="24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796297-CDEC-1F90-61D3-97F170532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59" y="2731054"/>
            <a:ext cx="7219950" cy="116205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CDBB5A0-A7D8-DAE3-2BA1-B7E813989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59" y="4153694"/>
            <a:ext cx="10525125" cy="2209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258C20D-4DF4-DBC6-843F-B7E351805870}"/>
              </a:ext>
            </a:extLst>
          </p:cNvPr>
          <p:cNvSpPr txBox="1"/>
          <p:nvPr/>
        </p:nvSpPr>
        <p:spPr>
          <a:xfrm>
            <a:off x="3986739" y="83298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rgbClr val="FF0000"/>
                </a:solidFill>
              </a:rPr>
              <a:t>詳看代碼「</a:t>
            </a:r>
            <a:r>
              <a:rPr lang="en-US" altLang="zh-TW" sz="1800" dirty="0">
                <a:solidFill>
                  <a:srgbClr val="FF0000"/>
                </a:solidFill>
              </a:rPr>
              <a:t>font-</a:t>
            </a:r>
            <a:r>
              <a:rPr lang="zh-TW" altLang="en-US" sz="1800" dirty="0">
                <a:solidFill>
                  <a:srgbClr val="FF0000"/>
                </a:solidFill>
              </a:rPr>
              <a:t>字體和文字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r>
              <a:rPr lang="zh-TW" altLang="en-US" sz="1800" dirty="0">
                <a:solidFill>
                  <a:srgbClr val="FF0000"/>
                </a:solidFill>
              </a:rPr>
              <a:t>」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17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A580-158C-0C9D-A556-3BD71C2C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3DC3-A2C9-79A1-D1B7-9C7DA4FD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Font-</a:t>
            </a:r>
            <a:r>
              <a:rPr lang="zh-TW" altLang="en-US" dirty="0"/>
              <a:t>文字模塊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9C10692-EAD5-6882-55E3-A6F13DE83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1068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Font</a:t>
            </a:r>
            <a:r>
              <a:rPr lang="zh-TW" altLang="en-US" sz="2400" dirty="0">
                <a:solidFill>
                  <a:schemeClr val="tx1"/>
                </a:solidFill>
              </a:rPr>
              <a:t>對象還有其他的一些屬性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可讀可寫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D80157-CB97-18A3-7ED2-2EC59B0ECA1B}"/>
              </a:ext>
            </a:extLst>
          </p:cNvPr>
          <p:cNvSpPr txBox="1"/>
          <p:nvPr/>
        </p:nvSpPr>
        <p:spPr>
          <a:xfrm>
            <a:off x="4093663" y="870949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https://www.pygame.org/docs/ref/font.html</a:t>
            </a:r>
            <a:endParaRPr lang="en-US" altLang="zh-HK" dirty="0"/>
          </a:p>
          <a:p>
            <a:endParaRPr lang="zh-HK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10CD3A3-7737-40A5-241F-7E5291A6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09038"/>
              </p:ext>
            </p:extLst>
          </p:nvPr>
        </p:nvGraphicFramePr>
        <p:xfrm>
          <a:off x="2187157" y="2563460"/>
          <a:ext cx="7254554" cy="301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039">
                  <a:extLst>
                    <a:ext uri="{9D8B030D-6E8A-4147-A177-3AD203B41FA5}">
                      <a16:colId xmlns:a16="http://schemas.microsoft.com/office/drawing/2014/main" val="2892390116"/>
                    </a:ext>
                  </a:extLst>
                </a:gridCol>
                <a:gridCol w="4823515">
                  <a:extLst>
                    <a:ext uri="{9D8B030D-6E8A-4147-A177-3AD203B41FA5}">
                      <a16:colId xmlns:a16="http://schemas.microsoft.com/office/drawing/2014/main" val="234374294"/>
                    </a:ext>
                  </a:extLst>
                </a:gridCol>
              </a:tblGrid>
              <a:tr h="571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屬性意思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(type)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3014500009"/>
                  </a:ext>
                </a:extLst>
              </a:tr>
              <a:tr h="6493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dirty="0"/>
                        <a:t>bold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粗體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201605862"/>
                  </a:ext>
                </a:extLst>
              </a:tr>
              <a:tr h="6493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dirty="0"/>
                        <a:t>italic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斜體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258835050"/>
                  </a:ext>
                </a:extLst>
              </a:tr>
              <a:tr h="571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dirty="0"/>
                        <a:t>underline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底線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011863749"/>
                  </a:ext>
                </a:extLst>
              </a:tr>
              <a:tr h="571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dirty="0"/>
                        <a:t>strikethrough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刪除線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968987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02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EE0C8-839D-1A6D-4788-9F588950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0156-0BB9-5B5A-6D6F-75E38B20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Example3.2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757726B-F294-1B2C-42CB-0567131F6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1068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試著在右上角顯示出「</a:t>
            </a:r>
            <a:r>
              <a:rPr lang="en-US" altLang="zh-TW" sz="2400" dirty="0">
                <a:solidFill>
                  <a:schemeClr val="tx1"/>
                </a:solidFill>
              </a:rPr>
              <a:t>Your mask is: 10</a:t>
            </a:r>
            <a:r>
              <a:rPr lang="zh-TW" altLang="en-US" sz="2400" dirty="0">
                <a:solidFill>
                  <a:schemeClr val="tx1"/>
                </a:solidFill>
              </a:rPr>
              <a:t>」這一文字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字體要用「</a:t>
            </a:r>
            <a:r>
              <a:rPr lang="en-US" altLang="zh-TW" sz="2400" dirty="0" err="1">
                <a:solidFill>
                  <a:schemeClr val="tx1"/>
                </a:solidFill>
              </a:rPr>
              <a:t>calibri</a:t>
            </a:r>
            <a:r>
              <a:rPr lang="zh-TW" altLang="en-US" sz="2400" dirty="0">
                <a:solidFill>
                  <a:schemeClr val="tx1"/>
                </a:solidFill>
              </a:rPr>
              <a:t>」，大小為</a:t>
            </a:r>
            <a:r>
              <a:rPr lang="en-US" altLang="zh-TW" sz="2400" dirty="0">
                <a:solidFill>
                  <a:schemeClr val="tx1"/>
                </a:solidFill>
              </a:rPr>
              <a:t>26</a:t>
            </a:r>
            <a:r>
              <a:rPr lang="zh-TW" altLang="en-US" sz="2400" dirty="0">
                <a:solidFill>
                  <a:schemeClr val="tx1"/>
                </a:solidFill>
              </a:rPr>
              <a:t>，有底線，粗體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顏色任設，需要有背景色，例如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C9B2CF7-6B38-A582-E571-982DD622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586" y="2969411"/>
            <a:ext cx="5226525" cy="373655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BB1E567-D051-EC2E-278D-55997C08A7A6}"/>
              </a:ext>
            </a:extLst>
          </p:cNvPr>
          <p:cNvSpPr txBox="1"/>
          <p:nvPr/>
        </p:nvSpPr>
        <p:spPr>
          <a:xfrm>
            <a:off x="400493" y="6248400"/>
            <a:ext cx="827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詳細請看</a:t>
            </a:r>
            <a:r>
              <a:rPr lang="en-US" altLang="zh-TW" sz="1800" dirty="0">
                <a:solidFill>
                  <a:srgbClr val="FF0000"/>
                </a:solidFill>
              </a:rPr>
              <a:t>practices </a:t>
            </a:r>
            <a:r>
              <a:rPr lang="en-US" altLang="zh-TW" dirty="0">
                <a:solidFill>
                  <a:srgbClr val="FF0000"/>
                </a:solidFill>
              </a:rPr>
              <a:t>/ font-</a:t>
            </a:r>
            <a:r>
              <a:rPr lang="zh-TW" altLang="en-US" dirty="0">
                <a:solidFill>
                  <a:srgbClr val="FF0000"/>
                </a:solidFill>
              </a:rPr>
              <a:t>文字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在右上角編寫分數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91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2EA1-2518-32CB-1935-1457B2FE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4A60-42A7-AFF0-A870-3780BBAD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課後作業</a:t>
            </a:r>
            <a:r>
              <a:rPr lang="en-US" altLang="zh-TW" dirty="0"/>
              <a:t>3.2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1F4E7D5-0D7F-B171-CA27-150B16782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請在課後作業</a:t>
            </a:r>
            <a:r>
              <a:rPr lang="en-US" altLang="zh-TW" sz="2200" dirty="0">
                <a:solidFill>
                  <a:schemeClr val="tx1"/>
                </a:solidFill>
              </a:rPr>
              <a:t>3.1</a:t>
            </a:r>
            <a:r>
              <a:rPr lang="zh-TW" altLang="en-US" sz="2200" dirty="0">
                <a:solidFill>
                  <a:schemeClr val="tx1"/>
                </a:solidFill>
              </a:rPr>
              <a:t>的基礎上，在右上角加上分數文字「</a:t>
            </a:r>
            <a:r>
              <a:rPr lang="en-US" altLang="zh-TW" sz="2200" dirty="0">
                <a:solidFill>
                  <a:schemeClr val="tx1"/>
                </a:solidFill>
              </a:rPr>
              <a:t>your mark is: 10</a:t>
            </a:r>
            <a:r>
              <a:rPr lang="zh-TW" altLang="en-US" sz="2200" dirty="0">
                <a:solidFill>
                  <a:schemeClr val="tx1"/>
                </a:solidFill>
              </a:rPr>
              <a:t>」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007125-0CAC-C869-E00A-F034EC65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459" y="2060144"/>
            <a:ext cx="6362986" cy="457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6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521A-459A-2201-AAD4-1E8F3FB2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5E91-65B7-5CFE-FFA3-FD9C1B1C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Event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F4B949-D307-E748-4415-3D03A1041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Event </a:t>
            </a:r>
            <a:r>
              <a:rPr lang="zh-TW" altLang="en-US" sz="2400" dirty="0">
                <a:solidFill>
                  <a:schemeClr val="tx1"/>
                </a:solidFill>
              </a:rPr>
              <a:t>模塊主要用於獲取遊戲中的事件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常用的一些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如下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E602A6E-FC23-6697-133B-B5B1FABA5AFF}"/>
              </a:ext>
            </a:extLst>
          </p:cNvPr>
          <p:cNvSpPr txBox="1"/>
          <p:nvPr/>
        </p:nvSpPr>
        <p:spPr>
          <a:xfrm>
            <a:off x="2917998" y="789064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>
                <a:hlinkClick r:id="rId3"/>
              </a:rPr>
              <a:t>https://www.pygame.org/docs/ref/event.html</a:t>
            </a:r>
            <a:endParaRPr lang="en-US" altLang="zh-HK" dirty="0"/>
          </a:p>
          <a:p>
            <a:endParaRPr lang="zh-HK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E084B1-92AE-7C53-9351-D8A926EB7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29780"/>
              </p:ext>
            </p:extLst>
          </p:nvPr>
        </p:nvGraphicFramePr>
        <p:xfrm>
          <a:off x="2019448" y="2880179"/>
          <a:ext cx="7254554" cy="3188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039">
                  <a:extLst>
                    <a:ext uri="{9D8B030D-6E8A-4147-A177-3AD203B41FA5}">
                      <a16:colId xmlns:a16="http://schemas.microsoft.com/office/drawing/2014/main" val="2892390116"/>
                    </a:ext>
                  </a:extLst>
                </a:gridCol>
                <a:gridCol w="4823515">
                  <a:extLst>
                    <a:ext uri="{9D8B030D-6E8A-4147-A177-3AD203B41FA5}">
                      <a16:colId xmlns:a16="http://schemas.microsoft.com/office/drawing/2014/main" val="234374294"/>
                    </a:ext>
                  </a:extLst>
                </a:gridCol>
              </a:tblGrid>
              <a:tr h="438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Event type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Event </a:t>
                      </a:r>
                      <a:r>
                        <a:rPr lang="zh-TW" alt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可獲取屬性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3014500009"/>
                  </a:ext>
                </a:extLst>
              </a:tr>
              <a:tr h="497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QUIT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1605862"/>
                  </a:ext>
                </a:extLst>
              </a:tr>
              <a:tr h="497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KEYDOWN</a:t>
                      </a:r>
                      <a:r>
                        <a:rPr lang="en-US" altLang="zh-HK" dirty="0"/>
                        <a:t> 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unicode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scancode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258835050"/>
                  </a:ext>
                </a:extLst>
              </a:tr>
              <a:tr h="438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unicode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scancode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011863749"/>
                  </a:ext>
                </a:extLst>
              </a:tr>
              <a:tr h="438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MOUSEMOTION</a:t>
                      </a:r>
                      <a:r>
                        <a:rPr lang="en-US" altLang="zh-HK" dirty="0"/>
                        <a:t> 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buttons,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968987255"/>
                  </a:ext>
                </a:extLst>
              </a:tr>
              <a:tr h="438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MOUSEBUTTONUP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3961600148"/>
                  </a:ext>
                </a:extLst>
              </a:tr>
              <a:tr h="4385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MOUSEBUTTONDOWN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button,</a:t>
                      </a:r>
                      <a:r>
                        <a:rPr lang="en-US" altLang="zh-HK" dirty="0"/>
                        <a:t> </a:t>
                      </a:r>
                      <a:r>
                        <a:rPr lang="en-US" altLang="zh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37604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75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ACF4-9597-2F09-A6B0-90D05EF5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C5A4-A799-3E25-8601-8E05AB30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Event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EAFD2E-6A35-6E39-42F1-0EADE7BA3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由於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是需要在整個遊戲過程一直監聽著，因此需要使用到</a:t>
            </a:r>
            <a:r>
              <a:rPr lang="en-US" altLang="zh-TW" sz="2400" dirty="0">
                <a:solidFill>
                  <a:schemeClr val="tx1"/>
                </a:solidFill>
              </a:rPr>
              <a:t>while</a:t>
            </a:r>
            <a:r>
              <a:rPr lang="zh-TW" altLang="en-US" sz="2400" dirty="0">
                <a:solidFill>
                  <a:schemeClr val="tx1"/>
                </a:solidFill>
              </a:rPr>
              <a:t>循環一直去監聽著有哪些事件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之後的遊戲框架都會包含一個</a:t>
            </a:r>
            <a:r>
              <a:rPr lang="en-US" altLang="zh-TW" sz="2400" dirty="0">
                <a:solidFill>
                  <a:schemeClr val="tx1"/>
                </a:solidFill>
              </a:rPr>
              <a:t>while</a:t>
            </a:r>
            <a:r>
              <a:rPr lang="zh-TW" altLang="en-US" sz="2400" dirty="0">
                <a:solidFill>
                  <a:schemeClr val="tx1"/>
                </a:solidFill>
              </a:rPr>
              <a:t>循環，詳細請看「</a:t>
            </a:r>
            <a:r>
              <a:rPr lang="en-US" altLang="zh-TW" sz="2400" dirty="0">
                <a:solidFill>
                  <a:srgbClr val="FF0000"/>
                </a:solidFill>
              </a:rPr>
              <a:t>event-</a:t>
            </a:r>
            <a:r>
              <a:rPr lang="zh-TW" altLang="en-US" sz="2400" dirty="0">
                <a:solidFill>
                  <a:srgbClr val="FF0000"/>
                </a:solidFill>
              </a:rPr>
              <a:t>事件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dirty="0">
                <a:solidFill>
                  <a:schemeClr val="tx1"/>
                </a:solidFill>
              </a:rPr>
              <a:t>」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Keyboard</a:t>
            </a:r>
            <a:r>
              <a:rPr lang="zh-TW" altLang="en-US" sz="2400" dirty="0">
                <a:solidFill>
                  <a:schemeClr val="tx1"/>
                </a:solidFill>
              </a:rPr>
              <a:t>中的常量列表在</a:t>
            </a:r>
            <a:r>
              <a:rPr lang="en-US" altLang="zh-TW" sz="2400" dirty="0">
                <a:solidFill>
                  <a:schemeClr val="tx1"/>
                </a:solidFill>
              </a:rPr>
              <a:t>: </a:t>
            </a: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r>
              <a:rPr lang="en-US" sz="2400" dirty="0">
                <a:solidFill>
                  <a:schemeClr val="tx1"/>
                </a:solidFill>
                <a:hlinkClick r:id="rId3"/>
              </a:rPr>
              <a:t>https://www.pygame.org/docs/ref/key.html#key-constants-label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EA097CF-EF20-3E87-B8CA-A5EFAF5CB207}"/>
              </a:ext>
            </a:extLst>
          </p:cNvPr>
          <p:cNvSpPr txBox="1"/>
          <p:nvPr/>
        </p:nvSpPr>
        <p:spPr>
          <a:xfrm>
            <a:off x="2917998" y="789064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dirty="0">
                <a:hlinkClick r:id="rId4"/>
              </a:rPr>
              <a:t>https://www.pygame.org/docs/ref/event.html</a:t>
            </a:r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54534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B50D-1EFC-0C7B-EE64-A92CAE51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2A0C-19F8-1B6C-C6F1-70A61E24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altLang="zh-HK" dirty="0"/>
              <a:t>Example3.3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CC72BF-70FE-0A73-E33F-39AE10E20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通過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的事件監測，若檢測到</a:t>
            </a:r>
            <a:r>
              <a:rPr lang="en-US" altLang="zh-TW" sz="2400" dirty="0">
                <a:solidFill>
                  <a:schemeClr val="tx1"/>
                </a:solidFill>
              </a:rPr>
              <a:t>A</a:t>
            </a:r>
            <a:r>
              <a:rPr lang="zh-TW" altLang="en-US" sz="2400" dirty="0">
                <a:solidFill>
                  <a:schemeClr val="tx1"/>
                </a:solidFill>
              </a:rPr>
              <a:t>鍵按下，輸出</a:t>
            </a:r>
            <a:r>
              <a:rPr lang="en-US" altLang="zh-TW" sz="2400" dirty="0">
                <a:solidFill>
                  <a:schemeClr val="tx1"/>
                </a:solidFill>
              </a:rPr>
              <a:t>1</a:t>
            </a:r>
            <a:r>
              <a:rPr lang="zh-TW" altLang="en-US" sz="2400" dirty="0">
                <a:solidFill>
                  <a:schemeClr val="tx1"/>
                </a:solidFill>
              </a:rPr>
              <a:t>；檢測到</a:t>
            </a:r>
            <a:r>
              <a:rPr lang="en-US" altLang="zh-TW" sz="2400" dirty="0">
                <a:solidFill>
                  <a:schemeClr val="tx1"/>
                </a:solidFill>
              </a:rPr>
              <a:t>B</a:t>
            </a:r>
            <a:r>
              <a:rPr lang="zh-TW" altLang="en-US" sz="2400" dirty="0">
                <a:solidFill>
                  <a:schemeClr val="tx1"/>
                </a:solidFill>
              </a:rPr>
              <a:t>，輸出</a:t>
            </a:r>
            <a:r>
              <a:rPr lang="en-US" altLang="zh-TW" sz="2400" dirty="0">
                <a:solidFill>
                  <a:schemeClr val="tx1"/>
                </a:solidFill>
              </a:rPr>
              <a:t>2</a:t>
            </a:r>
            <a:r>
              <a:rPr lang="zh-TW" altLang="en-US" sz="2400" dirty="0">
                <a:solidFill>
                  <a:schemeClr val="tx1"/>
                </a:solidFill>
              </a:rPr>
              <a:t>，若檢測到</a:t>
            </a:r>
            <a:r>
              <a:rPr lang="en-US" altLang="zh-TW" sz="2400" dirty="0">
                <a:solidFill>
                  <a:schemeClr val="tx1"/>
                </a:solidFill>
              </a:rPr>
              <a:t>C</a:t>
            </a:r>
            <a:r>
              <a:rPr lang="zh-TW" altLang="en-US" sz="2400" dirty="0">
                <a:solidFill>
                  <a:schemeClr val="tx1"/>
                </a:solidFill>
              </a:rPr>
              <a:t>輸出</a:t>
            </a:r>
            <a:r>
              <a:rPr lang="en-US" altLang="zh-TW" sz="2400" dirty="0">
                <a:solidFill>
                  <a:schemeClr val="tx1"/>
                </a:solidFill>
              </a:rPr>
              <a:t>3</a:t>
            </a:r>
            <a:r>
              <a:rPr lang="zh-TW" altLang="en-US" sz="2400" dirty="0">
                <a:solidFill>
                  <a:schemeClr val="tx1"/>
                </a:solidFill>
              </a:rPr>
              <a:t>，其余輸出為</a:t>
            </a:r>
            <a:r>
              <a:rPr lang="en-US" altLang="zh-TW" sz="2400" dirty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27D1A0-C227-E45E-9846-C5AC7E66E38A}"/>
              </a:ext>
            </a:extLst>
          </p:cNvPr>
          <p:cNvSpPr txBox="1"/>
          <p:nvPr/>
        </p:nvSpPr>
        <p:spPr>
          <a:xfrm>
            <a:off x="603888" y="6180324"/>
            <a:ext cx="827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詳細請看</a:t>
            </a:r>
            <a:r>
              <a:rPr lang="en-US" altLang="zh-TW" sz="1800" dirty="0">
                <a:solidFill>
                  <a:srgbClr val="FF0000"/>
                </a:solidFill>
              </a:rPr>
              <a:t>practices </a:t>
            </a:r>
            <a:r>
              <a:rPr lang="en-US" altLang="zh-TW" dirty="0">
                <a:solidFill>
                  <a:srgbClr val="FF0000"/>
                </a:solidFill>
              </a:rPr>
              <a:t>/ event-</a:t>
            </a:r>
            <a:r>
              <a:rPr lang="zh-TW" altLang="en-US" dirty="0">
                <a:solidFill>
                  <a:srgbClr val="FF0000"/>
                </a:solidFill>
              </a:rPr>
              <a:t>事件</a:t>
            </a:r>
            <a:r>
              <a:rPr lang="en-US" altLang="zh-TW" dirty="0">
                <a:solidFill>
                  <a:srgbClr val="FF0000"/>
                </a:solidFill>
              </a:rPr>
              <a:t>/ event</a:t>
            </a:r>
            <a:r>
              <a:rPr lang="zh-TW" altLang="en-US" dirty="0">
                <a:solidFill>
                  <a:srgbClr val="FF0000"/>
                </a:solidFill>
              </a:rPr>
              <a:t>鍵盘小練習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37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D2FC-8790-4DF6-C351-6F2FF6D4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4B56-FF3E-98C4-B21E-C674AEA9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altLang="zh-HK" dirty="0"/>
              <a:t>Example3.4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320568-C60D-3355-7726-CF932DAA6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通過檢測到鼠標按下的事件，在按下的位置畫上顏色隨機、半徑為</a:t>
            </a:r>
            <a:r>
              <a:rPr lang="en-US" altLang="zh-TW" sz="2400" dirty="0">
                <a:solidFill>
                  <a:schemeClr val="tx1"/>
                </a:solidFill>
              </a:rPr>
              <a:t>20</a:t>
            </a:r>
            <a:r>
              <a:rPr lang="zh-TW" altLang="en-US" sz="2400" dirty="0">
                <a:solidFill>
                  <a:schemeClr val="tx1"/>
                </a:solidFill>
              </a:rPr>
              <a:t>的圓形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845868-CD54-B6C5-93A9-3C98FDD22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229" y="2045677"/>
            <a:ext cx="5913306" cy="42774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1C41DC3-F886-61B1-8010-5E738A1B83CE}"/>
              </a:ext>
            </a:extLst>
          </p:cNvPr>
          <p:cNvSpPr txBox="1"/>
          <p:nvPr/>
        </p:nvSpPr>
        <p:spPr>
          <a:xfrm>
            <a:off x="690717" y="6417416"/>
            <a:ext cx="827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詳細請看</a:t>
            </a:r>
            <a:r>
              <a:rPr lang="en-US" altLang="zh-TW" sz="1800" dirty="0">
                <a:solidFill>
                  <a:srgbClr val="FF0000"/>
                </a:solidFill>
              </a:rPr>
              <a:t>practices </a:t>
            </a:r>
            <a:r>
              <a:rPr lang="en-US" altLang="zh-TW" dirty="0">
                <a:solidFill>
                  <a:srgbClr val="FF0000"/>
                </a:solidFill>
              </a:rPr>
              <a:t>/ event-</a:t>
            </a:r>
            <a:r>
              <a:rPr lang="zh-TW" altLang="en-US" dirty="0">
                <a:solidFill>
                  <a:srgbClr val="FF0000"/>
                </a:solidFill>
              </a:rPr>
              <a:t>事件</a:t>
            </a:r>
            <a:r>
              <a:rPr lang="en-US" altLang="zh-TW" dirty="0">
                <a:solidFill>
                  <a:srgbClr val="FF0000"/>
                </a:solidFill>
              </a:rPr>
              <a:t>/ </a:t>
            </a:r>
            <a:r>
              <a:rPr lang="zh-TW" altLang="en-US" dirty="0">
                <a:solidFill>
                  <a:srgbClr val="FF0000"/>
                </a:solidFill>
              </a:rPr>
              <a:t>通過事件畫圓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1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921C-2783-02FE-2A5E-E0B5BCE2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9AEE-6CFD-FC5C-57C0-3ED32A23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A44619-5119-A446-0EA2-61D39843B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4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Key</a:t>
            </a:r>
            <a:r>
              <a:rPr lang="zh-TW" altLang="en-US" sz="2400" dirty="0">
                <a:solidFill>
                  <a:schemeClr val="tx1"/>
                </a:solidFill>
              </a:rPr>
              <a:t>模塊實質是</a:t>
            </a:r>
            <a:r>
              <a:rPr lang="en-US" altLang="zh-TW" sz="2400" dirty="0">
                <a:solidFill>
                  <a:schemeClr val="tx1"/>
                </a:solidFill>
              </a:rPr>
              <a:t>keyboard</a:t>
            </a:r>
            <a:r>
              <a:rPr lang="zh-TW" altLang="en-US" sz="2400" dirty="0">
                <a:solidFill>
                  <a:schemeClr val="tx1"/>
                </a:solidFill>
              </a:rPr>
              <a:t>的處理類，主要功能是獲取</a:t>
            </a:r>
            <a:r>
              <a:rPr lang="zh-TW" alt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實時</a:t>
            </a:r>
            <a:r>
              <a:rPr lang="zh-TW" altLang="en-US" sz="2400" dirty="0">
                <a:solidFill>
                  <a:schemeClr val="tx1"/>
                </a:solidFill>
              </a:rPr>
              <a:t>的</a:t>
            </a:r>
            <a:r>
              <a:rPr lang="en-US" altLang="zh-TW" sz="2400" dirty="0">
                <a:solidFill>
                  <a:schemeClr val="tx1"/>
                </a:solidFill>
              </a:rPr>
              <a:t>keyboard</a:t>
            </a:r>
            <a:r>
              <a:rPr lang="zh-TW" altLang="en-US" sz="2400" dirty="0">
                <a:solidFill>
                  <a:schemeClr val="tx1"/>
                </a:solidFill>
              </a:rPr>
              <a:t>按下值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詳細請看「</a:t>
            </a:r>
            <a:r>
              <a:rPr lang="en-US" altLang="zh-TW" sz="2400" dirty="0">
                <a:solidFill>
                  <a:srgbClr val="FF0000"/>
                </a:solidFill>
              </a:rPr>
              <a:t>key-</a:t>
            </a:r>
            <a:r>
              <a:rPr lang="zh-TW" altLang="en-US" sz="2400" dirty="0">
                <a:solidFill>
                  <a:srgbClr val="FF0000"/>
                </a:solidFill>
              </a:rPr>
              <a:t>鍵盘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dirty="0">
                <a:solidFill>
                  <a:schemeClr val="tx1"/>
                </a:solidFill>
              </a:rPr>
              <a:t>」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24A45E-1CA4-57FE-DCB5-45BA8EA20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863662"/>
              </p:ext>
            </p:extLst>
          </p:nvPr>
        </p:nvGraphicFramePr>
        <p:xfrm>
          <a:off x="601139" y="3030284"/>
          <a:ext cx="11058260" cy="3563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820">
                  <a:extLst>
                    <a:ext uri="{9D8B030D-6E8A-4147-A177-3AD203B41FA5}">
                      <a16:colId xmlns:a16="http://schemas.microsoft.com/office/drawing/2014/main" val="2588293857"/>
                    </a:ext>
                  </a:extLst>
                </a:gridCol>
                <a:gridCol w="3280543">
                  <a:extLst>
                    <a:ext uri="{9D8B030D-6E8A-4147-A177-3AD203B41FA5}">
                      <a16:colId xmlns:a16="http://schemas.microsoft.com/office/drawing/2014/main" val="3302551788"/>
                    </a:ext>
                  </a:extLst>
                </a:gridCol>
                <a:gridCol w="1683723">
                  <a:extLst>
                    <a:ext uri="{9D8B030D-6E8A-4147-A177-3AD203B41FA5}">
                      <a16:colId xmlns:a16="http://schemas.microsoft.com/office/drawing/2014/main" val="3566564496"/>
                    </a:ext>
                  </a:extLst>
                </a:gridCol>
                <a:gridCol w="2973174">
                  <a:extLst>
                    <a:ext uri="{9D8B030D-6E8A-4147-A177-3AD203B41FA5}">
                      <a16:colId xmlns:a16="http://schemas.microsoft.com/office/drawing/2014/main" val="2296433823"/>
                    </a:ext>
                  </a:extLst>
                </a:gridCol>
              </a:tblGrid>
              <a:tr h="221023"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函數參數類型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函數返回類型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函數作用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3966"/>
                  </a:ext>
                </a:extLst>
              </a:tr>
              <a:tr h="386790"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get_pressed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 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bools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獲取</a:t>
                      </a:r>
                      <a:r>
                        <a:rPr lang="en-US" altLang="zh-TW" dirty="0"/>
                        <a:t>keyboard</a:t>
                      </a:r>
                      <a:r>
                        <a:rPr lang="zh-TW" altLang="en-US" dirty="0"/>
                        <a:t>上所有</a:t>
                      </a:r>
                      <a:r>
                        <a:rPr lang="en-US" altLang="zh-TW" dirty="0"/>
                        <a:t>button</a:t>
                      </a:r>
                      <a:r>
                        <a:rPr lang="zh-TW" altLang="en-US" dirty="0"/>
                        <a:t>的狀態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67552"/>
                  </a:ext>
                </a:extLst>
              </a:tr>
              <a:tr h="637054"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get_mods</a:t>
                      </a:r>
                      <a:r>
                        <a:rPr lang="en-US" altLang="zh-HK" dirty="0"/>
                        <a:t>()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>
                    <a:lnB w="12700" cmpd="sng">
                      <a:noFill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獲取哪個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modifier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是被按下的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734375"/>
                  </a:ext>
                </a:extLst>
              </a:tr>
              <a:tr h="637054"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name(key)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solidFill>
                            <a:schemeClr val="tx1"/>
                          </a:solidFill>
                        </a:rPr>
                        <a:t>Pygame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中定義的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key.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如</a:t>
                      </a:r>
                      <a:r>
                        <a:rPr lang="en-US" altLang="zh-HK" dirty="0" err="1"/>
                        <a:t>pygame.K_SPACE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str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通過傳入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pygame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定義的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key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返回其真實的名稱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279017"/>
                  </a:ext>
                </a:extLst>
              </a:tr>
              <a:tr h="490041"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key_code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(name=string) 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name</a:t>
                      </a:r>
                      <a:r>
                        <a:rPr lang="zh-TW" altLang="en-US" dirty="0"/>
                        <a:t>是</a:t>
                      </a:r>
                      <a:r>
                        <a:rPr lang="en-US" altLang="zh-TW" dirty="0"/>
                        <a:t>str</a:t>
                      </a:r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傳入鍵盘真實的名字，返回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pygame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中定義該鍵的名稱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041350"/>
                  </a:ext>
                </a:extLst>
              </a:tr>
              <a:tr h="6370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set_repeat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(delay, interval)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HK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9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498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9758-F905-1557-746F-B898ADBD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304F-0C65-3A83-B6C8-060FE3CE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71AF32-EB2B-BF3C-F293-0F1F1570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我們都已經通過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知道了用戶按下了哪個鍵，為什么還需要</a:t>
            </a:r>
            <a:r>
              <a:rPr lang="zh-TW" alt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實時</a:t>
            </a:r>
            <a:r>
              <a:rPr lang="zh-TW" altLang="en-US" sz="2400" dirty="0">
                <a:solidFill>
                  <a:schemeClr val="tx1"/>
                </a:solidFill>
              </a:rPr>
              <a:t>知道</a:t>
            </a:r>
            <a:r>
              <a:rPr lang="en-US" altLang="zh-TW" sz="2400" dirty="0">
                <a:solidFill>
                  <a:schemeClr val="tx1"/>
                </a:solidFill>
              </a:rPr>
              <a:t>keyboard</a:t>
            </a:r>
            <a:r>
              <a:rPr lang="zh-TW" altLang="en-US" sz="2400" dirty="0">
                <a:solidFill>
                  <a:schemeClr val="tx1"/>
                </a:solidFill>
              </a:rPr>
              <a:t>按下什么值</a:t>
            </a:r>
            <a:r>
              <a:rPr lang="en-US" altLang="zh-TW" sz="2400" dirty="0">
                <a:solidFill>
                  <a:schemeClr val="tx1"/>
                </a:solidFill>
              </a:rPr>
              <a:t>? 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默認只能檢測出鍵盘按下</a:t>
            </a:r>
            <a:r>
              <a:rPr lang="en-US" altLang="zh-TW" sz="2400" dirty="0">
                <a:solidFill>
                  <a:schemeClr val="tx1"/>
                </a:solidFill>
              </a:rPr>
              <a:t>/</a:t>
            </a:r>
            <a:r>
              <a:rPr lang="zh-TW" altLang="en-US" sz="2400" dirty="0">
                <a:solidFill>
                  <a:schemeClr val="tx1"/>
                </a:solidFill>
              </a:rPr>
              <a:t>松開的那一瞬間，而通過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get_pressed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zh-TW" altLang="en-US" sz="2400" b="0" i="0" kern="1200" dirty="0">
                <a:effectLst/>
                <a:latin typeface="+mn-lt"/>
                <a:ea typeface="+mn-ea"/>
                <a:cs typeface="+mn-cs"/>
              </a:rPr>
              <a:t>可以一直檢測出鍵盤所有鍵的實時狀態</a:t>
            </a:r>
            <a:endParaRPr lang="en-US" altLang="zh-TW" sz="2400" b="0" i="0" kern="1200" dirty="0">
              <a:effectLst/>
              <a:latin typeface="+mn-lt"/>
              <a:ea typeface="+mn-ea"/>
              <a:cs typeface="+mn-cs"/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因此，使用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的鍵盘狀態時，適用於單次動作的處理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而使用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get_pressed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zh-TW" altLang="en-US" sz="2400" b="0" i="0" kern="1200" dirty="0">
                <a:effectLst/>
                <a:latin typeface="+mn-lt"/>
                <a:ea typeface="+mn-ea"/>
                <a:cs typeface="+mn-cs"/>
              </a:rPr>
              <a:t>則適用於鍵盘是否一直按實的情況，如「角色行走」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711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8DA7-EB01-88F6-174F-E9964329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62B4-211A-4DB4-7899-4D47BA98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C4C7A0-69B4-C03C-2AAB-0D0C5C1D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事實上，</a:t>
            </a:r>
            <a:r>
              <a:rPr lang="en-US" altLang="zh-TW" sz="2400" dirty="0" err="1">
                <a:solidFill>
                  <a:schemeClr val="tx1"/>
                </a:solidFill>
              </a:rPr>
              <a:t>pygame.key</a:t>
            </a:r>
            <a:r>
              <a:rPr lang="zh-TW" altLang="en-US" sz="2400" dirty="0">
                <a:solidFill>
                  <a:schemeClr val="tx1"/>
                </a:solidFill>
              </a:rPr>
              <a:t>中提供了一個方法</a:t>
            </a:r>
            <a:r>
              <a:rPr lang="en-US" altLang="zh-HK" sz="24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set_repeat</a:t>
            </a:r>
            <a:r>
              <a:rPr lang="en-US" altLang="zh-HK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，通過設置</a:t>
            </a:r>
            <a:r>
              <a:rPr lang="en-US" altLang="zh-TW" sz="2400" dirty="0">
                <a:solidFill>
                  <a:schemeClr val="tx1"/>
                </a:solidFill>
              </a:rPr>
              <a:t>delay</a:t>
            </a:r>
            <a:r>
              <a:rPr lang="zh-TW" altLang="en-US" sz="2400" dirty="0">
                <a:solidFill>
                  <a:schemeClr val="tx1"/>
                </a:solidFill>
              </a:rPr>
              <a:t>和</a:t>
            </a:r>
            <a:r>
              <a:rPr lang="en-US" altLang="zh-TW" sz="2400" dirty="0">
                <a:solidFill>
                  <a:schemeClr val="tx1"/>
                </a:solidFill>
              </a:rPr>
              <a:t>interval</a:t>
            </a:r>
            <a:r>
              <a:rPr lang="zh-TW" altLang="en-US" sz="2400" dirty="0">
                <a:solidFill>
                  <a:schemeClr val="tx1"/>
                </a:solidFill>
              </a:rPr>
              <a:t>，用戶可以從</a:t>
            </a:r>
            <a:r>
              <a:rPr lang="en-US" altLang="zh-TW" sz="2400" dirty="0">
                <a:solidFill>
                  <a:schemeClr val="tx1"/>
                </a:solidFill>
              </a:rPr>
              <a:t>event</a:t>
            </a:r>
            <a:r>
              <a:rPr lang="zh-TW" altLang="en-US" sz="2400" dirty="0">
                <a:solidFill>
                  <a:schemeClr val="tx1"/>
                </a:solidFill>
              </a:rPr>
              <a:t>中不斷收到鍵盘傳回的事件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但一般不推薦這樣做，默認是單次觸發用</a:t>
            </a:r>
            <a:r>
              <a:rPr lang="en-US" altLang="zh-TW" sz="2400" dirty="0">
                <a:solidFill>
                  <a:schemeClr val="tx1"/>
                </a:solidFill>
              </a:rPr>
              <a:t>event. </a:t>
            </a:r>
            <a:r>
              <a:rPr lang="zh-TW" altLang="en-US" sz="2400" dirty="0">
                <a:solidFill>
                  <a:schemeClr val="tx1"/>
                </a:solidFill>
              </a:rPr>
              <a:t>持續觸發用</a:t>
            </a:r>
            <a:r>
              <a:rPr lang="en-US" altLang="zh-TW" sz="2400" dirty="0" err="1">
                <a:solidFill>
                  <a:schemeClr val="tx1"/>
                </a:solidFill>
              </a:rPr>
              <a:t>get_pressed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F4EFDC-CEF8-2B5E-3C73-5127CA8AC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3774780"/>
            <a:ext cx="117538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86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F526-F49D-373D-61E7-E9EB82F4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C251-9BDA-C238-CC06-B0244017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altLang="zh-HK" dirty="0"/>
              <a:t>Example3.5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5200B7-BEC9-1D6C-D26C-B87F3DCC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336242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通過「上下左右」鍵控制小鳥在視窗中移動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7" name="pygame window 2025-05-09 00-46-34">
            <a:hlinkClick r:id="" action="ppaction://media"/>
            <a:extLst>
              <a:ext uri="{FF2B5EF4-FFF2-40B4-BE49-F238E27FC236}">
                <a16:creationId xmlns:a16="http://schemas.microsoft.com/office/drawing/2014/main" id="{D9CC365D-6CCE-8950-2AF5-05A096C010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46703" y="2062886"/>
            <a:ext cx="4064000" cy="4064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DD371F-B2E9-C022-2B4D-CD7CFD2C0484}"/>
              </a:ext>
            </a:extLst>
          </p:cNvPr>
          <p:cNvSpPr txBox="1"/>
          <p:nvPr/>
        </p:nvSpPr>
        <p:spPr>
          <a:xfrm>
            <a:off x="690717" y="6417416"/>
            <a:ext cx="827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詳細請看</a:t>
            </a:r>
            <a:r>
              <a:rPr lang="en-US" altLang="zh-TW" sz="1800" dirty="0">
                <a:solidFill>
                  <a:srgbClr val="FF0000"/>
                </a:solidFill>
              </a:rPr>
              <a:t>practices </a:t>
            </a:r>
            <a:r>
              <a:rPr lang="en-US" altLang="zh-TW" dirty="0">
                <a:solidFill>
                  <a:srgbClr val="FF0000"/>
                </a:solidFill>
              </a:rPr>
              <a:t>/ key-</a:t>
            </a:r>
            <a:r>
              <a:rPr lang="zh-TW" altLang="en-US" dirty="0">
                <a:solidFill>
                  <a:srgbClr val="FF0000"/>
                </a:solidFill>
              </a:rPr>
              <a:t>按鍵</a:t>
            </a:r>
            <a:r>
              <a:rPr lang="en-US" altLang="zh-TW" dirty="0">
                <a:solidFill>
                  <a:srgbClr val="FF0000"/>
                </a:solidFill>
              </a:rPr>
              <a:t>/ </a:t>
            </a:r>
            <a:r>
              <a:rPr lang="zh-TW" altLang="en-US" dirty="0">
                <a:solidFill>
                  <a:srgbClr val="FF0000"/>
                </a:solidFill>
              </a:rPr>
              <a:t>控制小鳥四處移動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50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AC8F-99A4-C9E8-80DB-013E4805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FD09-FEAC-5CD7-5050-E4468AF2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課後作業</a:t>
            </a:r>
            <a:r>
              <a:rPr lang="en-US" altLang="zh-TW" dirty="0"/>
              <a:t>3.3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888A989-E857-CEBA-1143-9E76D7D5A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280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請在課後作業</a:t>
            </a:r>
            <a:r>
              <a:rPr lang="en-US" altLang="zh-TW" sz="2200" dirty="0">
                <a:solidFill>
                  <a:schemeClr val="tx1"/>
                </a:solidFill>
              </a:rPr>
              <a:t>3.2</a:t>
            </a:r>
            <a:r>
              <a:rPr lang="zh-TW" altLang="en-US" sz="2200" dirty="0">
                <a:solidFill>
                  <a:schemeClr val="tx1"/>
                </a:solidFill>
              </a:rPr>
              <a:t>的基礎上，使坦克上下移動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3" name="pygame window 2025-05-09 01-19-20">
            <a:hlinkClick r:id="" action="ppaction://media"/>
            <a:extLst>
              <a:ext uri="{FF2B5EF4-FFF2-40B4-BE49-F238E27FC236}">
                <a16:creationId xmlns:a16="http://schemas.microsoft.com/office/drawing/2014/main" id="{C8AC7E46-B415-96EC-69CA-C00C9AB8A5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33585" b="34526"/>
          <a:stretch/>
        </p:blipFill>
        <p:spPr>
          <a:xfrm>
            <a:off x="2873523" y="2469486"/>
            <a:ext cx="5749890" cy="377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4114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2025.11.07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</TotalTime>
  <Words>1788</Words>
  <Application>Microsoft Office PowerPoint</Application>
  <PresentationFormat>寬螢幕</PresentationFormat>
  <Paragraphs>218</Paragraphs>
  <Slides>29</Slides>
  <Notes>29</Notes>
  <HiddenSlides>0</HiddenSlides>
  <MMClips>2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Arial</vt:lpstr>
      <vt:lpstr>Calibri</vt:lpstr>
      <vt:lpstr>Open Sans Semibold</vt:lpstr>
      <vt:lpstr>Times New Roman</vt:lpstr>
      <vt:lpstr>Trebuchet MS</vt:lpstr>
      <vt:lpstr>Wingdings 3</vt:lpstr>
      <vt:lpstr>Light</vt:lpstr>
      <vt:lpstr>多面向</vt:lpstr>
      <vt:lpstr>Chapter3-模塊講解2 </vt:lpstr>
      <vt:lpstr>本篇包括</vt:lpstr>
      <vt:lpstr>回顧</vt:lpstr>
      <vt:lpstr>draw模塊</vt:lpstr>
      <vt:lpstr>draw模塊</vt:lpstr>
      <vt:lpstr>draw模塊-繪畫矩形</vt:lpstr>
      <vt:lpstr>draw模塊-繪畫多邊形</vt:lpstr>
      <vt:lpstr>draw模塊-繪畫圓形</vt:lpstr>
      <vt:lpstr>draw模塊-繪畫橢圓</vt:lpstr>
      <vt:lpstr>draw模塊-繪畫線段</vt:lpstr>
      <vt:lpstr>Example3.1</vt:lpstr>
      <vt:lpstr>Example3.1 </vt:lpstr>
      <vt:lpstr>課後作業3.1</vt:lpstr>
      <vt:lpstr>Font-文字模塊</vt:lpstr>
      <vt:lpstr>Font-文字模塊</vt:lpstr>
      <vt:lpstr>Font-文字模塊</vt:lpstr>
      <vt:lpstr>Font-文字模塊</vt:lpstr>
      <vt:lpstr>Example3.2</vt:lpstr>
      <vt:lpstr>課後作業3.2</vt:lpstr>
      <vt:lpstr>Event模塊</vt:lpstr>
      <vt:lpstr>Event模塊</vt:lpstr>
      <vt:lpstr>Example3.3 </vt:lpstr>
      <vt:lpstr>Example3.4 </vt:lpstr>
      <vt:lpstr>key 模塊</vt:lpstr>
      <vt:lpstr>key 模塊</vt:lpstr>
      <vt:lpstr>key 模塊</vt:lpstr>
      <vt:lpstr>Example3.5</vt:lpstr>
      <vt:lpstr>課後作業3.3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321</cp:revision>
  <dcterms:created xsi:type="dcterms:W3CDTF">2021-09-29T10:33:58Z</dcterms:created>
  <dcterms:modified xsi:type="dcterms:W3CDTF">2025-11-06T16:48:05Z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