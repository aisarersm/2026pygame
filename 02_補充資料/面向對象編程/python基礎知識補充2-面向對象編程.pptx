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59" r:id="rId2"/>
  </p:sldMasterIdLst>
  <p:notesMasterIdLst>
    <p:notesMasterId r:id="rId18"/>
  </p:notesMasterIdLst>
  <p:sldIdLst>
    <p:sldId id="335" r:id="rId3"/>
    <p:sldId id="351" r:id="rId4"/>
    <p:sldId id="352" r:id="rId5"/>
    <p:sldId id="353" r:id="rId6"/>
    <p:sldId id="354" r:id="rId7"/>
    <p:sldId id="355" r:id="rId8"/>
    <p:sldId id="356" r:id="rId9"/>
    <p:sldId id="357" r:id="rId10"/>
    <p:sldId id="361" r:id="rId11"/>
    <p:sldId id="360" r:id="rId12"/>
    <p:sldId id="358" r:id="rId13"/>
    <p:sldId id="359" r:id="rId14"/>
    <p:sldId id="362" r:id="rId15"/>
    <p:sldId id="363" r:id="rId16"/>
    <p:sldId id="33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7B"/>
    <a:srgbClr val="013D9A"/>
    <a:srgbClr val="EE3F53"/>
    <a:srgbClr val="B9BFCA"/>
    <a:srgbClr val="66C2CD"/>
    <a:srgbClr val="D290E4"/>
    <a:srgbClr val="71BEF2"/>
    <a:srgbClr val="DBAB79"/>
    <a:srgbClr val="A8CC8C"/>
    <a:srgbClr val="E883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1" autoAdjust="0"/>
    <p:restoredTop sz="93277" autoAdjust="0"/>
  </p:normalViewPr>
  <p:slideViewPr>
    <p:cSldViewPr snapToGrid="0" showGuides="1">
      <p:cViewPr varScale="1">
        <p:scale>
          <a:sx n="60" d="100"/>
          <a:sy n="60" d="100"/>
        </p:scale>
        <p:origin x="8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489E0-D38C-3A6A-1F75-7161368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5932F-5262-7AD0-AA01-5D20C5B04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F1F5A-4404-889E-A3E8-2457DFEFD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4D8E-31C6-5041-736A-C13A80DD9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22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FB1B-028E-E02C-1EA0-4C4F496AB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2EF95-BD7D-992C-7571-713AE3FFC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B323C-172D-E20C-8B81-8C633C80C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82916-4B39-A730-6163-AB2121342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97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A98A6-BFC1-8161-77AE-3C35480C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65DE1-EECE-4BE1-E744-179BB92E7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7134E-00D6-2E1E-BAAA-91FF75A63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7D33B-538E-0C28-E669-D29F6DA4E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64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00656-B711-CFF7-49BE-995266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3C64C-0241-8DF4-1DCA-A3265BD12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48459-4A8A-7485-448D-528A421A2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05C5A-951B-0AD0-26C2-E1877FF7E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86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C610A-1FB9-8EB2-BB88-43FDC3FDE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6CEA4-FF09-2AD9-BEC7-EFB9541E2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F3726-A171-5263-AD10-A46830EE6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9286F-4D98-0019-EB1B-DD845D87E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94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5A7-6A31-EAF2-2CE6-966BEBF05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22E29-96EE-8D04-40B5-2E9FC72A8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9019C-A1BA-EDEE-773D-E408D8068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A8D10-18C3-3821-D7ED-0147FCE0C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92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F1452-0160-38E0-4845-F183668E0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D171A0-66C1-780D-518A-DA170AFC6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95FB7-D231-0D3E-4A1E-32012D930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3365C-515F-371E-AE55-3BBEB5DC1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62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024AE-CE65-D613-961E-AA6C537DF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83C14-0A91-C7CD-E717-32520304D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BCAE5-36FB-A614-BFB2-8026992EE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69359-8A20-57FB-EAA9-9627322B0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42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B78CD-916F-B2EB-A42E-C25D7D902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039D5-0319-4DCA-0B33-C3BA61E11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0DA6B-B6C4-368F-DB48-259E9CC9F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E9A95-D9A0-1162-E1AF-8104D90D5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36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CB5D1-321B-9264-F045-EE0A99E7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6635F-68A4-13A5-39C0-01C81165B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66A52-64E2-3E68-F6B2-D7BD07BC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840FD-3406-3EC3-6790-FF1DE3BB1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08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E996-0CAE-76E1-9BA4-C93C00596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E7B9A-A675-F597-EC9C-41140F1E2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5EDAFB-72E3-8DA8-EC72-B5E61969D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8BD52-539E-C4EC-3BD5-39D902217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20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B5BDC-94B5-4C05-49EA-1776EB9E7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F5046-97D4-8511-73FF-092D3202C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615A3-34A0-DF3B-5896-51D381DB5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0EBEC-99FC-F54A-9CEB-959AE8AE7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11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9321D-7586-124E-895D-F36D01F3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7F55B-D972-5C94-E7F9-4910BA88E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D8645-7485-1532-9748-3C068F30C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5D85D-C521-8A6D-1B8A-F205B6C5D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37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17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1388"/>
            <a:ext cx="9144000" cy="2387600"/>
          </a:xfrm>
        </p:spPr>
        <p:txBody>
          <a:bodyPr anchor="b">
            <a:normAutofit/>
          </a:bodyPr>
          <a:lstStyle>
            <a:lvl1pPr algn="ctr">
              <a:defRPr sz="80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1063"/>
            <a:ext cx="9144000" cy="8651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tx2">
                    <a:lumMod val="75000"/>
                  </a:schemeClr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8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7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0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66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90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69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57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1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20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27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172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51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51245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50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697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8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Open Sans Semibold" panose="020B0706030804020204" pitchFamily="34" charset="0"/>
          <a:ea typeface="Open Sans Semibold" panose="020B0706030804020204" pitchFamily="34" charset="0"/>
          <a:cs typeface="Open Sans Semibold" panose="020B07060308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97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49597" y="1786354"/>
            <a:ext cx="7766936" cy="3285292"/>
          </a:xfrm>
        </p:spPr>
        <p:txBody>
          <a:bodyPr/>
          <a:lstStyle/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Python</a:t>
            </a:r>
            <a:r>
              <a:rPr lang="zh-TW" altLang="en-US" dirty="0"/>
              <a:t>基礎知識補充</a:t>
            </a:r>
            <a:r>
              <a:rPr lang="en-US" altLang="zh-TW" dirty="0"/>
              <a:t>-2</a:t>
            </a:r>
            <a:br>
              <a:rPr lang="en-US" altLang="zh-TW" dirty="0"/>
            </a:br>
            <a:r>
              <a:rPr lang="zh-TW" altLang="en-US" sz="4800" dirty="0"/>
              <a:t>面向對象編程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3002-3F4F-F065-F7DE-780095A8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B0E2-FF48-32F6-8C2A-C70FD9C7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本篇包括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16193E-3215-3D49-E1F1-632D43154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面向對象編程</a:t>
            </a:r>
            <a:r>
              <a:rPr lang="en-US" altLang="zh-TW" sz="2200" dirty="0">
                <a:solidFill>
                  <a:schemeClr val="tx1"/>
                </a:solidFill>
              </a:rPr>
              <a:t>(Object-oriented programming, OOP)</a:t>
            </a:r>
            <a:r>
              <a:rPr lang="zh-TW" altLang="en-US" sz="2200" dirty="0">
                <a:solidFill>
                  <a:schemeClr val="tx1"/>
                </a:solidFill>
              </a:rPr>
              <a:t>是什么</a:t>
            </a:r>
            <a:r>
              <a:rPr lang="en-US" altLang="zh-TW" sz="2200" dirty="0">
                <a:solidFill>
                  <a:schemeClr val="tx1"/>
                </a:solidFill>
              </a:rPr>
              <a:t>? </a:t>
            </a:r>
          </a:p>
          <a:p>
            <a:pPr algn="just"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類</a:t>
            </a:r>
            <a:r>
              <a:rPr lang="en-US" altLang="zh-TW" sz="2000" dirty="0">
                <a:solidFill>
                  <a:schemeClr val="tx1"/>
                </a:solidFill>
              </a:rPr>
              <a:t>(class)</a:t>
            </a:r>
            <a:r>
              <a:rPr lang="zh-TW" altLang="en-US" sz="2000" dirty="0">
                <a:solidFill>
                  <a:schemeClr val="tx1"/>
                </a:solidFill>
              </a:rPr>
              <a:t>與對象</a:t>
            </a:r>
            <a:r>
              <a:rPr lang="en-US" altLang="zh-TW" sz="2000" dirty="0">
                <a:solidFill>
                  <a:schemeClr val="tx1"/>
                </a:solidFill>
              </a:rPr>
              <a:t>(object)</a:t>
            </a:r>
            <a:r>
              <a:rPr lang="zh-TW" altLang="en-US" sz="2000" dirty="0">
                <a:solidFill>
                  <a:schemeClr val="tx1"/>
                </a:solidFill>
              </a:rPr>
              <a:t>的關係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類的設計和一般格式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如何創建</a:t>
            </a:r>
            <a:r>
              <a:rPr lang="en-US" altLang="zh-TW" sz="1800" dirty="0">
                <a:solidFill>
                  <a:schemeClr val="tx1"/>
                </a:solidFill>
              </a:rPr>
              <a:t>class</a:t>
            </a:r>
            <a:r>
              <a:rPr lang="zh-TW" altLang="en-US" sz="1800" dirty="0">
                <a:solidFill>
                  <a:schemeClr val="tx1"/>
                </a:solidFill>
              </a:rPr>
              <a:t>及其</a:t>
            </a:r>
            <a:r>
              <a:rPr lang="en-US" altLang="zh-TW" sz="1800" dirty="0">
                <a:solidFill>
                  <a:schemeClr val="tx1"/>
                </a:solidFill>
              </a:rPr>
              <a:t>object</a:t>
            </a:r>
          </a:p>
          <a:p>
            <a:pPr algn="just"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面向對象編程的三大特性</a:t>
            </a:r>
            <a:r>
              <a:rPr lang="en-US" altLang="zh-TW" sz="2000" dirty="0">
                <a:solidFill>
                  <a:schemeClr val="tx1"/>
                </a:solidFill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封裝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繼承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多態 </a:t>
            </a:r>
            <a:r>
              <a:rPr lang="en-US" altLang="zh-TW" sz="1800" dirty="0">
                <a:solidFill>
                  <a:schemeClr val="tx1"/>
                </a:solidFill>
              </a:rPr>
              <a:t>(</a:t>
            </a:r>
            <a:r>
              <a:rPr lang="zh-TW" altLang="en-US" sz="1800" dirty="0">
                <a:solidFill>
                  <a:schemeClr val="tx1"/>
                </a:solidFill>
              </a:rPr>
              <a:t>不講述</a:t>
            </a:r>
            <a:r>
              <a:rPr lang="en-US" altLang="zh-TW" sz="18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2809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09581-4012-E734-94F8-BA3F21FB0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CE19C-2157-CD36-58A7-3CDF5739C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面向對象編程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B4CB42-AA87-3C93-3CD9-5F25B99F2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10777" cy="208811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面向對象編程（‌</a:t>
            </a:r>
            <a:r>
              <a:rPr lang="en-US" altLang="zh-TW" sz="2200" dirty="0">
                <a:solidFill>
                  <a:schemeClr val="tx1"/>
                </a:solidFill>
              </a:rPr>
              <a:t>OOP‌</a:t>
            </a:r>
            <a:r>
              <a:rPr lang="zh-TW" altLang="en-US" sz="2200" dirty="0">
                <a:solidFill>
                  <a:schemeClr val="tx1"/>
                </a:solidFill>
              </a:rPr>
              <a:t>）是一種編程範式，核心思想是‌用「物件」來組織和管理程式碼‌，就像現實世界用物體組織事物一樣。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通過將與事物有關的數據和方法「打包」成一個對象，從而更易於設計和維護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pic>
        <p:nvPicPr>
          <p:cNvPr id="1028" name="Picture 4" descr="头图">
            <a:extLst>
              <a:ext uri="{FF2B5EF4-FFF2-40B4-BE49-F238E27FC236}">
                <a16:creationId xmlns:a16="http://schemas.microsoft.com/office/drawing/2014/main" id="{A8BDE1F4-484B-083F-EEE1-447501C73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404" y="3913743"/>
            <a:ext cx="6569496" cy="281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851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30B4-F8DD-643F-D54C-C4EAE3186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713D-70A6-D572-623A-5615575A3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類與對象的關係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3FE64-9DF7-260B-0E95-AEBA08655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34" y="1570802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以「汽車」為例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類</a:t>
            </a:r>
            <a:r>
              <a:rPr lang="en-US" altLang="zh-TW" sz="2000" dirty="0">
                <a:solidFill>
                  <a:schemeClr val="tx1"/>
                </a:solidFill>
              </a:rPr>
              <a:t>(class)</a:t>
            </a:r>
            <a:r>
              <a:rPr lang="zh-TW" altLang="en-US" sz="2000" dirty="0">
                <a:solidFill>
                  <a:schemeClr val="tx1"/>
                </a:solidFill>
              </a:rPr>
              <a:t>就像是它的「設計藍圖」，定義了「汽車」的共同特征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如顏色、品牌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  <a:r>
              <a:rPr lang="zh-TW" altLang="en-US" sz="2000" dirty="0">
                <a:solidFill>
                  <a:schemeClr val="tx1"/>
                </a:solidFill>
              </a:rPr>
              <a:t>和行為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啟動和加速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而對象</a:t>
            </a:r>
            <a:r>
              <a:rPr lang="en-US" altLang="zh-TW" sz="2000" dirty="0">
                <a:solidFill>
                  <a:schemeClr val="tx1"/>
                </a:solidFill>
              </a:rPr>
              <a:t>(object)</a:t>
            </a:r>
            <a:r>
              <a:rPr lang="zh-TW" altLang="en-US" sz="2000" dirty="0">
                <a:solidFill>
                  <a:schemeClr val="tx1"/>
                </a:solidFill>
              </a:rPr>
              <a:t>則是通過「藍圖」創建的具體事體，如「紅色的</a:t>
            </a:r>
            <a:r>
              <a:rPr lang="en-US" altLang="zh-TW" sz="2000" dirty="0" err="1">
                <a:solidFill>
                  <a:schemeClr val="tx1"/>
                </a:solidFill>
              </a:rPr>
              <a:t>benz</a:t>
            </a:r>
            <a:r>
              <a:rPr lang="zh-TW" altLang="en-US" sz="2000" dirty="0">
                <a:solidFill>
                  <a:schemeClr val="tx1"/>
                </a:solidFill>
              </a:rPr>
              <a:t>」、「藍色的豐田」</a:t>
            </a:r>
            <a:endParaRPr lang="en-US" altLang="zh-TW" dirty="0">
              <a:solidFill>
                <a:schemeClr val="tx1"/>
              </a:solidFill>
            </a:endParaRPr>
          </a:p>
        </p:txBody>
      </p:sp>
      <p:pic>
        <p:nvPicPr>
          <p:cNvPr id="2050" name="Picture 2" descr="汽車藍圖矢量- 從Freepik下載免費優質矢量| Freepik">
            <a:extLst>
              <a:ext uri="{FF2B5EF4-FFF2-40B4-BE49-F238E27FC236}">
                <a16:creationId xmlns:a16="http://schemas.microsoft.com/office/drawing/2014/main" id="{2CE8AE3E-D842-E1AD-2026-686FC5AC4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083" y="4460605"/>
            <a:ext cx="3008549" cy="200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內外配備微調！日本Toyota推新年式Aqua與Sienta | 8891新車">
            <a:extLst>
              <a:ext uri="{FF2B5EF4-FFF2-40B4-BE49-F238E27FC236}">
                <a16:creationId xmlns:a16="http://schemas.microsoft.com/office/drawing/2014/main" id="{B3C9D139-8400-F3FD-3EF0-BE757A68A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321" y="4291230"/>
            <a:ext cx="3648893" cy="242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賓士Benz GT R 原廠授權雙人座四驅兒童電動車-紅色| 全方位直播">
            <a:extLst>
              <a:ext uri="{FF2B5EF4-FFF2-40B4-BE49-F238E27FC236}">
                <a16:creationId xmlns:a16="http://schemas.microsoft.com/office/drawing/2014/main" id="{94C4C96F-768C-E67D-3F37-94D860FCEC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6500" b="92667" l="7667" r="95333">
                        <a14:foregroundMark x1="10500" y1="63167" x2="7833" y2="74167"/>
                        <a14:foregroundMark x1="25500" y1="76833" x2="31833" y2="81667"/>
                        <a14:foregroundMark x1="91667" y1="74833" x2="91500" y2="66500"/>
                        <a14:foregroundMark x1="91500" y1="66500" x2="91167" y2="65500"/>
                        <a14:foregroundMark x1="94833" y1="70167" x2="95333" y2="77000"/>
                        <a14:foregroundMark x1="45667" y1="60500" x2="50500" y2="62500"/>
                        <a14:backgroundMark x1="48833" y1="83833" x2="53167" y2="86667"/>
                        <a14:backgroundMark x1="78500" y1="87167" x2="85333" y2="86667"/>
                        <a14:backgroundMark x1="43833" y1="84667" x2="42333" y2="87833"/>
                        <a14:backgroundMark x1="41667" y1="87667" x2="37167" y2="89833"/>
                        <a14:backgroundMark x1="25500" y1="85000" x2="27167" y2="87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9531"/>
          <a:stretch/>
        </p:blipFill>
        <p:spPr bwMode="auto">
          <a:xfrm>
            <a:off x="5178520" y="4248506"/>
            <a:ext cx="3446228" cy="242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4350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8AE99-2EBC-AE1F-0262-DF2FDAEC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FAA8A-D0D8-1516-D6F8-7A42BC537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類的一般格式</a:t>
            </a:r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AB92AC6-2DC5-9786-0076-83D32B759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92" y="2967938"/>
            <a:ext cx="10274415" cy="3585702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CE7E8E8-F313-6214-8410-9632365F0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34" y="1570802"/>
            <a:ext cx="10910777" cy="122556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dirty="0">
                <a:solidFill>
                  <a:schemeClr val="tx1"/>
                </a:solidFill>
              </a:rPr>
              <a:t>由</a:t>
            </a:r>
            <a:r>
              <a:rPr lang="en-US" altLang="zh-TW" dirty="0">
                <a:solidFill>
                  <a:schemeClr val="tx1"/>
                </a:solidFill>
              </a:rPr>
              <a:t>class</a:t>
            </a:r>
            <a:r>
              <a:rPr lang="zh-TW" altLang="en-US" dirty="0">
                <a:solidFill>
                  <a:schemeClr val="tx1"/>
                </a:solidFill>
              </a:rPr>
              <a:t>關鍵字、類別名稱、初始化函數</a:t>
            </a:r>
            <a:r>
              <a:rPr lang="en-US" altLang="zh-TW" dirty="0">
                <a:solidFill>
                  <a:schemeClr val="tx1"/>
                </a:solidFill>
              </a:rPr>
              <a:t>(def __</a:t>
            </a:r>
            <a:r>
              <a:rPr lang="en-US" altLang="zh-TW" dirty="0" err="1">
                <a:solidFill>
                  <a:schemeClr val="tx1"/>
                </a:solidFill>
              </a:rPr>
              <a:t>init</a:t>
            </a:r>
            <a:r>
              <a:rPr lang="en-US" altLang="zh-TW" dirty="0">
                <a:solidFill>
                  <a:schemeClr val="tx1"/>
                </a:solidFill>
              </a:rPr>
              <a:t>__())</a:t>
            </a:r>
            <a:r>
              <a:rPr lang="zh-TW" altLang="en-US" dirty="0">
                <a:solidFill>
                  <a:schemeClr val="tx1"/>
                </a:solidFill>
              </a:rPr>
              <a:t>、屬性和方法組成</a:t>
            </a:r>
            <a:endParaRPr lang="en-US" altLang="zh-TW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dirty="0">
                <a:solidFill>
                  <a:schemeClr val="tx1"/>
                </a:solidFill>
              </a:rPr>
              <a:t>注意，屬性帶有</a:t>
            </a:r>
            <a:r>
              <a:rPr lang="en-US" altLang="zh-TW" dirty="0">
                <a:solidFill>
                  <a:schemeClr val="tx1"/>
                </a:solidFill>
              </a:rPr>
              <a:t>self.</a:t>
            </a:r>
            <a:r>
              <a:rPr lang="zh-TW" altLang="en-US" dirty="0">
                <a:solidFill>
                  <a:schemeClr val="tx1"/>
                </a:solidFill>
              </a:rPr>
              <a:t>的前序，而方法則帶有</a:t>
            </a:r>
            <a:r>
              <a:rPr lang="en-US" altLang="zh-TW" dirty="0">
                <a:solidFill>
                  <a:schemeClr val="tx1"/>
                </a:solidFill>
              </a:rPr>
              <a:t>self</a:t>
            </a:r>
            <a:r>
              <a:rPr lang="zh-TW" altLang="en-US" dirty="0">
                <a:solidFill>
                  <a:schemeClr val="tx1"/>
                </a:solidFill>
              </a:rPr>
              <a:t>的參數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7A9034-D045-CCA7-0B4D-0161A02B8D1F}"/>
              </a:ext>
            </a:extLst>
          </p:cNvPr>
          <p:cNvSpPr/>
          <p:nvPr/>
        </p:nvSpPr>
        <p:spPr>
          <a:xfrm>
            <a:off x="3531870" y="3429000"/>
            <a:ext cx="902970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5E6730-7709-AD89-9353-381A823C6A08}"/>
              </a:ext>
            </a:extLst>
          </p:cNvPr>
          <p:cNvSpPr/>
          <p:nvPr/>
        </p:nvSpPr>
        <p:spPr>
          <a:xfrm>
            <a:off x="3432810" y="5104318"/>
            <a:ext cx="902970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22207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8930C-99D2-AFB4-24D8-0D1AA607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7821-EC50-04C8-EB10-41511FB33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課堂練習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zh-TW" altLang="en-US" dirty="0"/>
              <a:t>創建</a:t>
            </a:r>
            <a:r>
              <a:rPr lang="en-US" altLang="zh-TW" dirty="0"/>
              <a:t>class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1BE38B3-6290-4EB3-086E-0B713C6C2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34" y="1570802"/>
            <a:ext cx="10910777" cy="112986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創建一個</a:t>
            </a:r>
            <a:r>
              <a:rPr lang="zh-TW" altLang="en-US" sz="2200" dirty="0">
                <a:solidFill>
                  <a:srgbClr val="FF0000"/>
                </a:solidFill>
              </a:rPr>
              <a:t>「</a:t>
            </a:r>
            <a:r>
              <a:rPr lang="en-US" altLang="zh-TW" sz="2200" dirty="0">
                <a:solidFill>
                  <a:srgbClr val="FF0000"/>
                </a:solidFill>
              </a:rPr>
              <a:t>Animal</a:t>
            </a:r>
            <a:r>
              <a:rPr lang="zh-TW" altLang="en-US" sz="2200" dirty="0">
                <a:solidFill>
                  <a:srgbClr val="FF0000"/>
                </a:solidFill>
              </a:rPr>
              <a:t>」</a:t>
            </a:r>
            <a:r>
              <a:rPr lang="zh-TW" altLang="en-US" sz="2200" dirty="0">
                <a:solidFill>
                  <a:schemeClr val="tx1"/>
                </a:solidFill>
              </a:rPr>
              <a:t>的類</a:t>
            </a:r>
            <a:r>
              <a:rPr lang="en-US" altLang="zh-TW" sz="2200" dirty="0">
                <a:solidFill>
                  <a:schemeClr val="tx1"/>
                </a:solidFill>
              </a:rPr>
              <a:t>(class)</a:t>
            </a:r>
            <a:r>
              <a:rPr lang="zh-TW" altLang="en-US" sz="2200" dirty="0">
                <a:solidFill>
                  <a:schemeClr val="tx1"/>
                </a:solidFill>
              </a:rPr>
              <a:t>，它帶有</a:t>
            </a:r>
            <a:r>
              <a:rPr lang="zh-TW" altLang="en-US" sz="2200" dirty="0">
                <a:solidFill>
                  <a:srgbClr val="FF0000"/>
                </a:solidFill>
              </a:rPr>
              <a:t>名字「</a:t>
            </a:r>
            <a:r>
              <a:rPr lang="en-US" altLang="zh-TW" sz="2200" dirty="0">
                <a:solidFill>
                  <a:srgbClr val="FF0000"/>
                </a:solidFill>
              </a:rPr>
              <a:t>name</a:t>
            </a:r>
            <a:r>
              <a:rPr lang="zh-TW" altLang="en-US" sz="2200" dirty="0">
                <a:solidFill>
                  <a:srgbClr val="FF0000"/>
                </a:solidFill>
              </a:rPr>
              <a:t>」</a:t>
            </a:r>
            <a:r>
              <a:rPr lang="zh-TW" altLang="en-US" sz="2200" dirty="0">
                <a:solidFill>
                  <a:schemeClr val="tx1"/>
                </a:solidFill>
              </a:rPr>
              <a:t>和</a:t>
            </a:r>
            <a:r>
              <a:rPr lang="zh-TW" altLang="en-US" sz="2200" dirty="0">
                <a:solidFill>
                  <a:srgbClr val="FF0000"/>
                </a:solidFill>
              </a:rPr>
              <a:t>類別「</a:t>
            </a:r>
            <a:r>
              <a:rPr lang="en-US" altLang="zh-TW" sz="2200" dirty="0">
                <a:solidFill>
                  <a:srgbClr val="FF0000"/>
                </a:solidFill>
              </a:rPr>
              <a:t>species</a:t>
            </a:r>
            <a:r>
              <a:rPr lang="zh-TW" altLang="en-US" sz="2200" dirty="0">
                <a:solidFill>
                  <a:srgbClr val="FF0000"/>
                </a:solidFill>
              </a:rPr>
              <a:t>」</a:t>
            </a:r>
            <a:r>
              <a:rPr lang="zh-TW" altLang="en-US" sz="2200" dirty="0">
                <a:solidFill>
                  <a:schemeClr val="tx1"/>
                </a:solidFill>
              </a:rPr>
              <a:t>兩個屬性，同時具備 </a:t>
            </a:r>
            <a:r>
              <a:rPr lang="zh-TW" altLang="en-US" sz="2200" dirty="0">
                <a:solidFill>
                  <a:srgbClr val="FF0000"/>
                </a:solidFill>
              </a:rPr>
              <a:t>發聲「</a:t>
            </a:r>
            <a:r>
              <a:rPr lang="en-US" altLang="zh-TW" sz="2200" dirty="0">
                <a:solidFill>
                  <a:srgbClr val="FF0000"/>
                </a:solidFill>
              </a:rPr>
              <a:t>speak</a:t>
            </a:r>
            <a:r>
              <a:rPr lang="zh-TW" altLang="en-US" sz="2200" dirty="0">
                <a:solidFill>
                  <a:srgbClr val="FF0000"/>
                </a:solidFill>
              </a:rPr>
              <a:t>」</a:t>
            </a:r>
            <a:r>
              <a:rPr lang="zh-TW" altLang="en-US" sz="2200" dirty="0">
                <a:solidFill>
                  <a:schemeClr val="tx1"/>
                </a:solidFill>
              </a:rPr>
              <a:t>的方法。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34A26C7-55A6-6576-5280-80C0CF26EA2D}"/>
              </a:ext>
            </a:extLst>
          </p:cNvPr>
          <p:cNvSpPr txBox="1"/>
          <p:nvPr/>
        </p:nvSpPr>
        <p:spPr>
          <a:xfrm>
            <a:off x="1169581" y="6248400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詳看</a:t>
            </a:r>
            <a:r>
              <a:rPr lang="en-US" altLang="zh-TW" sz="1800" dirty="0">
                <a:solidFill>
                  <a:srgbClr val="FF0000"/>
                </a:solidFill>
              </a:rPr>
              <a:t>practices/</a:t>
            </a:r>
            <a:r>
              <a:rPr lang="en-US" altLang="zh-TW" sz="1800" dirty="0" err="1">
                <a:solidFill>
                  <a:srgbClr val="FF0000"/>
                </a:solidFill>
              </a:rPr>
              <a:t>oop</a:t>
            </a: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zh-TW" altLang="en-US" dirty="0">
                <a:solidFill>
                  <a:srgbClr val="FF0000"/>
                </a:solidFill>
              </a:rPr>
              <a:t>面向對象</a:t>
            </a:r>
            <a:r>
              <a:rPr lang="en-US" altLang="zh-TW" dirty="0">
                <a:solidFill>
                  <a:srgbClr val="FF0000"/>
                </a:solidFill>
              </a:rPr>
              <a:t>/1_</a:t>
            </a:r>
            <a:r>
              <a:rPr lang="zh-TW" altLang="en-US" dirty="0">
                <a:solidFill>
                  <a:srgbClr val="FF0000"/>
                </a:solidFill>
              </a:rPr>
              <a:t>創建</a:t>
            </a:r>
            <a:r>
              <a:rPr lang="en-US" altLang="zh-TW" dirty="0">
                <a:solidFill>
                  <a:srgbClr val="FF0000"/>
                </a:solidFill>
              </a:rPr>
              <a:t>class.py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06B1339-F69C-D903-2338-ADB2CFE32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608" y="2700670"/>
            <a:ext cx="8384784" cy="317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85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4E091-98CE-1B75-77D1-38B9BD1D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A0E9A-7344-E010-A946-9F0B77C79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課堂練習 </a:t>
            </a:r>
            <a:r>
              <a:rPr lang="en-US" altLang="zh-TW" dirty="0"/>
              <a:t>-</a:t>
            </a:r>
            <a:r>
              <a:rPr lang="zh-TW" altLang="en-US" dirty="0"/>
              <a:t>創建</a:t>
            </a:r>
            <a:r>
              <a:rPr lang="en-US" altLang="zh-TW" dirty="0"/>
              <a:t>object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DCE4C7B-B566-4DE4-8A2F-971F3BF69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34" y="1570802"/>
            <a:ext cx="10910777" cy="282166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創建</a:t>
            </a:r>
            <a:r>
              <a:rPr lang="en-US" altLang="zh-TW" sz="2200" dirty="0">
                <a:solidFill>
                  <a:schemeClr val="tx1"/>
                </a:solidFill>
              </a:rPr>
              <a:t>Animal</a:t>
            </a:r>
            <a:r>
              <a:rPr lang="zh-TW" altLang="en-US" sz="2200" dirty="0">
                <a:solidFill>
                  <a:schemeClr val="tx1"/>
                </a:solidFill>
              </a:rPr>
              <a:t>類</a:t>
            </a:r>
            <a:r>
              <a:rPr lang="en-US" altLang="zh-TW" sz="2200" dirty="0">
                <a:solidFill>
                  <a:schemeClr val="tx1"/>
                </a:solidFill>
              </a:rPr>
              <a:t>(class)</a:t>
            </a:r>
            <a:r>
              <a:rPr lang="zh-TW" altLang="en-US" sz="2200" dirty="0">
                <a:solidFill>
                  <a:schemeClr val="tx1"/>
                </a:solidFill>
              </a:rPr>
              <a:t>後，我們可以創建其對象</a:t>
            </a:r>
            <a:r>
              <a:rPr lang="en-US" altLang="zh-TW" sz="2200" dirty="0">
                <a:solidFill>
                  <a:schemeClr val="tx1"/>
                </a:solidFill>
              </a:rPr>
              <a:t>(object)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這里我們創建一個「名字為</a:t>
            </a:r>
            <a:r>
              <a:rPr lang="en-US" altLang="zh-TW" sz="2200" dirty="0" err="1">
                <a:solidFill>
                  <a:schemeClr val="tx1"/>
                </a:solidFill>
              </a:rPr>
              <a:t>MyDog</a:t>
            </a:r>
            <a:r>
              <a:rPr lang="zh-TW" altLang="en-US" sz="2200" dirty="0">
                <a:solidFill>
                  <a:schemeClr val="tx1"/>
                </a:solidFill>
              </a:rPr>
              <a:t>，其叫聲為</a:t>
            </a:r>
            <a:r>
              <a:rPr lang="en-US" altLang="zh-TW" sz="2200" dirty="0">
                <a:solidFill>
                  <a:schemeClr val="tx1"/>
                </a:solidFill>
              </a:rPr>
              <a:t>”</a:t>
            </a:r>
            <a:r>
              <a:rPr lang="zh-TW" altLang="en-US" sz="2200" dirty="0">
                <a:solidFill>
                  <a:schemeClr val="tx1"/>
                </a:solidFill>
              </a:rPr>
              <a:t>汪汪</a:t>
            </a:r>
            <a:r>
              <a:rPr lang="en-US" altLang="zh-TW" sz="2200" dirty="0">
                <a:solidFill>
                  <a:schemeClr val="tx1"/>
                </a:solidFill>
              </a:rPr>
              <a:t>”</a:t>
            </a:r>
            <a:r>
              <a:rPr lang="zh-TW" altLang="en-US" sz="2200" dirty="0">
                <a:solidFill>
                  <a:schemeClr val="tx1"/>
                </a:solidFill>
              </a:rPr>
              <a:t>」的對象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創建對象的方法為</a:t>
            </a:r>
            <a:r>
              <a:rPr lang="en-US" altLang="zh-TW" sz="2200" dirty="0">
                <a:solidFill>
                  <a:schemeClr val="tx1"/>
                </a:solidFill>
              </a:rPr>
              <a:t>: </a:t>
            </a:r>
            <a:r>
              <a:rPr lang="zh-TW" altLang="en-US" sz="2200" dirty="0">
                <a:solidFill>
                  <a:schemeClr val="tx1"/>
                </a:solidFill>
              </a:rPr>
              <a:t>類名</a:t>
            </a:r>
            <a:r>
              <a:rPr lang="en-US" altLang="zh-TW" sz="2200" dirty="0">
                <a:solidFill>
                  <a:schemeClr val="tx1"/>
                </a:solidFill>
              </a:rPr>
              <a:t>(“</a:t>
            </a:r>
            <a:r>
              <a:rPr lang="zh-TW" altLang="en-US" sz="2200" dirty="0">
                <a:solidFill>
                  <a:schemeClr val="tx1"/>
                </a:solidFill>
              </a:rPr>
              <a:t>初始化參數</a:t>
            </a:r>
            <a:r>
              <a:rPr lang="en-US" altLang="zh-TW" sz="2200" dirty="0">
                <a:solidFill>
                  <a:schemeClr val="tx1"/>
                </a:solidFill>
              </a:rPr>
              <a:t>1”, “</a:t>
            </a:r>
            <a:r>
              <a:rPr lang="zh-TW" altLang="en-US" sz="2200" dirty="0">
                <a:solidFill>
                  <a:schemeClr val="tx1"/>
                </a:solidFill>
              </a:rPr>
              <a:t>初始化參數</a:t>
            </a:r>
            <a:r>
              <a:rPr lang="en-US" altLang="zh-TW" sz="2200" dirty="0">
                <a:solidFill>
                  <a:schemeClr val="tx1"/>
                </a:solidFill>
              </a:rPr>
              <a:t>2”…..)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對象可以訪問其屬性和使用其方法</a:t>
            </a:r>
            <a:endParaRPr lang="en-US" altLang="zh-TW" dirty="0">
              <a:solidFill>
                <a:schemeClr val="tx1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65DF067-154B-74DB-B22A-30137AC12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302" y="4489724"/>
            <a:ext cx="8284433" cy="159494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19A3B33-655B-460B-511E-88FAC4AB3F37}"/>
              </a:ext>
            </a:extLst>
          </p:cNvPr>
          <p:cNvSpPr txBox="1"/>
          <p:nvPr/>
        </p:nvSpPr>
        <p:spPr>
          <a:xfrm>
            <a:off x="1169581" y="6248400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詳看</a:t>
            </a:r>
            <a:r>
              <a:rPr lang="en-US" altLang="zh-TW" sz="1800" dirty="0">
                <a:solidFill>
                  <a:srgbClr val="FF0000"/>
                </a:solidFill>
              </a:rPr>
              <a:t>practices/</a:t>
            </a:r>
            <a:r>
              <a:rPr lang="en-US" altLang="zh-TW" sz="1800" dirty="0" err="1">
                <a:solidFill>
                  <a:srgbClr val="FF0000"/>
                </a:solidFill>
              </a:rPr>
              <a:t>oop</a:t>
            </a: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zh-TW" altLang="en-US" dirty="0">
                <a:solidFill>
                  <a:srgbClr val="FF0000"/>
                </a:solidFill>
              </a:rPr>
              <a:t>面向對象</a:t>
            </a:r>
            <a:r>
              <a:rPr lang="en-US" altLang="zh-TW" dirty="0">
                <a:solidFill>
                  <a:srgbClr val="FF0000"/>
                </a:solidFill>
              </a:rPr>
              <a:t>/1_</a:t>
            </a:r>
            <a:r>
              <a:rPr lang="zh-TW" altLang="en-US" dirty="0">
                <a:solidFill>
                  <a:srgbClr val="FF0000"/>
                </a:solidFill>
              </a:rPr>
              <a:t>創建</a:t>
            </a:r>
            <a:r>
              <a:rPr lang="en-US" altLang="zh-TW" dirty="0">
                <a:solidFill>
                  <a:srgbClr val="FF0000"/>
                </a:solidFill>
              </a:rPr>
              <a:t>class.py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21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540AC-AD98-7780-762E-16C2B1E63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14844-41D9-07E2-0378-B580A2D4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課堂小練習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E1CD58-B8A6-387A-607E-C7B8B5629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34" y="1570802"/>
            <a:ext cx="10910777" cy="282166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1. </a:t>
            </a:r>
            <a:r>
              <a:rPr lang="zh-TW" altLang="en-US" sz="2200" dirty="0">
                <a:solidFill>
                  <a:schemeClr val="tx1"/>
                </a:solidFill>
              </a:rPr>
              <a:t>創建名為</a:t>
            </a:r>
            <a:r>
              <a:rPr lang="en-US" altLang="zh-TW" sz="2200" dirty="0">
                <a:solidFill>
                  <a:schemeClr val="tx1"/>
                </a:solidFill>
              </a:rPr>
              <a:t>Student</a:t>
            </a:r>
            <a:r>
              <a:rPr lang="zh-TW" altLang="en-US" sz="2200" dirty="0">
                <a:solidFill>
                  <a:schemeClr val="tx1"/>
                </a:solidFill>
              </a:rPr>
              <a:t>的類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具有名字</a:t>
            </a:r>
            <a:r>
              <a:rPr lang="en-US" altLang="zh-TW" sz="2000" dirty="0">
                <a:solidFill>
                  <a:schemeClr val="tx1"/>
                </a:solidFill>
              </a:rPr>
              <a:t>(name)</a:t>
            </a:r>
            <a:r>
              <a:rPr lang="zh-TW" altLang="en-US" sz="2000" dirty="0">
                <a:solidFill>
                  <a:schemeClr val="tx1"/>
                </a:solidFill>
              </a:rPr>
              <a:t>和分數</a:t>
            </a:r>
            <a:r>
              <a:rPr lang="en-US" altLang="zh-TW" sz="2000" dirty="0">
                <a:solidFill>
                  <a:schemeClr val="tx1"/>
                </a:solidFill>
              </a:rPr>
              <a:t>(score)</a:t>
            </a:r>
            <a:r>
              <a:rPr lang="zh-TW" altLang="en-US" sz="2000" dirty="0">
                <a:solidFill>
                  <a:schemeClr val="tx1"/>
                </a:solidFill>
              </a:rPr>
              <a:t>兩個屬性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具有方法</a:t>
            </a:r>
            <a:r>
              <a:rPr lang="en-US" altLang="zh-TW" sz="2000" dirty="0" err="1">
                <a:solidFill>
                  <a:schemeClr val="tx1"/>
                </a:solidFill>
              </a:rPr>
              <a:t>check_pass</a:t>
            </a:r>
            <a:r>
              <a:rPr lang="en-US" altLang="zh-TW" sz="2000" dirty="0">
                <a:solidFill>
                  <a:schemeClr val="tx1"/>
                </a:solidFill>
              </a:rPr>
              <a:t>()</a:t>
            </a:r>
            <a:r>
              <a:rPr lang="zh-TW" altLang="en-US" sz="2000" dirty="0">
                <a:solidFill>
                  <a:schemeClr val="tx1"/>
                </a:solidFill>
              </a:rPr>
              <a:t>用於判斷分數是否</a:t>
            </a:r>
            <a:r>
              <a:rPr lang="en-US" altLang="zh-TW" sz="2000" dirty="0">
                <a:solidFill>
                  <a:schemeClr val="tx1"/>
                </a:solidFill>
              </a:rPr>
              <a:t>&gt;=60</a:t>
            </a:r>
            <a:r>
              <a:rPr lang="zh-TW" altLang="en-US" sz="2000" dirty="0">
                <a:solidFill>
                  <a:schemeClr val="tx1"/>
                </a:solidFill>
              </a:rPr>
              <a:t>，若是返回</a:t>
            </a:r>
            <a:r>
              <a:rPr lang="en-US" altLang="zh-TW" sz="2000" dirty="0">
                <a:solidFill>
                  <a:schemeClr val="tx1"/>
                </a:solidFill>
              </a:rPr>
              <a:t>True</a:t>
            </a:r>
            <a:r>
              <a:rPr lang="zh-TW" altLang="en-US" sz="2000" dirty="0">
                <a:solidFill>
                  <a:schemeClr val="tx1"/>
                </a:solidFill>
              </a:rPr>
              <a:t>，否則返回</a:t>
            </a:r>
            <a:r>
              <a:rPr lang="en-US" altLang="zh-TW" sz="2000" dirty="0">
                <a:solidFill>
                  <a:schemeClr val="tx1"/>
                </a:solidFill>
              </a:rPr>
              <a:t>False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2. </a:t>
            </a:r>
            <a:r>
              <a:rPr lang="zh-TW" altLang="en-US" sz="2200" dirty="0">
                <a:solidFill>
                  <a:schemeClr val="tx1"/>
                </a:solidFill>
              </a:rPr>
              <a:t>創建這類的對象，並調用</a:t>
            </a:r>
            <a:r>
              <a:rPr lang="en-US" altLang="zh-TW" sz="2200" dirty="0" err="1">
                <a:solidFill>
                  <a:schemeClr val="tx1"/>
                </a:solidFill>
              </a:rPr>
              <a:t>check_pass</a:t>
            </a:r>
            <a:r>
              <a:rPr lang="en-US" altLang="zh-TW" sz="2200" dirty="0">
                <a:solidFill>
                  <a:schemeClr val="tx1"/>
                </a:solidFill>
              </a:rPr>
              <a:t>(80)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62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FEFF-51B6-76C3-2165-D7FFDD57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2CAC1-3243-4418-35D7-BED010B1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公開和私有的屬性</a:t>
            </a:r>
            <a:r>
              <a:rPr lang="en-US" altLang="zh-TW" dirty="0"/>
              <a:t>/</a:t>
            </a:r>
            <a:r>
              <a:rPr lang="zh-TW" altLang="en-US" dirty="0"/>
              <a:t>方法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6288FD1-0DCD-6C6E-5FE6-01C43D94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34" y="1570802"/>
            <a:ext cx="9113875" cy="439406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是否所有</a:t>
            </a:r>
            <a:r>
              <a:rPr lang="zh-TW" altLang="en-US" sz="2200" dirty="0">
                <a:solidFill>
                  <a:srgbClr val="FF0000"/>
                </a:solidFill>
              </a:rPr>
              <a:t>屬性</a:t>
            </a:r>
            <a:r>
              <a:rPr lang="zh-TW" altLang="en-US" sz="2200" dirty="0">
                <a:solidFill>
                  <a:schemeClr val="tx1"/>
                </a:solidFill>
              </a:rPr>
              <a:t>和</a:t>
            </a:r>
            <a:r>
              <a:rPr lang="zh-TW" altLang="en-US" sz="2200" dirty="0">
                <a:solidFill>
                  <a:srgbClr val="FF0000"/>
                </a:solidFill>
              </a:rPr>
              <a:t>方法</a:t>
            </a:r>
            <a:r>
              <a:rPr lang="zh-TW" altLang="en-US" sz="2200" dirty="0">
                <a:solidFill>
                  <a:schemeClr val="tx1"/>
                </a:solidFill>
              </a:rPr>
              <a:t>，對象都能訪問的呢</a:t>
            </a:r>
            <a:r>
              <a:rPr lang="en-US" altLang="zh-TW" sz="2200" dirty="0">
                <a:solidFill>
                  <a:schemeClr val="tx1"/>
                </a:solidFill>
              </a:rPr>
              <a:t>?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不是，成員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方法可以簡單分為</a:t>
            </a:r>
            <a:r>
              <a:rPr lang="en-US" altLang="zh-TW" sz="2000" dirty="0">
                <a:solidFill>
                  <a:schemeClr val="tx1"/>
                </a:solidFill>
              </a:rPr>
              <a:t>public(</a:t>
            </a:r>
            <a:r>
              <a:rPr lang="zh-TW" altLang="en-US" sz="2000" dirty="0">
                <a:solidFill>
                  <a:schemeClr val="tx1"/>
                </a:solidFill>
              </a:rPr>
              <a:t>公開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  <a:r>
              <a:rPr lang="zh-TW" altLang="en-US" sz="2000" dirty="0">
                <a:solidFill>
                  <a:schemeClr val="tx1"/>
                </a:solidFill>
              </a:rPr>
              <a:t>和</a:t>
            </a:r>
            <a:r>
              <a:rPr lang="en-US" altLang="zh-TW" sz="2000" dirty="0">
                <a:solidFill>
                  <a:schemeClr val="tx1"/>
                </a:solidFill>
              </a:rPr>
              <a:t>private(</a:t>
            </a:r>
            <a:r>
              <a:rPr lang="zh-TW" altLang="en-US" sz="2000" dirty="0">
                <a:solidFill>
                  <a:schemeClr val="tx1"/>
                </a:solidFill>
              </a:rPr>
              <a:t>私有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一般的屬性和方法都是默認是</a:t>
            </a:r>
            <a:r>
              <a:rPr lang="en-US" altLang="zh-TW" sz="2000" dirty="0">
                <a:solidFill>
                  <a:schemeClr val="tx1"/>
                </a:solidFill>
              </a:rPr>
              <a:t>public</a:t>
            </a:r>
            <a:r>
              <a:rPr lang="zh-TW" altLang="en-US" sz="2000" dirty="0">
                <a:solidFill>
                  <a:schemeClr val="tx1"/>
                </a:solidFill>
              </a:rPr>
              <a:t>的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只有以雙下劃線命名的屬性和方法才是</a:t>
            </a:r>
            <a:r>
              <a:rPr lang="en-US" altLang="zh-TW" sz="2000" dirty="0">
                <a:solidFill>
                  <a:schemeClr val="tx1"/>
                </a:solidFill>
              </a:rPr>
              <a:t>private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只有</a:t>
            </a:r>
            <a:r>
              <a:rPr lang="en-US" altLang="zh-TW" sz="2000" dirty="0">
                <a:solidFill>
                  <a:schemeClr val="tx1"/>
                </a:solidFill>
              </a:rPr>
              <a:t>public</a:t>
            </a:r>
            <a:r>
              <a:rPr lang="zh-TW" altLang="en-US" sz="2000">
                <a:solidFill>
                  <a:schemeClr val="tx1"/>
                </a:solidFill>
              </a:rPr>
              <a:t>的才可以被訪問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457200" lvl="1" indent="0" algn="just">
              <a:lnSpc>
                <a:spcPct val="150000"/>
              </a:lnSpc>
              <a:spcBef>
                <a:spcPts val="1800"/>
              </a:spcBef>
              <a:buNone/>
            </a:pP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4DD479E-1E7F-0394-D10A-0843B605F62A}"/>
              </a:ext>
            </a:extLst>
          </p:cNvPr>
          <p:cNvSpPr txBox="1"/>
          <p:nvPr/>
        </p:nvSpPr>
        <p:spPr>
          <a:xfrm>
            <a:off x="1169581" y="6248400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詳看</a:t>
            </a:r>
            <a:r>
              <a:rPr lang="en-US" altLang="zh-TW" sz="1800" dirty="0">
                <a:solidFill>
                  <a:srgbClr val="FF0000"/>
                </a:solidFill>
              </a:rPr>
              <a:t>practices/</a:t>
            </a:r>
            <a:r>
              <a:rPr lang="en-US" altLang="zh-TW" sz="1800" dirty="0" err="1">
                <a:solidFill>
                  <a:srgbClr val="FF0000"/>
                </a:solidFill>
              </a:rPr>
              <a:t>oop</a:t>
            </a: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zh-TW" altLang="en-US" dirty="0">
                <a:solidFill>
                  <a:srgbClr val="FF0000"/>
                </a:solidFill>
              </a:rPr>
              <a:t>面向對象</a:t>
            </a:r>
            <a:r>
              <a:rPr lang="en-US" altLang="zh-TW" dirty="0">
                <a:solidFill>
                  <a:srgbClr val="FF0000"/>
                </a:solidFill>
              </a:rPr>
              <a:t>/2_</a:t>
            </a:r>
            <a:r>
              <a:rPr lang="zh-TW" altLang="en-US" dirty="0">
                <a:solidFill>
                  <a:srgbClr val="FF0000"/>
                </a:solidFill>
              </a:rPr>
              <a:t>私有屬性和方法</a:t>
            </a:r>
            <a:r>
              <a:rPr lang="en-US" altLang="zh-TW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229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901A2-12F1-41C0-4869-86FE1A94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E2D2-B9A5-0EDA-2B27-72B5E864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封裝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1D31309-AB55-2DF3-64C7-6960F7A1B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34" y="1570802"/>
            <a:ext cx="9113875" cy="439406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封裝的核心是將數據與方法綁定在類中，通過訪問控制（如私有成員）隱藏內部實現細節，僅通過公開接口與外部交互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口語一點的解釋是</a:t>
            </a:r>
            <a:r>
              <a:rPr lang="en-US" altLang="zh-TW" sz="2200" dirty="0">
                <a:solidFill>
                  <a:schemeClr val="tx1"/>
                </a:solidFill>
              </a:rPr>
              <a:t>: </a:t>
            </a:r>
            <a:r>
              <a:rPr lang="zh-TW" altLang="en-US" sz="2200" dirty="0">
                <a:solidFill>
                  <a:schemeClr val="tx1"/>
                </a:solidFill>
              </a:rPr>
              <a:t>把一些核心內容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zh-TW" altLang="en-US" sz="2200" dirty="0">
                <a:solidFill>
                  <a:schemeClr val="tx1"/>
                </a:solidFill>
              </a:rPr>
              <a:t>如私有對象</a:t>
            </a:r>
            <a:r>
              <a:rPr lang="en-US" altLang="zh-TW" sz="2200" dirty="0">
                <a:solidFill>
                  <a:schemeClr val="tx1"/>
                </a:solidFill>
              </a:rPr>
              <a:t>)</a:t>
            </a:r>
            <a:r>
              <a:rPr lang="zh-TW" altLang="en-US" sz="2200" dirty="0">
                <a:solidFill>
                  <a:schemeClr val="tx1"/>
                </a:solidFill>
              </a:rPr>
              <a:t>不對外進行公開，而是通過提供</a:t>
            </a:r>
            <a:r>
              <a:rPr lang="en-US" altLang="zh-TW" sz="2200" dirty="0">
                <a:solidFill>
                  <a:schemeClr val="tx1"/>
                </a:solidFill>
              </a:rPr>
              <a:t>public</a:t>
            </a:r>
            <a:r>
              <a:rPr lang="zh-TW" altLang="en-US" sz="2200" dirty="0">
                <a:solidFill>
                  <a:schemeClr val="tx1"/>
                </a:solidFill>
              </a:rPr>
              <a:t>的方法給外界使用。主要起到以下作用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>
                <a:solidFill>
                  <a:schemeClr val="tx1"/>
                </a:solidFill>
              </a:rPr>
              <a:t>1. </a:t>
            </a:r>
            <a:r>
              <a:rPr lang="zh-TW" altLang="en-US" sz="2000" dirty="0">
                <a:solidFill>
                  <a:schemeClr val="tx1"/>
                </a:solidFill>
              </a:rPr>
              <a:t>防止數據被修改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>
                <a:solidFill>
                  <a:schemeClr val="tx1"/>
                </a:solidFill>
              </a:rPr>
              <a:t>2. </a:t>
            </a:r>
            <a:r>
              <a:rPr lang="zh-TW" altLang="en-US" sz="2000" dirty="0">
                <a:solidFill>
                  <a:schemeClr val="tx1"/>
                </a:solidFill>
              </a:rPr>
              <a:t>核心內容不外露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27D83FE-307E-DB6E-0C6F-33FCA9CCC9F0}"/>
              </a:ext>
            </a:extLst>
          </p:cNvPr>
          <p:cNvSpPr txBox="1"/>
          <p:nvPr/>
        </p:nvSpPr>
        <p:spPr>
          <a:xfrm>
            <a:off x="1169581" y="6248400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詳看</a:t>
            </a:r>
            <a:r>
              <a:rPr lang="en-US" altLang="zh-TW" sz="1800" dirty="0">
                <a:solidFill>
                  <a:srgbClr val="FF0000"/>
                </a:solidFill>
              </a:rPr>
              <a:t>practices/</a:t>
            </a:r>
            <a:r>
              <a:rPr lang="en-US" altLang="zh-TW" sz="1800" dirty="0" err="1">
                <a:solidFill>
                  <a:srgbClr val="FF0000"/>
                </a:solidFill>
              </a:rPr>
              <a:t>oop</a:t>
            </a: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zh-TW" altLang="en-US" dirty="0">
                <a:solidFill>
                  <a:srgbClr val="FF0000"/>
                </a:solidFill>
              </a:rPr>
              <a:t>面向對象</a:t>
            </a:r>
            <a:r>
              <a:rPr lang="en-US" altLang="zh-TW" dirty="0">
                <a:solidFill>
                  <a:srgbClr val="FF0000"/>
                </a:solidFill>
              </a:rPr>
              <a:t>/3_</a:t>
            </a:r>
            <a:r>
              <a:rPr lang="zh-TW" altLang="en-US" dirty="0">
                <a:solidFill>
                  <a:srgbClr val="FF0000"/>
                </a:solidFill>
              </a:rPr>
              <a:t>封裝</a:t>
            </a:r>
            <a:r>
              <a:rPr lang="en-US" altLang="zh-TW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92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2064-6748-5218-94A1-AD953A69A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CF196-152A-7981-AC10-7DCC93AD4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繼承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56370A7-F7B1-2051-F3D7-3906836BF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34" y="1570802"/>
            <a:ext cx="10910777" cy="439406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繼承指的是在創建一個類</a:t>
            </a:r>
            <a:r>
              <a:rPr lang="en-US" altLang="zh-TW" sz="2200" dirty="0">
                <a:solidFill>
                  <a:schemeClr val="tx1"/>
                </a:solidFill>
              </a:rPr>
              <a:t>(class)</a:t>
            </a:r>
            <a:r>
              <a:rPr lang="zh-TW" altLang="en-US" sz="2200" dirty="0">
                <a:solidFill>
                  <a:schemeClr val="tx1"/>
                </a:solidFill>
              </a:rPr>
              <a:t>時，可以自動獲取其「父類」的屬性和方法，繼承的類稱為「子類」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子類也可以創建屬於自己的屬性和方法。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創建子類的語法是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spcBef>
                <a:spcPts val="1800"/>
              </a:spcBef>
              <a:buNone/>
            </a:pPr>
            <a:endParaRPr lang="en-US" altLang="zh-TW" sz="2200" dirty="0">
              <a:solidFill>
                <a:schemeClr val="tx1"/>
              </a:solidFill>
            </a:endParaRPr>
          </a:p>
          <a:p>
            <a:pPr marL="457200" lvl="1" indent="0" algn="just">
              <a:lnSpc>
                <a:spcPct val="150000"/>
              </a:lnSpc>
              <a:spcBef>
                <a:spcPts val="1800"/>
              </a:spcBef>
              <a:buNone/>
            </a:pPr>
            <a:endParaRPr lang="en-US" altLang="zh-TW" dirty="0">
              <a:solidFill>
                <a:schemeClr val="tx1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874EFC3-4747-5477-28EB-4F0B154AB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170" y="4216768"/>
            <a:ext cx="5193478" cy="63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22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BF3B2-75C6-0B7F-EA79-A5CCDDBDD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A1E3-59E2-7F6F-6263-4A3563BC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課堂練習 </a:t>
            </a:r>
            <a:r>
              <a:rPr lang="en-US" altLang="zh-TW" dirty="0"/>
              <a:t>– </a:t>
            </a:r>
            <a:r>
              <a:rPr lang="zh-TW" altLang="en-US" dirty="0"/>
              <a:t>創建子類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FDF867-478D-CD15-DF43-5273D4FC3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34" y="1570801"/>
            <a:ext cx="10910777" cy="476620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創建一個</a:t>
            </a:r>
            <a:r>
              <a:rPr lang="zh-TW" altLang="en-US" sz="2200" dirty="0">
                <a:solidFill>
                  <a:srgbClr val="FF0000"/>
                </a:solidFill>
              </a:rPr>
              <a:t>「</a:t>
            </a:r>
            <a:r>
              <a:rPr lang="en-US" altLang="zh-TW" sz="2200" dirty="0">
                <a:solidFill>
                  <a:srgbClr val="FF0000"/>
                </a:solidFill>
              </a:rPr>
              <a:t>Dog</a:t>
            </a:r>
            <a:r>
              <a:rPr lang="zh-TW" altLang="en-US" sz="2200" dirty="0">
                <a:solidFill>
                  <a:srgbClr val="FF0000"/>
                </a:solidFill>
              </a:rPr>
              <a:t>」</a:t>
            </a:r>
            <a:r>
              <a:rPr lang="zh-TW" altLang="en-US" sz="2200" dirty="0">
                <a:solidFill>
                  <a:schemeClr val="tx1"/>
                </a:solidFill>
              </a:rPr>
              <a:t>的子類，它繼承父類「</a:t>
            </a:r>
            <a:r>
              <a:rPr lang="en-US" altLang="zh-TW" sz="2200" dirty="0">
                <a:solidFill>
                  <a:srgbClr val="FF0000"/>
                </a:solidFill>
              </a:rPr>
              <a:t>Animal</a:t>
            </a:r>
            <a:r>
              <a:rPr lang="zh-TW" altLang="en-US" sz="2200" dirty="0">
                <a:solidFill>
                  <a:schemeClr val="tx1"/>
                </a:solidFill>
              </a:rPr>
              <a:t>」，並新增一個屬性</a:t>
            </a:r>
            <a:r>
              <a:rPr lang="en-US" altLang="zh-TW" sz="2200" dirty="0">
                <a:solidFill>
                  <a:schemeClr val="tx1"/>
                </a:solidFill>
              </a:rPr>
              <a:t>color</a:t>
            </a:r>
            <a:r>
              <a:rPr lang="zh-TW" altLang="en-US" sz="2200" dirty="0">
                <a:solidFill>
                  <a:schemeClr val="tx1"/>
                </a:solidFill>
              </a:rPr>
              <a:t>和一個方法</a:t>
            </a:r>
            <a:r>
              <a:rPr lang="en-US" altLang="zh-TW" sz="2200" dirty="0">
                <a:solidFill>
                  <a:schemeClr val="tx1"/>
                </a:solidFill>
              </a:rPr>
              <a:t>bark()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在子類的初始化函數</a:t>
            </a:r>
            <a:r>
              <a:rPr lang="en-US" altLang="zh-TW" sz="2200" dirty="0">
                <a:solidFill>
                  <a:schemeClr val="tx1"/>
                </a:solidFill>
              </a:rPr>
              <a:t>(__</a:t>
            </a:r>
            <a:r>
              <a:rPr lang="en-US" altLang="zh-TW" sz="2200" dirty="0" err="1">
                <a:solidFill>
                  <a:schemeClr val="tx1"/>
                </a:solidFill>
              </a:rPr>
              <a:t>init</a:t>
            </a:r>
            <a:r>
              <a:rPr lang="en-US" altLang="zh-TW" sz="2200" dirty="0">
                <a:solidFill>
                  <a:schemeClr val="tx1"/>
                </a:solidFill>
              </a:rPr>
              <a:t>__())</a:t>
            </a:r>
            <a:r>
              <a:rPr lang="zh-TW" altLang="en-US" sz="2200" dirty="0">
                <a:solidFill>
                  <a:schemeClr val="tx1"/>
                </a:solidFill>
              </a:rPr>
              <a:t>中，一般會顯性初始化父類的初始化函數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使用</a:t>
            </a:r>
            <a:r>
              <a:rPr lang="en-US" altLang="zh-TW" sz="2000" dirty="0">
                <a:solidFill>
                  <a:schemeClr val="tx1"/>
                </a:solidFill>
              </a:rPr>
              <a:t>super().__</a:t>
            </a:r>
            <a:r>
              <a:rPr lang="en-US" altLang="zh-TW" sz="2000" dirty="0" err="1">
                <a:solidFill>
                  <a:schemeClr val="tx1"/>
                </a:solidFill>
              </a:rPr>
              <a:t>init</a:t>
            </a:r>
            <a:r>
              <a:rPr lang="en-US" altLang="zh-TW" sz="2000" dirty="0">
                <a:solidFill>
                  <a:schemeClr val="tx1"/>
                </a:solidFill>
              </a:rPr>
              <a:t>__()</a:t>
            </a:r>
            <a:r>
              <a:rPr lang="zh-TW" altLang="en-US" sz="2000" dirty="0">
                <a:solidFill>
                  <a:schemeClr val="tx1"/>
                </a:solidFill>
              </a:rPr>
              <a:t>幫父類進行初始化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子類是否可以使用父類的所有方法和屬性</a:t>
            </a:r>
            <a:r>
              <a:rPr lang="en-US" altLang="zh-TW" sz="2200" dirty="0">
                <a:solidFill>
                  <a:schemeClr val="tx1"/>
                </a:solidFill>
              </a:rPr>
              <a:t>?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不是，如果父類的屬性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方法是</a:t>
            </a:r>
            <a:r>
              <a:rPr lang="en-US" altLang="zh-TW" sz="2000" dirty="0">
                <a:solidFill>
                  <a:schemeClr val="tx1"/>
                </a:solidFill>
              </a:rPr>
              <a:t>private</a:t>
            </a:r>
            <a:r>
              <a:rPr lang="zh-TW" altLang="en-US" sz="2000" dirty="0">
                <a:solidFill>
                  <a:schemeClr val="tx1"/>
                </a:solidFill>
              </a:rPr>
              <a:t>，這時子類並不能訪問這些私有屬性和方法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0ABDAB6-06A5-B010-9E8A-899A3141D4B3}"/>
              </a:ext>
            </a:extLst>
          </p:cNvPr>
          <p:cNvSpPr txBox="1"/>
          <p:nvPr/>
        </p:nvSpPr>
        <p:spPr>
          <a:xfrm>
            <a:off x="988828" y="6248400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詳看</a:t>
            </a:r>
            <a:r>
              <a:rPr lang="en-US" altLang="zh-TW" sz="1800" dirty="0">
                <a:solidFill>
                  <a:srgbClr val="FF0000"/>
                </a:solidFill>
              </a:rPr>
              <a:t>practices/</a:t>
            </a:r>
            <a:r>
              <a:rPr lang="en-US" altLang="zh-TW" sz="1800" dirty="0" err="1">
                <a:solidFill>
                  <a:srgbClr val="FF0000"/>
                </a:solidFill>
              </a:rPr>
              <a:t>oop</a:t>
            </a: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zh-TW" altLang="en-US" dirty="0">
                <a:solidFill>
                  <a:srgbClr val="FF0000"/>
                </a:solidFill>
              </a:rPr>
              <a:t>面向對象</a:t>
            </a:r>
            <a:r>
              <a:rPr lang="en-US" altLang="zh-TW" dirty="0">
                <a:solidFill>
                  <a:srgbClr val="FF0000"/>
                </a:solidFill>
              </a:rPr>
              <a:t>/4_1_</a:t>
            </a:r>
            <a:r>
              <a:rPr lang="zh-TW" altLang="en-US" dirty="0">
                <a:solidFill>
                  <a:srgbClr val="FF0000"/>
                </a:solidFill>
              </a:rPr>
              <a:t>子類繼承</a:t>
            </a:r>
            <a:r>
              <a:rPr lang="en-US" altLang="zh-TW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642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C48F2-30B8-73F9-0BD2-51A7888C2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990E-F6D0-EE42-572A-74C532F03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子類方法重寫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D7EBFD5-859F-CEBD-A568-A5F6BBD0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34" y="1570802"/>
            <a:ext cx="10910777" cy="439406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子類在繼承父類後，可以對父類的已有方法進行「重寫」，即重新定義其函數內容。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即在父類中有一個</a:t>
            </a:r>
            <a:r>
              <a:rPr lang="en-US" altLang="zh-TW" sz="2200" dirty="0">
                <a:solidFill>
                  <a:schemeClr val="tx1"/>
                </a:solidFill>
              </a:rPr>
              <a:t>A</a:t>
            </a:r>
            <a:r>
              <a:rPr lang="zh-TW" altLang="en-US" sz="2200" dirty="0">
                <a:solidFill>
                  <a:schemeClr val="tx1"/>
                </a:solidFill>
              </a:rPr>
              <a:t>方法，子類也可以定義一個</a:t>
            </a:r>
            <a:r>
              <a:rPr lang="en-US" altLang="zh-TW" sz="2200" dirty="0">
                <a:solidFill>
                  <a:schemeClr val="tx1"/>
                </a:solidFill>
              </a:rPr>
              <a:t>A</a:t>
            </a:r>
            <a:r>
              <a:rPr lang="zh-TW" altLang="en-US" sz="2200" dirty="0">
                <a:solidFill>
                  <a:schemeClr val="tx1"/>
                </a:solidFill>
              </a:rPr>
              <a:t>方法，然後重新修改</a:t>
            </a:r>
            <a:r>
              <a:rPr lang="en-US" altLang="zh-TW" sz="2200" dirty="0">
                <a:solidFill>
                  <a:schemeClr val="tx1"/>
                </a:solidFill>
              </a:rPr>
              <a:t>A</a:t>
            </a:r>
            <a:r>
              <a:rPr lang="zh-TW" altLang="en-US" sz="2200" dirty="0">
                <a:solidFill>
                  <a:schemeClr val="tx1"/>
                </a:solidFill>
              </a:rPr>
              <a:t>中的內容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重寫需要保持與父類相同的方法名和參數列表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重寫的好處在於，不管是</a:t>
            </a:r>
            <a:r>
              <a:rPr lang="en-US" altLang="zh-TW" sz="2200" dirty="0">
                <a:solidFill>
                  <a:schemeClr val="tx1"/>
                </a:solidFill>
              </a:rPr>
              <a:t>Dog</a:t>
            </a:r>
            <a:r>
              <a:rPr lang="zh-TW" altLang="en-US" sz="2200" dirty="0">
                <a:solidFill>
                  <a:schemeClr val="tx1"/>
                </a:solidFill>
              </a:rPr>
              <a:t>還是</a:t>
            </a:r>
            <a:r>
              <a:rPr lang="en-US" altLang="zh-TW" sz="2200" dirty="0">
                <a:solidFill>
                  <a:schemeClr val="tx1"/>
                </a:solidFill>
              </a:rPr>
              <a:t>Cat</a:t>
            </a:r>
            <a:r>
              <a:rPr lang="zh-TW" altLang="en-US" sz="2200" dirty="0">
                <a:solidFill>
                  <a:schemeClr val="tx1"/>
                </a:solidFill>
              </a:rPr>
              <a:t>，只要是</a:t>
            </a:r>
            <a:r>
              <a:rPr lang="en-US" altLang="zh-TW" sz="2200" dirty="0">
                <a:solidFill>
                  <a:schemeClr val="tx1"/>
                </a:solidFill>
              </a:rPr>
              <a:t>Animal</a:t>
            </a:r>
            <a:r>
              <a:rPr lang="zh-TW" altLang="en-US" sz="2200" dirty="0">
                <a:solidFill>
                  <a:schemeClr val="tx1"/>
                </a:solidFill>
              </a:rPr>
              <a:t>就可以調用相同名稱的函數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4695EA6-77ED-FA71-2264-79B03242F75F}"/>
              </a:ext>
            </a:extLst>
          </p:cNvPr>
          <p:cNvSpPr txBox="1"/>
          <p:nvPr/>
        </p:nvSpPr>
        <p:spPr>
          <a:xfrm>
            <a:off x="988828" y="6248400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詳看</a:t>
            </a:r>
            <a:r>
              <a:rPr lang="en-US" altLang="zh-TW" sz="1800" dirty="0">
                <a:solidFill>
                  <a:srgbClr val="FF0000"/>
                </a:solidFill>
              </a:rPr>
              <a:t>practices/</a:t>
            </a:r>
            <a:r>
              <a:rPr lang="en-US" altLang="zh-TW" sz="1800" dirty="0" err="1">
                <a:solidFill>
                  <a:srgbClr val="FF0000"/>
                </a:solidFill>
              </a:rPr>
              <a:t>oop</a:t>
            </a: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zh-TW" altLang="en-US" dirty="0">
                <a:solidFill>
                  <a:srgbClr val="FF0000"/>
                </a:solidFill>
              </a:rPr>
              <a:t>面向對象</a:t>
            </a:r>
            <a:r>
              <a:rPr lang="en-US" altLang="zh-TW" dirty="0">
                <a:solidFill>
                  <a:srgbClr val="FF0000"/>
                </a:solidFill>
              </a:rPr>
              <a:t>/4_2_</a:t>
            </a:r>
            <a:r>
              <a:rPr lang="zh-TW" altLang="en-US" dirty="0">
                <a:solidFill>
                  <a:srgbClr val="FF0000"/>
                </a:solidFill>
              </a:rPr>
              <a:t>重寫</a:t>
            </a:r>
            <a:r>
              <a:rPr lang="en-US" altLang="zh-TW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383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4B00-E735-A04D-93D3-50961D5D5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B69EC-8FB6-4D55-2F45-A9724E42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課堂練習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097EF2A-FD6A-07E9-9461-A2568086C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34" y="1570802"/>
            <a:ext cx="10910777" cy="439406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創建一個貓</a:t>
            </a:r>
            <a:r>
              <a:rPr lang="en-US" altLang="zh-TW" sz="2200" dirty="0">
                <a:solidFill>
                  <a:schemeClr val="tx1"/>
                </a:solidFill>
              </a:rPr>
              <a:t>Cat</a:t>
            </a:r>
            <a:r>
              <a:rPr lang="zh-TW" altLang="en-US" sz="2200" dirty="0">
                <a:solidFill>
                  <a:schemeClr val="tx1"/>
                </a:solidFill>
              </a:rPr>
              <a:t>的類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繼承</a:t>
            </a:r>
            <a:r>
              <a:rPr lang="en-US" altLang="zh-TW" sz="2000" dirty="0">
                <a:solidFill>
                  <a:schemeClr val="tx1"/>
                </a:solidFill>
              </a:rPr>
              <a:t>Animal</a:t>
            </a:r>
            <a:r>
              <a:rPr lang="zh-TW" altLang="en-US" sz="2000" dirty="0">
                <a:solidFill>
                  <a:schemeClr val="tx1"/>
                </a:solidFill>
              </a:rPr>
              <a:t>類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和</a:t>
            </a:r>
            <a:r>
              <a:rPr lang="en-US" altLang="zh-TW" sz="2000" dirty="0">
                <a:solidFill>
                  <a:schemeClr val="tx1"/>
                </a:solidFill>
              </a:rPr>
              <a:t>Dog</a:t>
            </a:r>
            <a:r>
              <a:rPr lang="zh-TW" altLang="en-US" sz="2000" dirty="0">
                <a:solidFill>
                  <a:schemeClr val="tx1"/>
                </a:solidFill>
              </a:rPr>
              <a:t>一樣要新增一個</a:t>
            </a:r>
            <a:r>
              <a:rPr lang="en-US" altLang="zh-TW" sz="2000" dirty="0">
                <a:solidFill>
                  <a:schemeClr val="tx1"/>
                </a:solidFill>
              </a:rPr>
              <a:t>color</a:t>
            </a:r>
            <a:r>
              <a:rPr lang="zh-TW" altLang="en-US" sz="2000" dirty="0">
                <a:solidFill>
                  <a:schemeClr val="tx1"/>
                </a:solidFill>
              </a:rPr>
              <a:t>屬性和新增一個</a:t>
            </a:r>
            <a:r>
              <a:rPr lang="en-US" altLang="zh-TW" sz="2000" dirty="0">
                <a:solidFill>
                  <a:schemeClr val="tx1"/>
                </a:solidFill>
              </a:rPr>
              <a:t>mew()</a:t>
            </a:r>
            <a:r>
              <a:rPr lang="zh-TW" altLang="en-US" sz="2000" dirty="0">
                <a:solidFill>
                  <a:schemeClr val="tx1"/>
                </a:solidFill>
              </a:rPr>
              <a:t>的函數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重寫</a:t>
            </a:r>
            <a:r>
              <a:rPr lang="en-US" altLang="zh-TW" sz="2000" dirty="0">
                <a:solidFill>
                  <a:schemeClr val="tx1"/>
                </a:solidFill>
              </a:rPr>
              <a:t>run()</a:t>
            </a:r>
            <a:r>
              <a:rPr lang="zh-TW" altLang="en-US" sz="2000" dirty="0">
                <a:solidFill>
                  <a:schemeClr val="tx1"/>
                </a:solidFill>
              </a:rPr>
              <a:t>函數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CAC2A5A-810B-3470-F607-C3F3A5FC1670}"/>
              </a:ext>
            </a:extLst>
          </p:cNvPr>
          <p:cNvSpPr txBox="1"/>
          <p:nvPr/>
        </p:nvSpPr>
        <p:spPr>
          <a:xfrm>
            <a:off x="988828" y="6248400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詳看</a:t>
            </a:r>
            <a:r>
              <a:rPr lang="en-US" altLang="zh-TW" sz="1800" dirty="0">
                <a:solidFill>
                  <a:srgbClr val="FF0000"/>
                </a:solidFill>
              </a:rPr>
              <a:t>practices/</a:t>
            </a:r>
            <a:r>
              <a:rPr lang="en-US" altLang="zh-TW" sz="1800" dirty="0" err="1">
                <a:solidFill>
                  <a:srgbClr val="FF0000"/>
                </a:solidFill>
              </a:rPr>
              <a:t>oop</a:t>
            </a: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zh-TW" altLang="en-US" dirty="0">
                <a:solidFill>
                  <a:srgbClr val="FF0000"/>
                </a:solidFill>
              </a:rPr>
              <a:t>面向對象</a:t>
            </a:r>
            <a:r>
              <a:rPr lang="en-US" altLang="zh-TW" dirty="0">
                <a:solidFill>
                  <a:srgbClr val="FF0000"/>
                </a:solidFill>
              </a:rPr>
              <a:t>/4_3_</a:t>
            </a:r>
            <a:r>
              <a:rPr lang="zh-TW" altLang="en-US" dirty="0">
                <a:solidFill>
                  <a:srgbClr val="FF0000"/>
                </a:solidFill>
              </a:rPr>
              <a:t>練習</a:t>
            </a:r>
            <a:r>
              <a:rPr lang="en-US" altLang="zh-TW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761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8904428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">
  <a:themeElements>
    <a:clrScheme name="PGO-JIGSAW PUZZLE">
      <a:dk1>
        <a:sysClr val="windowText" lastClr="000000"/>
      </a:dk1>
      <a:lt1>
        <a:sysClr val="window" lastClr="FFFFFF"/>
      </a:lt1>
      <a:dk2>
        <a:srgbClr val="20D38F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多面向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2510</TotalTime>
  <Words>955</Words>
  <Application>Microsoft Office PowerPoint</Application>
  <PresentationFormat>寬螢幕</PresentationFormat>
  <Paragraphs>87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Arial</vt:lpstr>
      <vt:lpstr>Calibri</vt:lpstr>
      <vt:lpstr>Open Sans Semibold</vt:lpstr>
      <vt:lpstr>Trebuchet MS</vt:lpstr>
      <vt:lpstr>Wingdings 3</vt:lpstr>
      <vt:lpstr>Light</vt:lpstr>
      <vt:lpstr>多面向</vt:lpstr>
      <vt:lpstr>Python基礎知識補充-2 面向對象編程</vt:lpstr>
      <vt:lpstr>本篇包括</vt:lpstr>
      <vt:lpstr>面向對象編程</vt:lpstr>
      <vt:lpstr>類與對象的關係</vt:lpstr>
      <vt:lpstr>類的一般格式</vt:lpstr>
      <vt:lpstr>課堂練習1 – 創建class</vt:lpstr>
      <vt:lpstr>課堂練習 -創建object</vt:lpstr>
      <vt:lpstr>課堂小練習</vt:lpstr>
      <vt:lpstr>公開和私有的屬性/方法</vt:lpstr>
      <vt:lpstr>封裝</vt:lpstr>
      <vt:lpstr>繼承</vt:lpstr>
      <vt:lpstr>課堂練習 – 創建子類</vt:lpstr>
      <vt:lpstr>子類方法重寫</vt:lpstr>
      <vt:lpstr>課堂練習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microsome presentation</dc:title>
  <dc:creator/>
  <dc:description/>
  <cp:lastModifiedBy>勇 趙</cp:lastModifiedBy>
  <cp:revision>656</cp:revision>
  <dcterms:created xsi:type="dcterms:W3CDTF">2021-09-29T10:33:58Z</dcterms:created>
  <dcterms:modified xsi:type="dcterms:W3CDTF">2026-05-04T15:16:53Z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DAEE3358A3B04398A7E2A29EEAFCE4E9</vt:lpwstr>
  </property>
  <property fmtid="{D5CDD505-2E9C-101B-9397-08002B2CF9AE}" pid="3" name="KSOProductBuildVer">
    <vt:lpwstr>2052-11.1.0.10938</vt:lpwstr>
  </property>
</Properties>
</file>