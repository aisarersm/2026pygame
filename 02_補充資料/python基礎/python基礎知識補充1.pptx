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9" r:id="rId2"/>
  </p:sldMasterIdLst>
  <p:notesMasterIdLst>
    <p:notesMasterId r:id="rId15"/>
  </p:notesMasterIdLst>
  <p:sldIdLst>
    <p:sldId id="335" r:id="rId3"/>
    <p:sldId id="351" r:id="rId4"/>
    <p:sldId id="384" r:id="rId5"/>
    <p:sldId id="405" r:id="rId6"/>
    <p:sldId id="406" r:id="rId7"/>
    <p:sldId id="409" r:id="rId8"/>
    <p:sldId id="407" r:id="rId9"/>
    <p:sldId id="408" r:id="rId10"/>
    <p:sldId id="410" r:id="rId11"/>
    <p:sldId id="411" r:id="rId12"/>
    <p:sldId id="412" r:id="rId13"/>
    <p:sldId id="33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7B"/>
    <a:srgbClr val="013D9A"/>
    <a:srgbClr val="EE3F53"/>
    <a:srgbClr val="B9BFCA"/>
    <a:srgbClr val="66C2CD"/>
    <a:srgbClr val="D290E4"/>
    <a:srgbClr val="71BEF2"/>
    <a:srgbClr val="DBAB79"/>
    <a:srgbClr val="A8CC8C"/>
    <a:srgbClr val="E88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1" autoAdjust="0"/>
    <p:restoredTop sz="93277" autoAdjust="0"/>
  </p:normalViewPr>
  <p:slideViewPr>
    <p:cSldViewPr snapToGrid="0" showGuides="1">
      <p:cViewPr varScale="1">
        <p:scale>
          <a:sx n="60" d="100"/>
          <a:sy n="60" d="100"/>
        </p:scale>
        <p:origin x="81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89E0-D38C-3A6A-1F75-7161368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932F-5262-7AD0-AA01-5D20C5B0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1F5A-4404-889E-A3E8-2457DFEFD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D8E-31C6-5041-736A-C13A80DD9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22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3CAA-B392-BE20-8384-DD915C7B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3251A-4491-AD9C-E614-2219A1A33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39880-73CC-9278-DD8F-DD8CAB4C3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25D6C-8060-F732-8C9B-818797776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78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1CE7-27C3-2CBA-0F12-8D7195D2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41EC5-45CF-8288-4015-FF8EC65A7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E1160-2159-B4AD-B7E0-E5A97B3B5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36D29-0232-159F-B64F-09EB715CE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80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1E78C-1159-84C1-A742-A5B6F189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A04FA-87F1-3AD9-B987-36E05FF38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D55A7-BE75-126A-E0D5-784873538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4CD29-A284-40BA-8285-5634B1442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66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07F5-CA20-71BE-38E5-47DA22F2C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0C0BB-BD27-5E20-910C-C3C23194B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39FB9-9D30-92EF-E45E-E98721028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52488-EB3F-976B-CAF8-F50DC00A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97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D282-E4D2-EC4B-6CC5-3AB71713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925C0-1C88-AE9B-310E-4E3F691D7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9B8EC-05A7-87C0-A2D8-9D18DD621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3052-3D39-6287-194A-7290CF878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33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DC66-40FA-668D-940E-A9BB4DF0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47AF3-F226-6C6E-99E0-9D7E5F476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F7939-F4BF-149A-3A98-35680B74B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4B54D-B758-5677-1F44-7EA78F780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53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549A4-CF45-57C8-BCDD-8A812C7B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9F082-49DB-EC88-DA02-E518AE704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BEA37-0787-9A55-FE18-9DFA22FD4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24DFE-767E-A722-2AE8-CDB4C5F17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53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754C-C1CD-9B35-01B0-B84BE2E5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51F33-04C1-CE8F-A746-C0C22E359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33D23-EDB8-FD53-78C8-1ED0A2F18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ECA79-0418-0A95-C088-9EF2F5053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10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6172-1677-C9BC-04DB-2F3B4C7D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DBF8F-489F-ECA1-B81E-FC8A27740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0705F-2361-5365-2429-1A6707F0F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C957B-C1B6-2811-4686-222A01308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21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38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1063"/>
            <a:ext cx="9144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8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7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2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72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1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24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5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9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TW" altLang="en-US" dirty="0"/>
              <a:t>基礎知識補充</a:t>
            </a:r>
            <a:r>
              <a:rPr lang="en-US" altLang="zh-TW" dirty="0"/>
              <a:t>-1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002-3F4F-F065-F7DE-780095A8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B0E2-FF48-32F6-8C2A-C70FD9C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本篇包括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16193E-3215-3D49-E1F1-632D4315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變量與數據類型</a:t>
            </a:r>
            <a:r>
              <a:rPr lang="en-US" altLang="zh-TW" sz="2200" dirty="0">
                <a:solidFill>
                  <a:schemeClr val="tx1"/>
                </a:solidFill>
              </a:rPr>
              <a:t>: int/float/bool/str/list/tuple</a:t>
            </a: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循環和條件判斷</a:t>
            </a:r>
            <a:r>
              <a:rPr lang="en-US" altLang="zh-TW" sz="2200" dirty="0">
                <a:solidFill>
                  <a:schemeClr val="tx1"/>
                </a:solidFill>
              </a:rPr>
              <a:t>: For loop,  while-break, if-</a:t>
            </a:r>
            <a:r>
              <a:rPr lang="en-US" altLang="zh-TW" sz="2200" dirty="0" err="1">
                <a:solidFill>
                  <a:schemeClr val="tx1"/>
                </a:solidFill>
              </a:rPr>
              <a:t>elif</a:t>
            </a:r>
            <a:r>
              <a:rPr lang="en-US" altLang="zh-TW" sz="2200" dirty="0">
                <a:solidFill>
                  <a:schemeClr val="tx1"/>
                </a:solidFill>
              </a:rPr>
              <a:t>-else</a:t>
            </a: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函數定義和使用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其他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import </a:t>
            </a:r>
            <a:r>
              <a:rPr lang="zh-TW" altLang="en-US" sz="2000" dirty="0">
                <a:solidFill>
                  <a:schemeClr val="tx1"/>
                </a:solidFill>
              </a:rPr>
              <a:t>其他模塊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一般的程序入口</a:t>
            </a:r>
            <a:r>
              <a:rPr lang="en-US" altLang="zh-TW" sz="2000" dirty="0">
                <a:solidFill>
                  <a:schemeClr val="tx1"/>
                </a:solidFill>
              </a:rPr>
              <a:t>if __name__ == '__main__':</a:t>
            </a:r>
          </a:p>
          <a:p>
            <a:pPr lvl="1" algn="just">
              <a:spcBef>
                <a:spcPts val="1800"/>
              </a:spcBef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09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AC8F-99A4-C9E8-80DB-013E4805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FD09-FEAC-5CD7-5050-E4468AF2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變量與數據類型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888A989-E857-CEBA-1143-9E76D7D5A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5890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Python</a:t>
            </a:r>
            <a:r>
              <a:rPr lang="zh-TW" altLang="en-US" sz="2200" dirty="0">
                <a:solidFill>
                  <a:schemeClr val="tx1"/>
                </a:solidFill>
              </a:rPr>
              <a:t>中基本數據類型包括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int</a:t>
            </a:r>
            <a:r>
              <a:rPr lang="zh-TW" altLang="en-US" sz="2000" dirty="0">
                <a:solidFill>
                  <a:schemeClr val="tx1"/>
                </a:solidFill>
              </a:rPr>
              <a:t>，整數。例如</a:t>
            </a:r>
            <a:r>
              <a:rPr lang="en-US" altLang="zh-TW" sz="2000" dirty="0">
                <a:solidFill>
                  <a:schemeClr val="tx1"/>
                </a:solidFill>
              </a:rPr>
              <a:t>1, 2, 100, -120……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float</a:t>
            </a:r>
            <a:r>
              <a:rPr lang="zh-TW" altLang="en-US" sz="2000" dirty="0">
                <a:solidFill>
                  <a:schemeClr val="tx1"/>
                </a:solidFill>
              </a:rPr>
              <a:t>，浮點數。例如</a:t>
            </a:r>
            <a:r>
              <a:rPr lang="en-US" altLang="zh-TW" sz="2000" dirty="0">
                <a:solidFill>
                  <a:schemeClr val="tx1"/>
                </a:solidFill>
              </a:rPr>
              <a:t>2.0, 3.14, -0.01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bool</a:t>
            </a:r>
            <a:r>
              <a:rPr lang="zh-TW" altLang="en-US" sz="2000" dirty="0">
                <a:solidFill>
                  <a:schemeClr val="tx1"/>
                </a:solidFill>
              </a:rPr>
              <a:t>，布爾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布林。</a:t>
            </a:r>
            <a:r>
              <a:rPr lang="en-US" altLang="zh-TW" sz="2000" dirty="0">
                <a:solidFill>
                  <a:schemeClr val="tx1"/>
                </a:solidFill>
              </a:rPr>
              <a:t>True</a:t>
            </a:r>
            <a:r>
              <a:rPr lang="zh-TW" altLang="en-US" sz="2000" dirty="0">
                <a:solidFill>
                  <a:schemeClr val="tx1"/>
                </a:solidFill>
              </a:rPr>
              <a:t>和</a:t>
            </a:r>
            <a:r>
              <a:rPr lang="en-US" altLang="zh-TW" sz="2000" dirty="0">
                <a:solidFill>
                  <a:schemeClr val="tx1"/>
                </a:solidFill>
              </a:rPr>
              <a:t>False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str</a:t>
            </a:r>
            <a:r>
              <a:rPr lang="zh-TW" altLang="en-US" sz="2000" dirty="0">
                <a:solidFill>
                  <a:schemeClr val="tx1"/>
                </a:solidFill>
              </a:rPr>
              <a:t>，字符串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用雙引號</a:t>
            </a:r>
            <a:r>
              <a:rPr lang="en-US" altLang="zh-TW" sz="1800" dirty="0">
                <a:solidFill>
                  <a:schemeClr val="tx1"/>
                </a:solidFill>
              </a:rPr>
              <a:t>/</a:t>
            </a:r>
            <a:r>
              <a:rPr lang="zh-TW" altLang="en-US" sz="1800" dirty="0">
                <a:solidFill>
                  <a:schemeClr val="tx1"/>
                </a:solidFill>
              </a:rPr>
              <a:t>單引單包著的，如</a:t>
            </a:r>
            <a:r>
              <a:rPr lang="en-US" altLang="zh-TW" sz="1800" dirty="0">
                <a:solidFill>
                  <a:schemeClr val="tx1"/>
                </a:solidFill>
              </a:rPr>
              <a:t>”Hello”/ “I am a person” / ‘a’</a:t>
            </a:r>
          </a:p>
          <a:p>
            <a:pPr lvl="2" algn="just">
              <a:spcBef>
                <a:spcPts val="1800"/>
              </a:spcBef>
            </a:pPr>
            <a:r>
              <a:rPr lang="en-US" altLang="zh-TW" sz="1800" dirty="0">
                <a:solidFill>
                  <a:schemeClr val="tx1"/>
                </a:solidFill>
              </a:rPr>
              <a:t>F-string</a:t>
            </a:r>
            <a:r>
              <a:rPr lang="zh-TW" altLang="en-US" sz="1800" dirty="0">
                <a:solidFill>
                  <a:schemeClr val="tx1"/>
                </a:solidFill>
              </a:rPr>
              <a:t>，即把變量加入到</a:t>
            </a:r>
            <a:r>
              <a:rPr lang="en-US" altLang="zh-TW" sz="1800" dirty="0">
                <a:solidFill>
                  <a:schemeClr val="tx1"/>
                </a:solidFill>
              </a:rPr>
              <a:t>string</a:t>
            </a:r>
            <a:r>
              <a:rPr lang="zh-TW" altLang="en-US" sz="1800" dirty="0">
                <a:solidFill>
                  <a:schemeClr val="tx1"/>
                </a:solidFill>
              </a:rPr>
              <a:t>中的字符串，格式為</a:t>
            </a:r>
            <a:r>
              <a:rPr lang="en-US" altLang="zh-TW" sz="1800" dirty="0">
                <a:solidFill>
                  <a:schemeClr val="tx1"/>
                </a:solidFill>
              </a:rPr>
              <a:t>f”…{}…{}”</a:t>
            </a:r>
            <a:r>
              <a:rPr lang="zh-TW" altLang="en-US" sz="1800" dirty="0">
                <a:solidFill>
                  <a:schemeClr val="tx1"/>
                </a:solidFill>
              </a:rPr>
              <a:t>，大括號是變量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1800">
                <a:solidFill>
                  <a:schemeClr val="tx1"/>
                </a:solidFill>
              </a:rPr>
              <a:t>字符串格式化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endParaRPr lang="en-US" altLang="zh-TW" sz="1800" dirty="0">
              <a:solidFill>
                <a:schemeClr val="tx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2A0AA02-5C0C-BEEB-2424-5DD07B50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846"/>
          <a:stretch/>
        </p:blipFill>
        <p:spPr>
          <a:xfrm>
            <a:off x="6132722" y="4998710"/>
            <a:ext cx="5217289" cy="10668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5469A2D-1DD4-23A1-07CF-627AA745273B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1.py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446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E79C-E9ED-AF69-4770-BD27274D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48CE-CD41-6856-7689-AA7A8440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變量與數據類型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35677B9-2E64-F11C-5603-2F641B292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9684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Python</a:t>
            </a:r>
            <a:r>
              <a:rPr lang="zh-TW" altLang="en-US" sz="2200" dirty="0">
                <a:solidFill>
                  <a:schemeClr val="tx1"/>
                </a:solidFill>
              </a:rPr>
              <a:t>中基本數據類型包括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  <a:endParaRPr lang="en-US" altLang="zh-TW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列表</a:t>
            </a:r>
            <a:r>
              <a:rPr lang="en-US" altLang="zh-TW" sz="2000" dirty="0">
                <a:solidFill>
                  <a:schemeClr val="tx1"/>
                </a:solidFill>
              </a:rPr>
              <a:t>[]: </a:t>
            </a:r>
            <a:r>
              <a:rPr lang="zh-TW" altLang="en-US" sz="2000" dirty="0">
                <a:solidFill>
                  <a:schemeClr val="tx1"/>
                </a:solidFill>
              </a:rPr>
              <a:t>是一種</a:t>
            </a:r>
            <a:r>
              <a:rPr lang="zh-TW" altLang="en-US" sz="2000" b="1" dirty="0">
                <a:solidFill>
                  <a:schemeClr val="tx1"/>
                </a:solidFill>
              </a:rPr>
              <a:t>有序且可變</a:t>
            </a:r>
            <a:r>
              <a:rPr lang="zh-TW" altLang="en-US" sz="2000" dirty="0">
                <a:solidFill>
                  <a:schemeClr val="tx1"/>
                </a:solidFill>
              </a:rPr>
              <a:t>的容器，可以存儲任意類型的元素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添加元素</a:t>
            </a:r>
            <a:r>
              <a:rPr lang="en-US" altLang="zh-TW" sz="1800" dirty="0">
                <a:solidFill>
                  <a:schemeClr val="tx1"/>
                </a:solidFill>
              </a:rPr>
              <a:t>: append(obj)</a:t>
            </a: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通過索引查詢內容</a:t>
            </a:r>
            <a:r>
              <a:rPr lang="en-US" altLang="zh-TW" sz="1800" dirty="0">
                <a:solidFill>
                  <a:schemeClr val="tx1"/>
                </a:solidFill>
              </a:rPr>
              <a:t>: list1[0], list[1],</a:t>
            </a:r>
            <a:r>
              <a:rPr lang="zh-TW" altLang="en-US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list[-1]……</a:t>
            </a: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可變性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插入指定位置</a:t>
            </a:r>
            <a:r>
              <a:rPr lang="en-US" altLang="zh-TW" sz="1800" dirty="0">
                <a:solidFill>
                  <a:schemeClr val="tx1"/>
                </a:solidFill>
              </a:rPr>
              <a:t>: insert(</a:t>
            </a:r>
            <a:r>
              <a:rPr lang="en-US" altLang="zh-TW" sz="1800" dirty="0" err="1">
                <a:solidFill>
                  <a:schemeClr val="tx1"/>
                </a:solidFill>
              </a:rPr>
              <a:t>i</a:t>
            </a:r>
            <a:r>
              <a:rPr lang="en-US" altLang="zh-TW" sz="1800" dirty="0">
                <a:solidFill>
                  <a:schemeClr val="tx1"/>
                </a:solidFill>
              </a:rPr>
              <a:t>, obj)</a:t>
            </a: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刪除指定索引的內容</a:t>
            </a:r>
            <a:r>
              <a:rPr lang="en-US" altLang="zh-TW" sz="1800" dirty="0">
                <a:solidFill>
                  <a:schemeClr val="tx1"/>
                </a:solidFill>
              </a:rPr>
              <a:t>: pop(</a:t>
            </a:r>
            <a:r>
              <a:rPr lang="en-US" altLang="zh-TW" sz="1800" dirty="0" err="1">
                <a:solidFill>
                  <a:schemeClr val="tx1"/>
                </a:solidFill>
              </a:rPr>
              <a:t>i</a:t>
            </a:r>
            <a:r>
              <a:rPr lang="en-US" altLang="zh-TW" sz="1800" dirty="0">
                <a:solidFill>
                  <a:schemeClr val="tx1"/>
                </a:solidFill>
              </a:rPr>
              <a:t>)</a:t>
            </a: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刪除符合內容的內容</a:t>
            </a:r>
            <a:r>
              <a:rPr lang="en-US" altLang="zh-TW" sz="1800" dirty="0">
                <a:solidFill>
                  <a:schemeClr val="tx1"/>
                </a:solidFill>
              </a:rPr>
              <a:t>: remove(obj)</a:t>
            </a: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其他</a:t>
            </a:r>
            <a:r>
              <a:rPr lang="en-US" altLang="zh-TW" sz="1800" dirty="0">
                <a:solidFill>
                  <a:schemeClr val="tx1"/>
                </a:solidFill>
              </a:rPr>
              <a:t>: </a:t>
            </a:r>
            <a:r>
              <a:rPr lang="zh-TW" altLang="en-US" sz="1800" dirty="0">
                <a:solidFill>
                  <a:schemeClr val="tx1"/>
                </a:solidFill>
              </a:rPr>
              <a:t>如獲取列表元素的個數</a:t>
            </a:r>
            <a:r>
              <a:rPr lang="en-US" altLang="zh-TW" sz="1800" dirty="0" err="1">
                <a:solidFill>
                  <a:schemeClr val="tx1"/>
                </a:solidFill>
              </a:rPr>
              <a:t>len</a:t>
            </a:r>
            <a:r>
              <a:rPr lang="en-US" altLang="zh-TW" sz="18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5698E8-AB7C-FCCE-78EA-DBD824C4FDC6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1.py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51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63F26-41A3-FE13-D78A-F843453B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3739-4C77-B7FB-FEF5-AFF4FE029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變量與數據類型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D293D0D-3626-677A-93FE-6DEDC56A6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Python</a:t>
            </a:r>
            <a:r>
              <a:rPr lang="zh-TW" altLang="en-US" sz="2200" dirty="0">
                <a:solidFill>
                  <a:schemeClr val="tx1"/>
                </a:solidFill>
              </a:rPr>
              <a:t>中基本數據類型包括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  <a:endParaRPr lang="en-US" altLang="zh-TW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元組</a:t>
            </a:r>
            <a:r>
              <a:rPr lang="en-US" altLang="zh-TW" sz="2000" dirty="0">
                <a:solidFill>
                  <a:schemeClr val="tx1"/>
                </a:solidFill>
              </a:rPr>
              <a:t>(): </a:t>
            </a:r>
            <a:r>
              <a:rPr lang="zh-TW" altLang="en-US" sz="2000" dirty="0">
                <a:solidFill>
                  <a:schemeClr val="tx1"/>
                </a:solidFill>
              </a:rPr>
              <a:t>是一種</a:t>
            </a:r>
            <a:r>
              <a:rPr lang="zh-TW" altLang="en-US" sz="2000" b="1" dirty="0">
                <a:solidFill>
                  <a:schemeClr val="tx1"/>
                </a:solidFill>
              </a:rPr>
              <a:t>有序且不可變</a:t>
            </a:r>
            <a:r>
              <a:rPr lang="zh-TW" altLang="en-US" sz="2000" dirty="0">
                <a:solidFill>
                  <a:schemeClr val="tx1"/>
                </a:solidFill>
              </a:rPr>
              <a:t>的容器類型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不可添加元素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不可改變內容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可以通過索引查看內容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其他</a:t>
            </a:r>
            <a:r>
              <a:rPr lang="en-US" altLang="zh-TW" sz="1800" dirty="0">
                <a:solidFill>
                  <a:schemeClr val="tx1"/>
                </a:solidFill>
              </a:rPr>
              <a:t>: </a:t>
            </a:r>
            <a:r>
              <a:rPr lang="zh-TW" altLang="en-US" sz="1800" dirty="0">
                <a:solidFill>
                  <a:schemeClr val="tx1"/>
                </a:solidFill>
              </a:rPr>
              <a:t>解包操作</a:t>
            </a:r>
            <a:endParaRPr lang="en-US" altLang="zh-TW" sz="18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0DAFBCF-BDEB-E61F-2436-394EE4DD2FA1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1.py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41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55E7-8A62-46E5-E8BB-29A1E013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8D95-8300-392C-917B-A82805B3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循環和條件判斷</a:t>
            </a:r>
            <a:r>
              <a:rPr lang="en-US" altLang="zh-TW" dirty="0"/>
              <a:t> if-</a:t>
            </a:r>
            <a:r>
              <a:rPr lang="en-US" altLang="zh-TW" dirty="0" err="1"/>
              <a:t>elif</a:t>
            </a:r>
            <a:r>
              <a:rPr lang="en-US" altLang="zh-TW" dirty="0"/>
              <a:t>-else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CC13F-65A5-05AC-7CB6-59E9419F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if-</a:t>
            </a:r>
            <a:r>
              <a:rPr lang="en-US" altLang="zh-TW" sz="2200" dirty="0" err="1">
                <a:solidFill>
                  <a:schemeClr val="tx1"/>
                </a:solidFill>
              </a:rPr>
              <a:t>elif</a:t>
            </a:r>
            <a:r>
              <a:rPr lang="en-US" altLang="zh-TW" sz="2200" dirty="0">
                <a:solidFill>
                  <a:schemeClr val="tx1"/>
                </a:solidFill>
              </a:rPr>
              <a:t>-else </a:t>
            </a:r>
            <a:r>
              <a:rPr lang="zh-TW" altLang="en-US" sz="2200" dirty="0">
                <a:solidFill>
                  <a:schemeClr val="tx1"/>
                </a:solidFill>
              </a:rPr>
              <a:t>是 </a:t>
            </a:r>
            <a:r>
              <a:rPr lang="en-US" altLang="zh-TW" sz="2200" dirty="0">
                <a:solidFill>
                  <a:schemeClr val="tx1"/>
                </a:solidFill>
              </a:rPr>
              <a:t>Python </a:t>
            </a:r>
            <a:r>
              <a:rPr lang="zh-TW" altLang="en-US" sz="2200" dirty="0">
                <a:solidFill>
                  <a:schemeClr val="tx1"/>
                </a:solidFill>
              </a:rPr>
              <a:t>實現多條件分支控制的核心結構，通過逐層驗證條件運算式的真假（</a:t>
            </a:r>
            <a:r>
              <a:rPr lang="en-US" altLang="zh-TW" sz="2200" dirty="0">
                <a:solidFill>
                  <a:schemeClr val="tx1"/>
                </a:solidFill>
              </a:rPr>
              <a:t>True/False</a:t>
            </a:r>
            <a:r>
              <a:rPr lang="zh-TW" altLang="en-US" sz="2200" dirty="0">
                <a:solidFill>
                  <a:schemeClr val="tx1"/>
                </a:solidFill>
              </a:rPr>
              <a:t>）決定執行哪個代碼塊。其語法結構如下：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6E446DD-E6EF-5DE9-D57A-67AE139E0693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1.py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76E704B-DB06-C79A-A4CB-00C2BE4C5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975" y="3016472"/>
            <a:ext cx="49720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32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5C39-8945-AE41-CFA7-878011AC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0ED2-5145-876F-097E-A23FD77E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循環和條件判斷</a:t>
            </a:r>
            <a:r>
              <a:rPr lang="en-US" altLang="zh-TW" dirty="0"/>
              <a:t> for-loop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05647A7-D6F6-46DD-95DD-AE3CEA465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For</a:t>
            </a:r>
            <a:r>
              <a:rPr lang="zh-TW" altLang="en-US" sz="2200" dirty="0">
                <a:solidFill>
                  <a:schemeClr val="tx1"/>
                </a:solidFill>
              </a:rPr>
              <a:t>循環用於遍歷可迭代對象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如</a:t>
            </a:r>
            <a:r>
              <a:rPr lang="en-US" altLang="zh-TW" sz="2200" dirty="0">
                <a:solidFill>
                  <a:schemeClr val="tx1"/>
                </a:solidFill>
              </a:rPr>
              <a:t>list</a:t>
            </a:r>
            <a:r>
              <a:rPr lang="zh-TW" altLang="en-US" sz="2200" dirty="0">
                <a:solidFill>
                  <a:schemeClr val="tx1"/>
                </a:solidFill>
              </a:rPr>
              <a:t>，</a:t>
            </a:r>
            <a:r>
              <a:rPr lang="en-US" altLang="zh-TW" sz="2200" dirty="0">
                <a:solidFill>
                  <a:schemeClr val="tx1"/>
                </a:solidFill>
              </a:rPr>
              <a:t>tuple)</a:t>
            </a: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語法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例如</a:t>
            </a:r>
            <a:r>
              <a:rPr lang="en-US" altLang="zh-TW" sz="2200" dirty="0">
                <a:solidFill>
                  <a:schemeClr val="tx1"/>
                </a:solidFill>
              </a:rPr>
              <a:t>: </a:t>
            </a:r>
            <a:r>
              <a:rPr lang="zh-TW" altLang="en-US" sz="2200" dirty="0">
                <a:solidFill>
                  <a:schemeClr val="tx1"/>
                </a:solidFill>
              </a:rPr>
              <a:t>遍歷列表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直接遍歷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索引遍歷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4FD17A6-7A04-4A01-350A-4DF476300CCC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1.py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8CB7131-9058-3A3C-8014-D2A8D5C74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980" y="2541091"/>
            <a:ext cx="3209310" cy="887909"/>
          </a:xfrm>
          <a:prstGeom prst="rect">
            <a:avLst/>
          </a:prstGeom>
          <a:ln w="63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7316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2D641-C2B4-9CBF-65D1-296DF1C36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B0D3-6697-E51F-620F-4C8B299FB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循環和條件判斷 </a:t>
            </a:r>
            <a:r>
              <a:rPr lang="en-US" altLang="zh-TW" dirty="0"/>
              <a:t>- while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E23D9D4-E412-D04B-223B-C4C29553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while </a:t>
            </a:r>
            <a:r>
              <a:rPr lang="zh-TW" altLang="en-US" sz="2200" dirty="0">
                <a:solidFill>
                  <a:schemeClr val="tx1"/>
                </a:solidFill>
              </a:rPr>
              <a:t>循環是一種條件驅動的迴圈結構‌</a:t>
            </a:r>
            <a:r>
              <a:rPr lang="en-US" altLang="zh-TW" sz="2200" dirty="0">
                <a:solidFill>
                  <a:schemeClr val="tx1"/>
                </a:solidFill>
              </a:rPr>
              <a:t>, </a:t>
            </a:r>
            <a:r>
              <a:rPr lang="zh-TW" altLang="en-US" sz="2200" dirty="0">
                <a:solidFill>
                  <a:schemeClr val="tx1"/>
                </a:solidFill>
              </a:rPr>
              <a:t>只要滿足條件</a:t>
            </a:r>
            <a:r>
              <a:rPr lang="en-US" altLang="zh-TW" sz="2200" dirty="0">
                <a:solidFill>
                  <a:schemeClr val="tx1"/>
                </a:solidFill>
              </a:rPr>
              <a:t>, </a:t>
            </a:r>
            <a:r>
              <a:rPr lang="zh-TW" altLang="en-US" sz="2200" dirty="0">
                <a:solidFill>
                  <a:schemeClr val="tx1"/>
                </a:solidFill>
              </a:rPr>
              <a:t>就會重複執行循環體內的代碼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語法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一般退出循環有兩種方法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循環體內變量更新使條件表達式結果為</a:t>
            </a:r>
            <a:r>
              <a:rPr lang="en-US" altLang="zh-TW" sz="2200" dirty="0">
                <a:solidFill>
                  <a:schemeClr val="tx1"/>
                </a:solidFill>
              </a:rPr>
              <a:t>True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配合</a:t>
            </a:r>
            <a:r>
              <a:rPr lang="en-US" altLang="zh-TW" sz="2200" dirty="0">
                <a:solidFill>
                  <a:schemeClr val="tx1"/>
                </a:solidFill>
              </a:rPr>
              <a:t>if</a:t>
            </a:r>
            <a:r>
              <a:rPr lang="zh-TW" altLang="en-US" sz="2200" dirty="0">
                <a:solidFill>
                  <a:schemeClr val="tx1"/>
                </a:solidFill>
              </a:rPr>
              <a:t>語句和</a:t>
            </a:r>
            <a:r>
              <a:rPr lang="en-US" altLang="zh-TW" sz="2200" dirty="0">
                <a:solidFill>
                  <a:schemeClr val="tx1"/>
                </a:solidFill>
              </a:rPr>
              <a:t>break</a:t>
            </a:r>
            <a:r>
              <a:rPr lang="zh-TW" altLang="en-US" sz="2200" dirty="0">
                <a:solidFill>
                  <a:schemeClr val="tx1"/>
                </a:solidFill>
              </a:rPr>
              <a:t>退出循環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52CDB1F-ACA8-4838-CD55-4A7242B83E24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1.py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656949C-6E6D-72A8-3BA4-1C3407188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177" y="2524125"/>
            <a:ext cx="2095500" cy="904875"/>
          </a:xfrm>
          <a:prstGeom prst="rect">
            <a:avLst/>
          </a:prstGeom>
          <a:ln w="31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09254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ADCD-83A4-24AF-1BBC-3E705ED0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5821-3561-A03E-70AA-2A20DB0F0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函數定義和使用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7CA4519-771E-EBE2-9419-D8B008E9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函數‌是封裝特定功能的可重用代碼塊，通過模組化程式設計避免重複代碼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語法</a:t>
            </a:r>
            <a:r>
              <a:rPr lang="en-US" altLang="zh-TW" sz="2200" dirty="0">
                <a:solidFill>
                  <a:schemeClr val="tx1"/>
                </a:solidFill>
              </a:rPr>
              <a:t>: 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altLang="zh-TW" sz="1800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1E88792-0B4E-745D-D1E4-E66BB311A793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1.py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D980E9D-006F-E9A7-AD6D-EA666B5C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709" y="2600952"/>
            <a:ext cx="5600700" cy="1381125"/>
          </a:xfrm>
          <a:prstGeom prst="rect">
            <a:avLst/>
          </a:prstGeom>
          <a:ln w="31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66328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DBA2-2C8C-D500-7021-39E7DCC2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B1C4F-363B-818E-06F7-1500EB56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調用其他模塊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C60EC87-AE59-965E-6BCF-8D5C6BC5A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438379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import</a:t>
            </a:r>
            <a:r>
              <a:rPr lang="zh-TW" altLang="en-US" sz="2200" dirty="0">
                <a:solidFill>
                  <a:schemeClr val="tx1"/>
                </a:solidFill>
              </a:rPr>
              <a:t>其他模塊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內置模塊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第三方模塊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本地模塊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E90DF4-ED73-98F9-4E27-CB4D7CFC8F62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2.py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043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E6E1-48BD-14A8-6064-5C2CA6AFD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4662-1883-DE1D-04A4-7FDD7C58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程序入口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DEB14AE-77B6-0164-23A0-632DB9CDC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438379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若程序中包含這句</a:t>
            </a:r>
            <a:r>
              <a:rPr lang="en-US" altLang="zh-TW" sz="2000" dirty="0">
                <a:solidFill>
                  <a:schemeClr val="tx1"/>
                </a:solidFill>
              </a:rPr>
              <a:t>  if __name__ == ‘__main__‘: </a:t>
            </a:r>
          </a:p>
          <a:p>
            <a:pPr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則程序會從這里可以運行，一般用作程序的入口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145BAA-C3C8-DB5A-C36D-664CDFB6AE9F}"/>
              </a:ext>
            </a:extLst>
          </p:cNvPr>
          <p:cNvSpPr txBox="1"/>
          <p:nvPr/>
        </p:nvSpPr>
        <p:spPr>
          <a:xfrm>
            <a:off x="435935" y="6446875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python-</a:t>
            </a:r>
            <a:r>
              <a:rPr lang="zh-TW" altLang="en-US" sz="1800" dirty="0">
                <a:solidFill>
                  <a:srgbClr val="FF0000"/>
                </a:solidFill>
              </a:rPr>
              <a:t>補充資料</a:t>
            </a:r>
            <a:r>
              <a:rPr lang="en-US" altLang="zh-TW" sz="1800" dirty="0">
                <a:solidFill>
                  <a:srgbClr val="FF0000"/>
                </a:solidFill>
              </a:rPr>
              <a:t>2.py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07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8904428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PGO-JIGSAW PUZZLE">
      <a:dk1>
        <a:sysClr val="windowText" lastClr="000000"/>
      </a:dk1>
      <a:lt1>
        <a:sysClr val="window" lastClr="FFFFFF"/>
      </a:lt1>
      <a:dk2>
        <a:srgbClr val="20D38F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多面向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2257</TotalTime>
  <Words>589</Words>
  <Application>Microsoft Office PowerPoint</Application>
  <PresentationFormat>寬螢幕</PresentationFormat>
  <Paragraphs>85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Arial</vt:lpstr>
      <vt:lpstr>Calibri</vt:lpstr>
      <vt:lpstr>Open Sans Semibold</vt:lpstr>
      <vt:lpstr>Trebuchet MS</vt:lpstr>
      <vt:lpstr>Wingdings 3</vt:lpstr>
      <vt:lpstr>Light</vt:lpstr>
      <vt:lpstr>多面向</vt:lpstr>
      <vt:lpstr>Python基礎知識補充-1</vt:lpstr>
      <vt:lpstr>本篇包括</vt:lpstr>
      <vt:lpstr>變量與數據類型</vt:lpstr>
      <vt:lpstr>變量與數據類型</vt:lpstr>
      <vt:lpstr>變量與數據類型</vt:lpstr>
      <vt:lpstr>循環和條件判斷 if-elif-else</vt:lpstr>
      <vt:lpstr>循環和條件判斷 for-loop</vt:lpstr>
      <vt:lpstr>循環和條件判斷 - while</vt:lpstr>
      <vt:lpstr>函數定義和使用</vt:lpstr>
      <vt:lpstr>調用其他模塊</vt:lpstr>
      <vt:lpstr>程序入口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microsome presentation</dc:title>
  <dc:creator/>
  <dc:description/>
  <cp:lastModifiedBy>勇 趙</cp:lastModifiedBy>
  <cp:revision>532</cp:revision>
  <dcterms:created xsi:type="dcterms:W3CDTF">2021-09-29T10:33:58Z</dcterms:created>
  <dcterms:modified xsi:type="dcterms:W3CDTF">2025-05-15T16:08:24Z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DAEE3358A3B04398A7E2A29EEAFCE4E9</vt:lpwstr>
  </property>
  <property fmtid="{D5CDD505-2E9C-101B-9397-08002B2CF9AE}" pid="3" name="KSOProductBuildVer">
    <vt:lpwstr>2052-11.1.0.10938</vt:lpwstr>
  </property>
</Properties>
</file>